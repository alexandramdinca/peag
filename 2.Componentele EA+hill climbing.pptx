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1"/>
  </p:notesMasterIdLst>
  <p:sldIdLst>
    <p:sldId id="256" r:id="rId2"/>
    <p:sldId id="310" r:id="rId3"/>
    <p:sldId id="336" r:id="rId4"/>
    <p:sldId id="337" r:id="rId5"/>
    <p:sldId id="333" r:id="rId6"/>
    <p:sldId id="339" r:id="rId7"/>
    <p:sldId id="340" r:id="rId8"/>
    <p:sldId id="370" r:id="rId9"/>
    <p:sldId id="334" r:id="rId10"/>
    <p:sldId id="335" r:id="rId11"/>
    <p:sldId id="371" r:id="rId12"/>
    <p:sldId id="338" r:id="rId13"/>
    <p:sldId id="328" r:id="rId14"/>
    <p:sldId id="342" r:id="rId15"/>
    <p:sldId id="343" r:id="rId16"/>
    <p:sldId id="344" r:id="rId17"/>
    <p:sldId id="345" r:id="rId18"/>
    <p:sldId id="346" r:id="rId19"/>
    <p:sldId id="347" r:id="rId20"/>
    <p:sldId id="365" r:id="rId21"/>
    <p:sldId id="366" r:id="rId22"/>
    <p:sldId id="367" r:id="rId23"/>
    <p:sldId id="364" r:id="rId24"/>
    <p:sldId id="329" r:id="rId25"/>
    <p:sldId id="330" r:id="rId26"/>
    <p:sldId id="325" r:id="rId27"/>
    <p:sldId id="332" r:id="rId28"/>
    <p:sldId id="326" r:id="rId29"/>
    <p:sldId id="372" r:id="rId30"/>
  </p:sldIdLst>
  <p:sldSz cx="9144000" cy="6858000" type="screen4x3"/>
  <p:notesSz cx="6815138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6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2A8B2F-8A7B-47D6-AD29-2FDCB473C5A8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3925" y="746125"/>
            <a:ext cx="49688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22813"/>
            <a:ext cx="5453062" cy="4473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6080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849E0-D4AD-456D-9950-B493D663D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7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90437-83A9-42EA-BF20-FC7DB371F87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16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90437-83A9-42EA-BF20-FC7DB371F87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82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90437-83A9-42EA-BF20-FC7DB371F87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35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90437-83A9-42EA-BF20-FC7DB371F87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70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90437-83A9-42EA-BF20-FC7DB371F8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48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90437-83A9-42EA-BF20-FC7DB371F8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49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90437-83A9-42EA-BF20-FC7DB371F87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58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90437-83A9-42EA-BF20-FC7DB371F87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17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690437-83A9-42EA-BF20-FC7DB371F87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7632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685A03-5EDC-436B-B7D0-76B30F94BF23}" type="slidenum">
              <a:rPr lang="ro-RO" smtClean="0"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08982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09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8A464-CBBD-46EF-916C-F94F914244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74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9D355-B647-491B-B98A-E87E712D8D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13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C4549-F086-4B3D-85C6-A4C5C74A0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9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B9392-376C-42ED-B472-4CE3E609B5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6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B58B8-7ABC-487C-8AFE-82F03791E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7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F6519-5001-4FF9-848F-7305CF455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2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C2F85-2599-451F-B8B2-832600078F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1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86940-F289-4763-843B-976885DDEE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8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EAE45-71CE-4085-82FF-11ACD501A2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24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6AD17-FD54-4210-991F-E86B1B3F8A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06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5EC44-6F90-461D-93F9-A499A2BDB8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98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8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C64D7-A370-40E0-BD06-6004A548D6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27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6225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27745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15024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5400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3218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93737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68102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654077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00345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57452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732" y="1504366"/>
            <a:ext cx="8371268" cy="4972634"/>
          </a:xfrm>
        </p:spPr>
        <p:txBody>
          <a:bodyPr/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EEA483-F1EC-4F77-B37F-E78F81176C40}" type="datetimeFigureOut">
              <a:rPr lang="en-US" smtClean="0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DEA935-13DF-4BD5-B540-01136F2C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BF263CC-C53F-6977-3CFF-A8EB89E3D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0"/>
            <a:ext cx="8055769" cy="1416050"/>
          </a:xfrm>
        </p:spPr>
        <p:txBody>
          <a:bodyPr anchor="ctr" anchorCtr="0"/>
          <a:lstStyle>
            <a:lvl1pPr marL="89297" indent="0">
              <a:buNone/>
              <a:defRPr sz="2100" b="1">
                <a:solidFill>
                  <a:srgbClr val="FFFF00"/>
                </a:solidFill>
                <a:latin typeface="+mj-lt"/>
              </a:defRPr>
            </a:lvl1pPr>
            <a:lvl2pPr marL="3429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051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6EA8E899-540B-4134-8F83-C0647B0C3B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99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  <p:sldLayoutId id="2147483911" r:id="rId14"/>
    <p:sldLayoutId id="2147483912" r:id="rId15"/>
    <p:sldLayoutId id="2147483913" r:id="rId16"/>
    <p:sldLayoutId id="2147483914" r:id="rId17"/>
    <p:sldLayoutId id="2147483915" r:id="rId18"/>
    <p:sldLayoutId id="2147483916" r:id="rId19"/>
    <p:sldLayoutId id="2147483917" r:id="rId20"/>
    <p:sldLayoutId id="2147483918" r:id="rId21"/>
    <p:sldLayoutId id="2147483919" r:id="rId22"/>
    <p:sldLayoutId id="2147483920" r:id="rId23"/>
    <p:sldLayoutId id="2147483921" r:id="rId2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gi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7.gif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0.png"/><Relationship Id="rId5" Type="http://schemas.openxmlformats.org/officeDocument/2006/relationships/image" Target="../media/image9.gif"/><Relationship Id="rId4" Type="http://schemas.openxmlformats.org/officeDocument/2006/relationships/image" Target="../media/image8.gif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7" Type="http://schemas.openxmlformats.org/officeDocument/2006/relationships/image" Target="../media/image1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8.png"/><Relationship Id="rId4" Type="http://schemas.openxmlformats.org/officeDocument/2006/relationships/image" Target="../media/image15.e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36725"/>
            <a:ext cx="7772400" cy="2454275"/>
          </a:xfrm>
        </p:spPr>
        <p:txBody>
          <a:bodyPr/>
          <a:lstStyle/>
          <a:p>
            <a:pPr eaLnBrk="1" hangingPunct="1">
              <a:defRPr/>
            </a:pP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r>
              <a:rPr lang="ro-RO" sz="4000" dirty="0">
                <a:effectLst/>
              </a:rPr>
              <a:t>Componentele algoritmilor evolutivi (</a:t>
            </a:r>
            <a:r>
              <a:rPr lang="ro-RO" sz="4000" dirty="0" err="1">
                <a:effectLst/>
              </a:rPr>
              <a:t>EAs</a:t>
            </a:r>
            <a:r>
              <a:rPr lang="ro-RO" sz="4000" dirty="0">
                <a:effectLst/>
              </a:rPr>
              <a:t>). Evoluția căutare directă-căutare stochastică</a:t>
            </a:r>
            <a:br>
              <a:rPr lang="ro-RO" sz="4000" dirty="0"/>
            </a:br>
            <a:br>
              <a:rPr lang="en-US" sz="4000" dirty="0"/>
            </a:br>
            <a:br>
              <a:rPr lang="it-IT" sz="2000" dirty="0"/>
            </a:b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altLang="en-US" sz="2600" b="1" dirty="0">
                <a:solidFill>
                  <a:schemeClr val="bg2"/>
                </a:solidFill>
              </a:rPr>
              <a:t>I.</a:t>
            </a:r>
            <a:r>
              <a:rPr lang="en-US" altLang="en-US" sz="2600" b="1" dirty="0">
                <a:solidFill>
                  <a:schemeClr val="bg2"/>
                </a:solidFill>
              </a:rPr>
              <a:t> </a:t>
            </a:r>
            <a:r>
              <a:rPr lang="ro-RO" altLang="en-US" sz="2600" b="1" dirty="0">
                <a:solidFill>
                  <a:schemeClr val="bg2"/>
                </a:solidFill>
              </a:rPr>
              <a:t>Componentele EA (Evolutionary Algorithms)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90600"/>
            <a:ext cx="8229600" cy="52117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endParaRPr lang="en-US" altLang="en-US" sz="1800" dirty="0"/>
          </a:p>
          <a:p>
            <a:pPr>
              <a:buFont typeface="Wingdings" pitchFamily="2" charset="2"/>
              <a:buChar char="q"/>
            </a:pPr>
            <a:r>
              <a:rPr lang="en-US" altLang="en-US" sz="1800" dirty="0"/>
              <a:t>R</a:t>
            </a:r>
            <a:r>
              <a:rPr lang="ro-RO" altLang="en-US" sz="1800" dirty="0"/>
              <a:t>eprezentarea (</a:t>
            </a:r>
            <a:r>
              <a:rPr lang="ro-RO" altLang="en-US" sz="1800"/>
              <a:t>definirea membrilor populaţiei</a:t>
            </a:r>
            <a:r>
              <a:rPr lang="ro-RO" altLang="en-US" sz="1800" dirty="0"/>
              <a:t>) </a:t>
            </a:r>
            <a:endParaRPr lang="en-US" altLang="en-US" sz="1800" dirty="0"/>
          </a:p>
          <a:p>
            <a:pPr>
              <a:buFont typeface="Wingdings" pitchFamily="2" charset="2"/>
              <a:buChar char="q"/>
            </a:pPr>
            <a:endParaRPr lang="en-US" altLang="en-US" sz="1800" dirty="0"/>
          </a:p>
          <a:p>
            <a:pPr>
              <a:buFont typeface="Wingdings" pitchFamily="2" charset="2"/>
              <a:buChar char="q"/>
            </a:pPr>
            <a:r>
              <a:rPr lang="en-US" altLang="en-US" sz="1800" dirty="0"/>
              <a:t>F</a:t>
            </a:r>
            <a:r>
              <a:rPr lang="ro-RO" altLang="en-US" sz="1800" dirty="0"/>
              <a:t>uncţia de evaluare (fitness)</a:t>
            </a:r>
            <a:endParaRPr lang="en-US" altLang="en-US" sz="1800" dirty="0"/>
          </a:p>
          <a:p>
            <a:pPr>
              <a:buFont typeface="Wingdings" pitchFamily="2" charset="2"/>
              <a:buChar char="q"/>
            </a:pPr>
            <a:endParaRPr lang="en-US" altLang="en-US" sz="1800" dirty="0"/>
          </a:p>
          <a:p>
            <a:pPr>
              <a:buFont typeface="Wingdings" pitchFamily="2" charset="2"/>
              <a:buChar char="q"/>
            </a:pPr>
            <a:r>
              <a:rPr lang="en-US" altLang="en-US" sz="1800" dirty="0"/>
              <a:t>P</a:t>
            </a:r>
            <a:r>
              <a:rPr lang="ro-RO" altLang="en-US" sz="1800" dirty="0"/>
              <a:t>opulaţia </a:t>
            </a:r>
            <a:endParaRPr lang="en-US" altLang="en-US" sz="1800" dirty="0"/>
          </a:p>
          <a:p>
            <a:pPr>
              <a:buFont typeface="Wingdings" pitchFamily="2" charset="2"/>
              <a:buChar char="q"/>
            </a:pPr>
            <a:endParaRPr lang="en-US" altLang="en-US" sz="1800" dirty="0"/>
          </a:p>
          <a:p>
            <a:pPr>
              <a:buFont typeface="Wingdings" pitchFamily="2" charset="2"/>
              <a:buChar char="q"/>
            </a:pPr>
            <a:r>
              <a:rPr lang="en-US" altLang="en-US" sz="1800" dirty="0"/>
              <a:t>M</a:t>
            </a:r>
            <a:r>
              <a:rPr lang="ro-RO" altLang="en-US" sz="1800" dirty="0"/>
              <a:t>ecanismul de selectare a părinţilor </a:t>
            </a:r>
            <a:endParaRPr lang="en-US" altLang="en-US" sz="1800" dirty="0"/>
          </a:p>
          <a:p>
            <a:pPr>
              <a:buFont typeface="Wingdings" pitchFamily="2" charset="2"/>
              <a:buChar char="q"/>
            </a:pPr>
            <a:endParaRPr lang="en-US" altLang="en-US" sz="1800" dirty="0"/>
          </a:p>
          <a:p>
            <a:pPr>
              <a:buFont typeface="Wingdings" pitchFamily="2" charset="2"/>
              <a:buChar char="q"/>
            </a:pPr>
            <a:r>
              <a:rPr lang="en-US" altLang="en-US" sz="1800" dirty="0"/>
              <a:t>O</a:t>
            </a:r>
            <a:r>
              <a:rPr lang="ro-RO" altLang="en-US" sz="1800" dirty="0"/>
              <a:t>peratorii de variaţie (recombinarea şi mutaţia) </a:t>
            </a:r>
            <a:endParaRPr lang="en-US" altLang="en-US" sz="1800" dirty="0"/>
          </a:p>
          <a:p>
            <a:pPr>
              <a:buFont typeface="Wingdings" pitchFamily="2" charset="2"/>
              <a:buChar char="q"/>
            </a:pPr>
            <a:endParaRPr lang="en-US" altLang="en-US" sz="1800" dirty="0"/>
          </a:p>
          <a:p>
            <a:pPr>
              <a:buFont typeface="Wingdings" pitchFamily="2" charset="2"/>
              <a:buChar char="q"/>
            </a:pPr>
            <a:r>
              <a:rPr lang="en-US" altLang="en-US" sz="1800" dirty="0"/>
              <a:t>M</a:t>
            </a:r>
            <a:r>
              <a:rPr lang="ro-RO" altLang="en-US" sz="1800" dirty="0"/>
              <a:t>ecanismul de selectare a membrilor generaţiei următoare</a:t>
            </a:r>
            <a:endParaRPr lang="en-US" altLang="en-US" sz="1800" dirty="0"/>
          </a:p>
          <a:p>
            <a:pPr>
              <a:buFont typeface="Wingdings" pitchFamily="2" charset="2"/>
              <a:buChar char="q"/>
            </a:pPr>
            <a:endParaRPr lang="en-US" altLang="en-US" sz="1800" dirty="0"/>
          </a:p>
          <a:p>
            <a:pPr>
              <a:buFont typeface="Wingdings" pitchFamily="2" charset="2"/>
              <a:buChar char="q"/>
            </a:pPr>
            <a:r>
              <a:rPr lang="en-US" altLang="en-US" sz="1800" dirty="0"/>
              <a:t>D</a:t>
            </a:r>
            <a:r>
              <a:rPr lang="ro-RO" altLang="en-US" sz="1800" dirty="0"/>
              <a:t>efinirea modulului de iniţializare (determinarea populaţiei iniţiale) </a:t>
            </a:r>
            <a:endParaRPr lang="en-US" altLang="en-US" sz="1800" dirty="0"/>
          </a:p>
          <a:p>
            <a:pPr>
              <a:buFont typeface="Wingdings" pitchFamily="2" charset="2"/>
              <a:buChar char="q"/>
            </a:pPr>
            <a:endParaRPr lang="en-US" altLang="en-US" sz="1800" dirty="0"/>
          </a:p>
          <a:p>
            <a:pPr>
              <a:buFont typeface="Wingdings" pitchFamily="2" charset="2"/>
              <a:buChar char="q"/>
            </a:pPr>
            <a:r>
              <a:rPr lang="en-US" altLang="en-US" sz="1800" dirty="0"/>
              <a:t>D</a:t>
            </a:r>
            <a:r>
              <a:rPr lang="ro-RO" altLang="en-US" sz="1800" dirty="0"/>
              <a:t>efinirea condiţiei terminale. </a:t>
            </a:r>
            <a:endParaRPr lang="en-US" altLang="en-US" sz="1800" dirty="0"/>
          </a:p>
          <a:p>
            <a:pPr eaLnBrk="1" hangingPunct="1">
              <a:buSzPct val="100000"/>
              <a:buFont typeface="Wingdings" pitchFamily="2" charset="2"/>
              <a:buChar char="q"/>
            </a:pPr>
            <a:endParaRPr lang="en-US" altLang="en-US" sz="1800" dirty="0"/>
          </a:p>
          <a:p>
            <a:pPr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alt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altLang="en-US" sz="2600" b="1">
                <a:solidFill>
                  <a:schemeClr val="bg2"/>
                </a:solidFill>
              </a:rPr>
              <a:t>II.</a:t>
            </a:r>
            <a:r>
              <a:rPr lang="en-US" altLang="en-US" sz="2600" b="1">
                <a:solidFill>
                  <a:schemeClr val="bg2"/>
                </a:solidFill>
              </a:rPr>
              <a:t> Componentele EA</a:t>
            </a:r>
            <a:r>
              <a:rPr lang="ro-RO" altLang="en-US" sz="2600" b="1">
                <a:solidFill>
                  <a:schemeClr val="bg2"/>
                </a:solidFill>
              </a:rPr>
              <a:t>. Reprezentarea</a:t>
            </a:r>
            <a:endParaRPr lang="en-US" altLang="en-US" sz="2600" b="1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</p:spPr>
            <p:txBody>
              <a:bodyPr/>
              <a:lstStyle/>
              <a:p>
                <a:pPr algn="just">
                  <a:buFont typeface="Wingdings" pitchFamily="2" charset="2"/>
                  <a:buChar char="q"/>
                  <a:defRPr/>
                </a:pPr>
                <a:r>
                  <a:rPr lang="ro-RO" sz="1800" b="1" dirty="0"/>
                  <a:t>Reprezentarea - </a:t>
                </a:r>
                <a:r>
                  <a:rPr lang="ro-RO" sz="1800" dirty="0"/>
                  <a:t>stabilirea unei conexiuni între contextul problemei particulare de rezolvat şi spaţiul în care evoluează tehnica PS considerată. </a:t>
                </a:r>
              </a:p>
              <a:p>
                <a:pPr algn="just">
                  <a:buFont typeface="Wingdings" pitchFamily="2" charset="2"/>
                  <a:buChar char="q"/>
                  <a:defRPr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  <a:defRPr/>
                </a:pPr>
                <a:r>
                  <a:rPr lang="ro-RO" sz="1800" b="1" i="1" dirty="0"/>
                  <a:t>Fenotipuri</a:t>
                </a:r>
                <a:r>
                  <a:rPr lang="ro-RO" sz="1800" i="1" dirty="0"/>
                  <a:t> : s</a:t>
                </a:r>
                <a:r>
                  <a:rPr lang="ro-RO" sz="1800" dirty="0"/>
                  <a:t>oluţiile posibile în contextul problemei de rezolvat</a:t>
                </a:r>
              </a:p>
              <a:p>
                <a:pPr algn="just">
                  <a:buFont typeface="Wingdings" pitchFamily="2" charset="2"/>
                  <a:buChar char="q"/>
                  <a:defRPr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  <a:defRPr/>
                </a:pPr>
                <a:r>
                  <a:rPr lang="ro-RO" sz="1800" b="1" i="1" dirty="0"/>
                  <a:t>Genotipuri (cromozomi)</a:t>
                </a:r>
                <a:r>
                  <a:rPr lang="ro-RO" sz="1800" i="1" dirty="0"/>
                  <a:t>:</a:t>
                </a:r>
                <a:r>
                  <a:rPr lang="ro-RO" sz="1800" dirty="0"/>
                  <a:t> reprezentarea fenotipurilor în context EA; un genotip conţine </a:t>
                </a:r>
                <a:r>
                  <a:rPr lang="ro-RO" sz="1800" i="1" dirty="0"/>
                  <a:t>valori</a:t>
                </a:r>
                <a:r>
                  <a:rPr lang="ro-RO" sz="1800" dirty="0"/>
                  <a:t> (</a:t>
                </a:r>
                <a:r>
                  <a:rPr lang="ro-RO" sz="1800" i="1" dirty="0"/>
                  <a:t>alele</a:t>
                </a:r>
                <a:r>
                  <a:rPr lang="ro-RO" sz="1800" dirty="0"/>
                  <a:t>), plasate în poziţii numite variabile sau </a:t>
                </a:r>
                <a:r>
                  <a:rPr lang="ro-RO" sz="1800" i="1" dirty="0"/>
                  <a:t>gene</a:t>
                </a:r>
                <a:r>
                  <a:rPr lang="ro-RO" sz="1800" dirty="0"/>
                  <a:t>. </a:t>
                </a:r>
              </a:p>
              <a:p>
                <a:pPr algn="just">
                  <a:buFont typeface="Wingdings" pitchFamily="2" charset="2"/>
                  <a:buChar char="q"/>
                  <a:defRPr/>
                </a:pPr>
                <a:endParaRPr lang="ro-RO" sz="1800" dirty="0"/>
              </a:p>
              <a:p>
                <a:pPr algn="just">
                  <a:buFont typeface="Wingdings" pitchFamily="2" charset="2"/>
                  <a:buChar char="q"/>
                  <a:defRPr/>
                </a:pPr>
                <a:r>
                  <a:rPr lang="ro-RO" sz="1800" dirty="0"/>
                  <a:t>Scopul: stabilirea corespondenţei fenotip - genotip</a:t>
                </a:r>
              </a:p>
              <a:p>
                <a:pPr marL="0" indent="0" algn="just">
                  <a:buNone/>
                  <a:defRPr/>
                </a:pPr>
                <a:endParaRPr lang="ro-RO" sz="1800" i="1" dirty="0">
                  <a:latin typeface="Cambria Math"/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  <a:defRPr/>
                </a:pPr>
                <a:r>
                  <a:rPr lang="ro-RO" sz="1800" i="1" dirty="0">
                    <a:latin typeface="Cambria Math"/>
                    <a:sym typeface="Wingdings" panose="05000000000000000000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ro-RO" sz="1800" i="1" smtClean="0">
                        <a:latin typeface="Cambria Math"/>
                        <a:sym typeface="Wingdings" panose="05000000000000000000" pitchFamily="2" charset="2"/>
                      </a:rPr>
                      <m:t>𝑓𝑒𝑛𝑜𝑡𝑖𝑝</m:t>
                    </m:r>
                    <m:r>
                      <a:rPr lang="ro-RO" sz="1800" i="1" smtClean="0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ro-RO" sz="1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ro-RO" sz="1800" i="1">
                            <a:latin typeface="Cambria Math"/>
                            <a:sym typeface="Wingdings" panose="05000000000000000000" pitchFamily="2" charset="2"/>
                          </a:rPr>
                          <m:t>𝑐</m:t>
                        </m:r>
                        <m:r>
                          <a:rPr lang="ro-RO" sz="1800" i="1">
                            <a:latin typeface="Cambria Math"/>
                            <a:sym typeface="Wingdings" panose="05000000000000000000" pitchFamily="2" charset="2"/>
                          </a:rPr>
                          <m:t>𝑜𝑑𝑖𝑓𝑖𝑐𝑎𝑟𝑒</m:t>
                        </m:r>
                      </m:e>
                    </m:groupChr>
                    <m:r>
                      <a:rPr lang="ro-RO" sz="1800" i="1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r>
                      <a:rPr lang="ro-RO" sz="1800" i="1">
                        <a:latin typeface="Cambria Math"/>
                        <a:sym typeface="Wingdings" panose="05000000000000000000" pitchFamily="2" charset="2"/>
                      </a:rPr>
                      <m:t>𝑔𝑒𝑛𝑜𝑡𝑖𝑝</m:t>
                    </m:r>
                  </m:oMath>
                </a14:m>
                <a:r>
                  <a:rPr lang="ro-RO" sz="1800" dirty="0">
                    <a:latin typeface="Arial" charset="0"/>
                    <a:sym typeface="Wingdings" panose="05000000000000000000" pitchFamily="2" charset="2"/>
                  </a:rPr>
                  <a:t>   	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  <a:sym typeface="Wingdings" panose="05000000000000000000" pitchFamily="2" charset="2"/>
                      </a:rPr>
                      <m:t>𝑔𝑒𝑛𝑜𝑡𝑖𝑝</m:t>
                    </m:r>
                    <m:r>
                      <a:rPr lang="ro-RO" sz="1800" i="1">
                        <a:latin typeface="Cambria Math"/>
                        <a:sym typeface="Wingdings" panose="05000000000000000000" pitchFamily="2" charset="2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ro-RO" sz="180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ro-RO" sz="1800" i="1">
                            <a:latin typeface="Cambria Math"/>
                            <a:sym typeface="Wingdings" panose="05000000000000000000" pitchFamily="2" charset="2"/>
                          </a:rPr>
                          <m:t>𝑑</m:t>
                        </m:r>
                        <m:r>
                          <a:rPr lang="ro-RO" sz="1800" i="1">
                            <a:latin typeface="Cambria Math"/>
                            <a:sym typeface="Wingdings" panose="05000000000000000000" pitchFamily="2" charset="2"/>
                          </a:rPr>
                          <m:t>𝑒𝑐𝑜𝑑𝑖𝑓𝑖𝑐𝑎𝑟𝑒</m:t>
                        </m:r>
                      </m:e>
                    </m:groupChr>
                    <m:r>
                      <a:rPr lang="ro-RO" sz="1800" i="1">
                        <a:latin typeface="Cambria Math"/>
                        <a:sym typeface="Wingdings" panose="05000000000000000000" pitchFamily="2" charset="2"/>
                      </a:rPr>
                      <m:t>𝑓𝑒𝑛𝑜𝑡𝑖𝑝</m:t>
                    </m:r>
                  </m:oMath>
                </a14:m>
                <a:endParaRPr lang="ro-RO" sz="1800" dirty="0">
                  <a:latin typeface="Arial" charset="0"/>
                  <a:sym typeface="Wingdings" panose="05000000000000000000" pitchFamily="2" charset="2"/>
                </a:endParaRPr>
              </a:p>
              <a:p>
                <a:pPr marL="0" indent="0" algn="just">
                  <a:buNone/>
                  <a:defRPr/>
                </a:pPr>
                <a:endParaRPr lang="ro-RO" sz="1800" dirty="0"/>
              </a:p>
              <a:p>
                <a:pPr>
                  <a:buFont typeface="Wingdings" pitchFamily="2" charset="2"/>
                  <a:buChar char="q"/>
                  <a:defRPr/>
                </a:pPr>
                <a:r>
                  <a:rPr lang="ro-RO" sz="1800" dirty="0"/>
                  <a:t>Reprezentarea desemnează: </a:t>
                </a:r>
              </a:p>
              <a:p>
                <a:pPr lvl="1">
                  <a:buFont typeface="Wingdings" pitchFamily="2" charset="2"/>
                  <a:buChar char="q"/>
                  <a:defRPr/>
                </a:pPr>
                <a:r>
                  <a:rPr lang="ro-RO" sz="1800" i="1" dirty="0"/>
                  <a:t>codificare/decodificare </a:t>
                </a:r>
              </a:p>
              <a:p>
                <a:pPr lvl="1">
                  <a:buFont typeface="Wingdings" pitchFamily="2" charset="2"/>
                  <a:buChar char="q"/>
                  <a:defRPr/>
                </a:pPr>
                <a:r>
                  <a:rPr lang="ro-RO" sz="1800" dirty="0"/>
                  <a:t>structura de date utilizată pentru definirea spaţiul genotipurilor</a:t>
                </a:r>
              </a:p>
              <a:p>
                <a:pPr marL="0" indent="0">
                  <a:buFont typeface="Wingdings" pitchFamily="2" charset="2"/>
                  <a:buNone/>
                  <a:defRPr/>
                </a:pPr>
                <a:endParaRPr lang="ro-RO" altLang="en-US" sz="1800" dirty="0"/>
              </a:p>
              <a:p>
                <a:pPr marL="0" indent="0" algn="just">
                  <a:buFont typeface="Wingdings" pitchFamily="2" charset="2"/>
                  <a:buNone/>
                  <a:defRPr/>
                </a:pPr>
                <a:r>
                  <a:rPr lang="ro-RO" sz="1800" dirty="0"/>
                  <a:t> </a:t>
                </a:r>
                <a:endParaRPr lang="en-US" sz="1800" dirty="0"/>
              </a:p>
              <a:p>
                <a:pPr marL="0" indent="0" eaLnBrk="1" hangingPunct="1">
                  <a:buSzPct val="100000"/>
                  <a:buFont typeface="Wingdings" pitchFamily="2" charset="2"/>
                  <a:buNone/>
                  <a:defRPr/>
                </a:pPr>
                <a:endParaRPr lang="en-US" altLang="en-US" sz="1800" dirty="0"/>
              </a:p>
              <a:p>
                <a:pPr eaLnBrk="1" hangingPunct="1">
                  <a:buClr>
                    <a:schemeClr val="tx1"/>
                  </a:buClr>
                  <a:buFont typeface="Wingdings" pitchFamily="2" charset="2"/>
                  <a:buNone/>
                  <a:defRPr/>
                </a:pPr>
                <a:endParaRPr lang="en-US" alt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  <a:blipFill>
                <a:blip r:embed="rId2"/>
                <a:stretch>
                  <a:fillRect l="-74" t="-585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7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7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7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7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7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7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7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8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8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8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8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8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8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8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8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8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8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719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1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1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1181100"/>
          </a:xfrm>
        </p:spPr>
        <p:txBody>
          <a:bodyPr/>
          <a:lstStyle/>
          <a:p>
            <a:pPr eaLnBrk="1" hangingPunct="1"/>
            <a:r>
              <a:rPr lang="ro-RO" altLang="en-US" sz="2600" b="1" dirty="0">
                <a:solidFill>
                  <a:schemeClr val="bg2"/>
                </a:solidFill>
              </a:rPr>
              <a:t>Exemplu de reprezentare prin permutări</a:t>
            </a:r>
          </a:p>
        </p:txBody>
      </p:sp>
      <p:sp>
        <p:nvSpPr>
          <p:cNvPr id="819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197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19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199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00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0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02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03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04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05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06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07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08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09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10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11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12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13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8214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1268925"/>
              </p:ext>
            </p:extLst>
          </p:nvPr>
        </p:nvGraphicFramePr>
        <p:xfrm>
          <a:off x="2667000" y="1509511"/>
          <a:ext cx="2968625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253340" imgH="7261157" progId="Visio.Drawing.11">
                  <p:embed/>
                </p:oleObj>
              </mc:Choice>
              <mc:Fallback>
                <p:oleObj name="Visio" r:id="rId2" imgW="7253340" imgH="726115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509511"/>
                        <a:ext cx="2968625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/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457200" y="1066800"/>
                <a:ext cx="7010400" cy="48006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𝑃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2, 7, 5, 8, 1, 4, 6, 3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066800"/>
                <a:ext cx="7010400" cy="4800600"/>
              </a:xfr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1B73E0-F9FC-1365-0F08-85140BDDEC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5" t="10233" r="7873" b="4726"/>
          <a:stretch/>
        </p:blipFill>
        <p:spPr>
          <a:xfrm>
            <a:off x="381000" y="3052802"/>
            <a:ext cx="3996000" cy="2916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495C61-1981-D06A-1899-22882C86853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5" t="11023" r="7873" b="4724"/>
          <a:stretch/>
        </p:blipFill>
        <p:spPr>
          <a:xfrm>
            <a:off x="4724400" y="3111750"/>
            <a:ext cx="3996000" cy="2889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679F4C-BDC7-6E0C-F3CF-5BEA5DAC2365}"/>
                  </a:ext>
                </a:extLst>
              </p:cNvPr>
              <p:cNvSpPr txBox="1"/>
              <p:nvPr/>
            </p:nvSpPr>
            <p:spPr>
              <a:xfrm>
                <a:off x="914400" y="2188596"/>
                <a:ext cx="2895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dirty="0"/>
                  <a:t>Spațiul soluțiilor: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3, 10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679F4C-BDC7-6E0C-F3CF-5BEA5DAC2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188596"/>
                <a:ext cx="2895600" cy="369332"/>
              </a:xfrm>
              <a:prstGeom prst="rect">
                <a:avLst/>
              </a:prstGeom>
              <a:blipFill>
                <a:blip r:embed="rId5"/>
                <a:stretch>
                  <a:fillRect l="-1684" t="-11475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F54316-D3E4-C375-C1B4-9E0254F2CE0F}"/>
                  </a:ext>
                </a:extLst>
              </p:cNvPr>
              <p:cNvSpPr txBox="1"/>
              <p:nvPr/>
            </p:nvSpPr>
            <p:spPr>
              <a:xfrm>
                <a:off x="762000" y="1604626"/>
                <a:ext cx="746760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(3∙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F54316-D3E4-C375-C1B4-9E0254F2C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604626"/>
                <a:ext cx="7467600" cy="5821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B4ABC9-87CF-C6B0-13A1-8291FCA406B5}"/>
                  </a:ext>
                </a:extLst>
              </p:cNvPr>
              <p:cNvSpPr txBox="1"/>
              <p:nvPr/>
            </p:nvSpPr>
            <p:spPr>
              <a:xfrm>
                <a:off x="857250" y="1066800"/>
                <a:ext cx="196214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:[3, 10]→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B4ABC9-87CF-C6B0-13A1-8291FCA40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1066800"/>
                <a:ext cx="1962149" cy="369332"/>
              </a:xfrm>
              <a:prstGeom prst="rect">
                <a:avLst/>
              </a:prstGeom>
              <a:blipFill>
                <a:blip r:embed="rId7"/>
                <a:stretch>
                  <a:fillRect l="-935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6666B7-DA04-C1D1-85E2-0E27A574DE11}"/>
                  </a:ext>
                </a:extLst>
              </p:cNvPr>
              <p:cNvSpPr txBox="1"/>
              <p:nvPr/>
            </p:nvSpPr>
            <p:spPr>
              <a:xfrm>
                <a:off x="3810000" y="2211247"/>
                <a:ext cx="407814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dirty="0"/>
                  <a:t> </a:t>
                </a:r>
                <a:r>
                  <a:rPr lang="ro-RO" dirty="0"/>
                  <a:t>Individ (cromozom, candidat, fenotip)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16666B7-DA04-C1D1-85E2-0E27A574D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211247"/>
                <a:ext cx="4078142" cy="553998"/>
              </a:xfrm>
              <a:prstGeom prst="rect">
                <a:avLst/>
              </a:prstGeom>
              <a:blipFill>
                <a:blip r:embed="rId8"/>
                <a:stretch>
                  <a:fillRect t="-13187" b="-24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2">
            <a:extLst>
              <a:ext uri="{FF2B5EF4-FFF2-40B4-BE49-F238E27FC236}">
                <a16:creationId xmlns:a16="http://schemas.microsoft.com/office/drawing/2014/main" id="{669AF184-CCE6-4907-CAAF-EBC630C9F821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304800"/>
            <a:ext cx="8458200" cy="737526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altLang="en-US" sz="2600" b="1" kern="0" dirty="0">
                <a:solidFill>
                  <a:schemeClr val="bg2"/>
                </a:solidFill>
              </a:rPr>
              <a:t>Exemplu de reprezentare. Situația fenotip=genotip</a:t>
            </a:r>
          </a:p>
        </p:txBody>
      </p:sp>
    </p:spTree>
    <p:extLst>
      <p:ext uri="{BB962C8B-B14F-4D97-AF65-F5344CB8AC3E}">
        <p14:creationId xmlns:p14="http://schemas.microsoft.com/office/powerpoint/2010/main" val="1584921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42" name="Rectangle 2"/>
              <p:cNvSpPr>
                <a:spLocks noGrp="1" noChangeArrowheads="1"/>
              </p:cNvSpPr>
              <p:nvPr>
                <p:ph type="title"/>
              </p:nvPr>
            </p:nvSpPr>
            <p:spPr>
              <a:xfrm>
                <a:off x="342900" y="304800"/>
                <a:ext cx="8458200" cy="858838"/>
              </a:xfrm>
            </p:spPr>
            <p:txBody>
              <a:bodyPr/>
              <a:lstStyle/>
              <a:p>
                <a:pPr eaLnBrk="1" hangingPunct="1"/>
                <a:r>
                  <a:rPr lang="ro-RO" altLang="en-US" sz="2600" b="1" dirty="0">
                    <a:solidFill>
                      <a:schemeClr val="bg2"/>
                    </a:solidFill>
                  </a:rPr>
                  <a:t>III.</a:t>
                </a:r>
                <a:r>
                  <a:rPr lang="en-US" altLang="en-US" sz="2600" b="1" dirty="0">
                    <a:solidFill>
                      <a:schemeClr val="bg2"/>
                    </a:solidFill>
                  </a:rPr>
                  <a:t> </a:t>
                </a:r>
                <a:r>
                  <a:rPr lang="ro-RO" altLang="en-US" sz="2600" b="1" dirty="0">
                    <a:solidFill>
                      <a:schemeClr val="bg2"/>
                    </a:solidFill>
                  </a:rPr>
                  <a:t>Componentele EA. Funcţia de evaluare </a:t>
                </a:r>
                <a14:m>
                  <m:oMath xmlns:m="http://schemas.openxmlformats.org/officeDocument/2006/math">
                    <m:r>
                      <a:rPr lang="ro-RO" altLang="en-US" sz="2600" b="1" i="1" smtClean="0">
                        <a:solidFill>
                          <a:schemeClr val="bg2"/>
                        </a:solidFill>
                        <a:latin typeface="Cambria Math"/>
                      </a:rPr>
                      <m:t>𝒇</m:t>
                    </m:r>
                  </m:oMath>
                </a14:m>
                <a:endParaRPr lang="ro-RO" altLang="en-US" sz="2600" b="1" i="1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0242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42900" y="304800"/>
                <a:ext cx="8458200" cy="858838"/>
              </a:xfrm>
              <a:blipFill>
                <a:blip r:embed="rId2"/>
                <a:stretch>
                  <a:fillRect l="-1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47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4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49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50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5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52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53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54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55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56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57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58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59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60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61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62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63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0264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Placeholder 1"/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5626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endParaRPr lang="en-US" sz="1800" dirty="0">
                  <a:latin typeface="+mj-lt"/>
                  <a:ea typeface="Cambria Math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>
                    <a:ea typeface="Cambria Math"/>
                  </a:rPr>
                  <a:t>Rolul – măsură a gradului de adaptabilitate a fiecărui individ la mediu: 	    calitatea individului măsurată în spațiul genotipurilor (EA)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>
                  <a:ea typeface="Cambria Math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>
                    <a:ea typeface="Cambria Math"/>
                  </a:rPr>
                  <a:t>Proprietatea principală – stă la baza proceselor de selecție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>
                  <a:ea typeface="Cambria Math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>
                    <a:ea typeface="Cambria Math"/>
                  </a:rPr>
                  <a:t>Observație – dacă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  <a:ea typeface="Cambria Math"/>
                      </a:rPr>
                      <m:t>𝑓</m:t>
                    </m:r>
                  </m:oMath>
                </a14:m>
                <a:r>
                  <a:rPr lang="ro-RO" sz="1800" dirty="0">
                    <a:ea typeface="Cambria Math"/>
                  </a:rPr>
                  <a:t> trebuie minimizată (optimul este minim), este calculat maximul funcției </a:t>
                </a: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−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𝑓</m:t>
                    </m:r>
                  </m:oMath>
                </a14:m>
                <a:r>
                  <a:rPr lang="ro-RO" sz="1800" dirty="0">
                    <a:ea typeface="Cambria Math"/>
                  </a:rPr>
                  <a:t> (sau, unde este posibil, maximul lui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o-RO" sz="1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ro-RO" sz="1800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ro-RO" sz="1800" b="0" i="1" smtClean="0">
                            <a:latin typeface="Cambria Math"/>
                            <a:ea typeface="Cambria Math"/>
                          </a:rPr>
                          <m:t>𝑓</m:t>
                        </m:r>
                      </m:den>
                    </m:f>
                  </m:oMath>
                </a14:m>
                <a:r>
                  <a:rPr lang="ro-RO" sz="1800" dirty="0">
                    <a:ea typeface="Cambria Math"/>
                  </a:rPr>
                  <a:t> )</a:t>
                </a:r>
              </a:p>
              <a:p>
                <a:pPr marL="0" lvl="1" indent="0" algn="ctr">
                  <a:buNone/>
                </a:pPr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1" indent="0" algn="ctr">
                  <a:buNone/>
                </a:pP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Funcție de evaluare pe spațiul fenotipurilor</a:t>
                </a:r>
              </a:p>
              <a:p>
                <a:pPr marL="0" lvl="1" indent="0" algn="ctr">
                  <a:buNone/>
                </a:pPr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1" indent="0" algn="ctr">
                  <a:buNone/>
                </a:pP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Funcție de evaluare pe spațiul genotipurilor</a:t>
                </a:r>
              </a:p>
              <a:p>
                <a:pPr marL="0" lvl="1" indent="0" algn="ctr">
                  <a:buNone/>
                </a:pPr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lvl="1" indent="0" algn="ctr">
                  <a:buNone/>
                </a:pP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Calitate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>
                  <a:ea typeface="Cambria Math"/>
                </a:endParaRPr>
              </a:p>
            </p:txBody>
          </p:sp>
        </mc:Choice>
        <mc:Fallback xmlns="">
          <p:sp>
            <p:nvSpPr>
              <p:cNvPr id="23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562600"/>
              </a:xfrm>
              <a:blipFill>
                <a:blip r:embed="rId3"/>
                <a:stretch>
                  <a:fillRect l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Arrow: Down 1">
            <a:extLst>
              <a:ext uri="{FF2B5EF4-FFF2-40B4-BE49-F238E27FC236}">
                <a16:creationId xmlns:a16="http://schemas.microsoft.com/office/drawing/2014/main" id="{346CE5A7-B720-D41C-CAE3-355E235E2884}"/>
              </a:ext>
            </a:extLst>
          </p:cNvPr>
          <p:cNvSpPr/>
          <p:nvPr/>
        </p:nvSpPr>
        <p:spPr bwMode="auto">
          <a:xfrm>
            <a:off x="4191000" y="4343400"/>
            <a:ext cx="533400" cy="30479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E17A2439-76B8-BAC4-6B83-EFF5EBBB16A8}"/>
              </a:ext>
            </a:extLst>
          </p:cNvPr>
          <p:cNvSpPr/>
          <p:nvPr/>
        </p:nvSpPr>
        <p:spPr bwMode="auto">
          <a:xfrm>
            <a:off x="4191000" y="5044437"/>
            <a:ext cx="533400" cy="30479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altLang="en-US" sz="2600" b="1" dirty="0">
                <a:solidFill>
                  <a:schemeClr val="bg2"/>
                </a:solidFill>
              </a:rPr>
              <a:t>IV.</a:t>
            </a:r>
            <a:r>
              <a:rPr lang="en-US" altLang="en-US" sz="2600" b="1" dirty="0">
                <a:solidFill>
                  <a:schemeClr val="bg2"/>
                </a:solidFill>
              </a:rPr>
              <a:t> </a:t>
            </a:r>
            <a:r>
              <a:rPr lang="ro-RO" altLang="en-US" sz="2600" b="1" dirty="0">
                <a:solidFill>
                  <a:schemeClr val="bg2"/>
                </a:solidFill>
              </a:rPr>
              <a:t>Componentele</a:t>
            </a:r>
            <a:r>
              <a:rPr lang="en-US" altLang="en-US" sz="2600" b="1" dirty="0">
                <a:solidFill>
                  <a:schemeClr val="bg2"/>
                </a:solidFill>
              </a:rPr>
              <a:t> EA</a:t>
            </a:r>
            <a:r>
              <a:rPr lang="ro-RO" altLang="en-US" sz="2600" b="1" dirty="0">
                <a:solidFill>
                  <a:schemeClr val="bg2"/>
                </a:solidFill>
              </a:rPr>
              <a:t>. Populaţia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1127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71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7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73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74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7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76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7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78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79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80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81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82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83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84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85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86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87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1288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229600" cy="521176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ro-RO" altLang="en-US" sz="1800" dirty="0"/>
              <a:t>Populația – multiset de genotipuri</a:t>
            </a: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ro-RO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unitate de evoluție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Individ       =   static, nu evoluează, nu se adaptează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ro-RO" sz="1800" dirty="0">
                <a:latin typeface="Arial" panose="020B0604020202020204" pitchFamily="34" charset="0"/>
                <a:cs typeface="Arial" panose="020B0604020202020204" pitchFamily="34" charset="0"/>
              </a:rPr>
              <a:t>Populația  =   dinamică, evoluează, se adaptează</a:t>
            </a:r>
          </a:p>
          <a:p>
            <a:pPr algn="just">
              <a:buFont typeface="Wingdings" pitchFamily="2" charset="2"/>
              <a:buChar char="q"/>
            </a:pPr>
            <a:endParaRPr lang="ro-RO" altLang="en-US" sz="1800" dirty="0"/>
          </a:p>
          <a:p>
            <a:pPr algn="just">
              <a:buFont typeface="Wingdings" pitchFamily="2" charset="2"/>
              <a:buChar char="q"/>
            </a:pPr>
            <a:r>
              <a:rPr lang="ro-RO" altLang="en-US" sz="1800" dirty="0"/>
              <a:t>Rolul – menține o colecție de genotipuri corespunzătoare candidaților la soluție</a:t>
            </a:r>
          </a:p>
          <a:p>
            <a:pPr algn="just">
              <a:buFont typeface="Wingdings" pitchFamily="2" charset="2"/>
              <a:buChar char="q"/>
            </a:pPr>
            <a:endParaRPr lang="ro-RO" altLang="en-US" sz="1800" dirty="0"/>
          </a:p>
          <a:p>
            <a:pPr algn="just">
              <a:buFont typeface="Wingdings" pitchFamily="2" charset="2"/>
              <a:buChar char="q"/>
            </a:pPr>
            <a:r>
              <a:rPr lang="ro-RO" altLang="en-US" sz="1800" dirty="0"/>
              <a:t>Operatorii genetici de selecție sunt definiți la nivel de populație</a:t>
            </a:r>
            <a:endParaRPr lang="en-US" altLang="en-US" sz="1800" dirty="0"/>
          </a:p>
          <a:p>
            <a:pPr>
              <a:buFont typeface="Wingdings" pitchFamily="2" charset="2"/>
              <a:buChar char="q"/>
            </a:pPr>
            <a:endParaRPr lang="ro-RO" altLang="en-US" sz="1800" dirty="0"/>
          </a:p>
          <a:p>
            <a:pPr>
              <a:buFont typeface="Wingdings" pitchFamily="2" charset="2"/>
              <a:buChar char="q"/>
            </a:pPr>
            <a:r>
              <a:rPr lang="ro-RO" altLang="en-US" sz="1800" dirty="0"/>
              <a:t>Tipuri de populații – de dimensiune fixă pe tot parcursul EA (cele mai simple și utilizate modele), respectiv de dimensiune variabilă</a:t>
            </a:r>
            <a:endParaRPr lang="en-US" altLang="en-US" sz="1800" dirty="0"/>
          </a:p>
          <a:p>
            <a:pPr>
              <a:buFont typeface="Wingdings" pitchFamily="2" charset="2"/>
              <a:buChar char="q"/>
            </a:pPr>
            <a:endParaRPr lang="en-US" altLang="en-US" sz="1800" dirty="0"/>
          </a:p>
          <a:p>
            <a:pPr>
              <a:buFont typeface="Wingdings" pitchFamily="2" charset="2"/>
              <a:buChar char="q"/>
            </a:pPr>
            <a:r>
              <a:rPr lang="ro-RO" altLang="en-US" sz="1800" dirty="0"/>
              <a:t>Caracteristica principală: </a:t>
            </a:r>
            <a:r>
              <a:rPr lang="ro-RO" altLang="en-US" sz="1800" b="1" i="1" dirty="0"/>
              <a:t>diversitatea</a:t>
            </a:r>
            <a:r>
              <a:rPr lang="ro-RO" altLang="en-US" sz="1800" dirty="0"/>
              <a:t> definită prin</a:t>
            </a:r>
            <a:endParaRPr lang="en-US" altLang="en-US" sz="1800" dirty="0"/>
          </a:p>
          <a:p>
            <a:pPr lvl="1">
              <a:buFont typeface="Wingdings" pitchFamily="2" charset="2"/>
              <a:buChar char="q"/>
            </a:pPr>
            <a:r>
              <a:rPr lang="ro-RO" altLang="en-US" sz="1800" dirty="0"/>
              <a:t>Numărul fenotipurilor/genotipurilor distincte</a:t>
            </a:r>
            <a:endParaRPr lang="en-US" altLang="en-US" sz="1800" dirty="0"/>
          </a:p>
          <a:p>
            <a:pPr lvl="1">
              <a:buFont typeface="Wingdings" pitchFamily="2" charset="2"/>
              <a:buChar char="q"/>
            </a:pPr>
            <a:r>
              <a:rPr lang="ro-RO" altLang="en-US" sz="1800" dirty="0"/>
              <a:t>Numărul valorilor distincte ale funcției de evaluare(fitness)</a:t>
            </a:r>
          </a:p>
          <a:p>
            <a:pPr lvl="1">
              <a:buFont typeface="Wingdings" pitchFamily="2" charset="2"/>
              <a:buChar char="q"/>
            </a:pPr>
            <a:r>
              <a:rPr lang="ro-RO" altLang="en-US" sz="1800" dirty="0"/>
              <a:t>Măsuri de natură entropică etc.</a:t>
            </a:r>
            <a:endParaRPr lang="en-US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DC41AB-2190-F077-6775-ECE921949F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57" t="11880" r="20629" b="11451"/>
          <a:stretch/>
        </p:blipFill>
        <p:spPr>
          <a:xfrm>
            <a:off x="4419600" y="2528820"/>
            <a:ext cx="3962400" cy="40188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2932B-9154-FD47-DB55-4E8803335EB3}"/>
                  </a:ext>
                </a:extLst>
              </p:cNvPr>
              <p:cNvSpPr txBox="1"/>
              <p:nvPr/>
            </p:nvSpPr>
            <p:spPr>
              <a:xfrm>
                <a:off x="103342" y="3264686"/>
                <a:ext cx="4033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dirty="0">
                    <a:sym typeface="Wingdings" panose="05000000000000000000" pitchFamily="2" charset="2"/>
                  </a:rPr>
                  <a:t>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ro-RO" dirty="0"/>
                  <a:t>Spațiul soluțiilor: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o-R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dirty="0"/>
                      <m:t>[−2, 2]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dirty="0"/>
                      <m:t> [−2, 2]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452932B-9154-FD47-DB55-4E8803335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42" y="3264686"/>
                <a:ext cx="4033520" cy="369332"/>
              </a:xfrm>
              <a:prstGeom prst="rect">
                <a:avLst/>
              </a:prstGeom>
              <a:blipFill>
                <a:blip r:embed="rId4"/>
                <a:stretch>
                  <a:fillRect l="-1360" t="-13333" r="-151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7956943-2383-6F4B-17A6-DF26D955F703}"/>
              </a:ext>
            </a:extLst>
          </p:cNvPr>
          <p:cNvSpPr txBox="1"/>
          <p:nvPr/>
        </p:nvSpPr>
        <p:spPr>
          <a:xfrm>
            <a:off x="5257800" y="2498630"/>
            <a:ext cx="1615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+mn-lt"/>
              </a:rPr>
              <a:t>Individ</a:t>
            </a:r>
            <a:r>
              <a:rPr lang="en-US" dirty="0">
                <a:latin typeface="+mn-lt"/>
              </a:rPr>
              <a:t> aleator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899E83-D2C1-6403-3C5A-B103C0050683}"/>
                  </a:ext>
                </a:extLst>
              </p:cNvPr>
              <p:cNvSpPr txBox="1"/>
              <p:nvPr/>
            </p:nvSpPr>
            <p:spPr>
              <a:xfrm>
                <a:off x="228600" y="1215174"/>
                <a:ext cx="181737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7899E83-D2C1-6403-3C5A-B103C00506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215174"/>
                <a:ext cx="1817370" cy="276999"/>
              </a:xfrm>
              <a:prstGeom prst="rect">
                <a:avLst/>
              </a:prstGeom>
              <a:blipFill>
                <a:blip r:embed="rId5"/>
                <a:stretch>
                  <a:fillRect l="-6040"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EEAAE-5D87-7E71-46D8-8F1D66C36BE2}"/>
                  </a:ext>
                </a:extLst>
              </p:cNvPr>
              <p:cNvSpPr txBox="1"/>
              <p:nvPr/>
            </p:nvSpPr>
            <p:spPr>
              <a:xfrm>
                <a:off x="100997" y="1473022"/>
                <a:ext cx="7553217" cy="885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o-RO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ro-RO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ro-RO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o-RO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ro-RO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o-RO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o-RO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𝑐𝑜𝑠</m:t>
                              </m:r>
                              <m:d>
                                <m:dPr>
                                  <m:ctrlPr>
                                    <a:rPr lang="ro-RO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2∙</m:t>
                                  </m:r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ro-RO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+20+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EEAAE-5D87-7E71-46D8-8F1D66C36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97" y="1473022"/>
                <a:ext cx="7553217" cy="8855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646523-8DDB-3A5A-0BAE-188625146364}"/>
                  </a:ext>
                </a:extLst>
              </p:cNvPr>
              <p:cNvSpPr txBox="1"/>
              <p:nvPr/>
            </p:nvSpPr>
            <p:spPr>
              <a:xfrm>
                <a:off x="248920" y="2867962"/>
                <a:ext cx="30323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dirty="0" smtClean="0"/>
                        <m:t>[−2, 2]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dirty="0"/>
                        <m:t> [−2, 2]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5646523-8DDB-3A5A-0BAE-188625146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20" y="2867962"/>
                <a:ext cx="3032369" cy="276999"/>
              </a:xfrm>
              <a:prstGeom prst="rect">
                <a:avLst/>
              </a:prstGeom>
              <a:blipFill>
                <a:blip r:embed="rId7"/>
                <a:stretch>
                  <a:fillRect l="-604" t="-2174" r="-120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>
            <a:extLst>
              <a:ext uri="{FF2B5EF4-FFF2-40B4-BE49-F238E27FC236}">
                <a16:creationId xmlns:a16="http://schemas.microsoft.com/office/drawing/2014/main" id="{935C9935-D211-4AE6-78E4-530ED8977C66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436562"/>
            <a:ext cx="8458200" cy="8588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altLang="en-US" sz="2600" b="1" kern="0" dirty="0">
                <a:solidFill>
                  <a:schemeClr val="bg2"/>
                </a:solidFill>
              </a:rPr>
              <a:t>IV.</a:t>
            </a:r>
            <a:r>
              <a:rPr lang="en-US" altLang="en-US" sz="2600" b="1" kern="0" dirty="0">
                <a:solidFill>
                  <a:schemeClr val="bg2"/>
                </a:solidFill>
              </a:rPr>
              <a:t> </a:t>
            </a:r>
            <a:r>
              <a:rPr lang="ro-RO" altLang="en-US" sz="2600" b="1" kern="0" dirty="0">
                <a:solidFill>
                  <a:schemeClr val="bg2"/>
                </a:solidFill>
              </a:rPr>
              <a:t>Componentele</a:t>
            </a:r>
            <a:r>
              <a:rPr lang="en-US" altLang="en-US" sz="2600" b="1" kern="0" dirty="0">
                <a:solidFill>
                  <a:schemeClr val="bg2"/>
                </a:solidFill>
              </a:rPr>
              <a:t> EA</a:t>
            </a:r>
            <a:r>
              <a:rPr lang="ro-RO" altLang="en-US" sz="2600" b="1" kern="0" dirty="0">
                <a:solidFill>
                  <a:schemeClr val="bg2"/>
                </a:solidFill>
              </a:rPr>
              <a:t>. Populaţia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762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0FD176-3D30-4D24-30A1-B1441851DC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4" t="10233" r="7285" b="3938"/>
          <a:stretch/>
        </p:blipFill>
        <p:spPr>
          <a:xfrm>
            <a:off x="3984030" y="2991346"/>
            <a:ext cx="4260592" cy="31808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0FEEE2-53E4-39A4-F659-E212B54DA047}"/>
              </a:ext>
            </a:extLst>
          </p:cNvPr>
          <p:cNvSpPr txBox="1"/>
          <p:nvPr/>
        </p:nvSpPr>
        <p:spPr>
          <a:xfrm>
            <a:off x="4183380" y="2593640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>
                <a:latin typeface="+mn-lt"/>
              </a:rPr>
              <a:t>Evoluție populație</a:t>
            </a: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3A7D83-779A-69DC-B500-53C7CC2CC904}"/>
                  </a:ext>
                </a:extLst>
              </p:cNvPr>
              <p:cNvSpPr txBox="1"/>
              <p:nvPr/>
            </p:nvSpPr>
            <p:spPr>
              <a:xfrm>
                <a:off x="35560" y="1721137"/>
                <a:ext cx="6903720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+0.2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−0.4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) 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3A7D83-779A-69DC-B500-53C7CC2CC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" y="1721137"/>
                <a:ext cx="6903720" cy="5821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04D1D1-2327-3ED6-4FDE-EB9445DF434F}"/>
                  </a:ext>
                </a:extLst>
              </p:cNvPr>
              <p:cNvSpPr txBox="1"/>
              <p:nvPr/>
            </p:nvSpPr>
            <p:spPr>
              <a:xfrm>
                <a:off x="66040" y="1287954"/>
                <a:ext cx="27813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:[−2, 2]→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04D1D1-2327-3ED6-4FDE-EB9445DF4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" y="1287954"/>
                <a:ext cx="2781300" cy="369332"/>
              </a:xfrm>
              <a:prstGeom prst="rect">
                <a:avLst/>
              </a:prstGeom>
              <a:blipFill>
                <a:blip r:embed="rId5"/>
                <a:stretch>
                  <a:fillRect l="-658"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E5F6CD-307C-3F85-D9FE-C489374FD16A}"/>
                  </a:ext>
                </a:extLst>
              </p:cNvPr>
              <p:cNvSpPr txBox="1"/>
              <p:nvPr/>
            </p:nvSpPr>
            <p:spPr>
              <a:xfrm>
                <a:off x="35560" y="2619490"/>
                <a:ext cx="36195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dirty="0">
                    <a:latin typeface="+mn-lt"/>
                  </a:rPr>
                  <a:t>Spațiul soluțiilor: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ro-RO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7E5F6CD-307C-3F85-D9FE-C489374FD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0" y="2619490"/>
                <a:ext cx="3619500" cy="369332"/>
              </a:xfrm>
              <a:prstGeom prst="rect">
                <a:avLst/>
              </a:prstGeom>
              <a:blipFill>
                <a:blip r:embed="rId6"/>
                <a:stretch>
                  <a:fillRect l="-151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EA5969-6391-9C11-A386-E985DD758FB1}"/>
                  </a:ext>
                </a:extLst>
              </p:cNvPr>
              <p:cNvSpPr txBox="1"/>
              <p:nvPr/>
            </p:nvSpPr>
            <p:spPr>
              <a:xfrm>
                <a:off x="66040" y="3622660"/>
                <a:ext cx="41148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ro-RO" b="0" dirty="0">
                    <a:latin typeface="+mn-lt"/>
                    <a:ea typeface="Cambria Math" panose="02040503050406030204" pitchFamily="18" charset="0"/>
                  </a:rPr>
                  <a:t> Grup</a:t>
                </a:r>
                <a:r>
                  <a:rPr lang="en-US" b="0" dirty="0">
                    <a:latin typeface="+mn-lt"/>
                    <a:ea typeface="Cambria Math" panose="02040503050406030204" pitchFamily="18" charset="0"/>
                  </a:rPr>
                  <a:t> de indivizi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  <a:r>
                  <a:rPr lang="ro-RO" dirty="0">
                    <a:latin typeface="+mn-lt"/>
                  </a:rPr>
                  <a:t>Populație</a:t>
                </a: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4EA5969-6391-9C11-A386-E985DD758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" y="3622660"/>
                <a:ext cx="4114800" cy="276999"/>
              </a:xfrm>
              <a:prstGeom prst="rect">
                <a:avLst/>
              </a:prstGeom>
              <a:blipFill>
                <a:blip r:embed="rId7"/>
                <a:stretch>
                  <a:fillRect l="-2074" t="-28261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>
            <a:extLst>
              <a:ext uri="{FF2B5EF4-FFF2-40B4-BE49-F238E27FC236}">
                <a16:creationId xmlns:a16="http://schemas.microsoft.com/office/drawing/2014/main" id="{A463AF93-52AE-7E72-E32A-0BF851D7E839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562687"/>
            <a:ext cx="8458200" cy="8588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altLang="en-US" sz="2600" b="1" kern="0">
                <a:solidFill>
                  <a:schemeClr val="bg2"/>
                </a:solidFill>
              </a:rPr>
              <a:t>IV.</a:t>
            </a:r>
            <a:r>
              <a:rPr lang="en-US" altLang="en-US" sz="2600" b="1" kern="0">
                <a:solidFill>
                  <a:schemeClr val="bg2"/>
                </a:solidFill>
              </a:rPr>
              <a:t> </a:t>
            </a:r>
            <a:r>
              <a:rPr lang="ro-RO" altLang="en-US" sz="2600" b="1" kern="0">
                <a:solidFill>
                  <a:schemeClr val="bg2"/>
                </a:solidFill>
              </a:rPr>
              <a:t>Componentele</a:t>
            </a:r>
            <a:r>
              <a:rPr lang="en-US" altLang="en-US" sz="2600" b="1" kern="0">
                <a:solidFill>
                  <a:schemeClr val="bg2"/>
                </a:solidFill>
              </a:rPr>
              <a:t> EA</a:t>
            </a:r>
            <a:r>
              <a:rPr lang="ro-RO" altLang="en-US" sz="2600" b="1" kern="0">
                <a:solidFill>
                  <a:schemeClr val="bg2"/>
                </a:solidFill>
              </a:rPr>
              <a:t>. Populaţia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246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125240-5BDC-A545-0FC5-5CBF1910599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57" t="12958" r="20629" b="11451"/>
          <a:stretch/>
        </p:blipFill>
        <p:spPr>
          <a:xfrm>
            <a:off x="4281086" y="2253665"/>
            <a:ext cx="4070958" cy="40709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C1249B-E693-195F-B5EF-6E7F237AB66B}"/>
              </a:ext>
            </a:extLst>
          </p:cNvPr>
          <p:cNvSpPr txBox="1"/>
          <p:nvPr/>
        </p:nvSpPr>
        <p:spPr>
          <a:xfrm>
            <a:off x="5181600" y="2022833"/>
            <a:ext cx="2034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latin typeface="+mn-lt"/>
              </a:rPr>
              <a:t>Populație aleatoare</a:t>
            </a: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9056B2-9B11-0037-BC5A-D2FAC378769D}"/>
                  </a:ext>
                </a:extLst>
              </p:cNvPr>
              <p:cNvSpPr txBox="1"/>
              <p:nvPr/>
            </p:nvSpPr>
            <p:spPr>
              <a:xfrm>
                <a:off x="-99060" y="2115166"/>
                <a:ext cx="368046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9056B2-9B11-0037-BC5A-D2FAC3787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9060" y="2115166"/>
                <a:ext cx="3680460" cy="276999"/>
              </a:xfrm>
              <a:prstGeom prst="rect">
                <a:avLst/>
              </a:prstGeom>
              <a:blipFill>
                <a:blip r:embed="rId4"/>
                <a:stretch>
                  <a:fillRect t="-444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B2B4FB-6AD7-07E6-D726-E28935BDDB99}"/>
                  </a:ext>
                </a:extLst>
              </p:cNvPr>
              <p:cNvSpPr txBox="1"/>
              <p:nvPr/>
            </p:nvSpPr>
            <p:spPr>
              <a:xfrm>
                <a:off x="148590" y="2432608"/>
                <a:ext cx="3432810" cy="3730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o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=10−</m:t>
                      </m:r>
                      <m:sSubSup>
                        <m:sSubSupPr>
                          <m:ctrlPr>
                            <a:rPr lang="ro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ro-RO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CB2B4FB-6AD7-07E6-D726-E28935BDD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" y="2432608"/>
                <a:ext cx="3432810" cy="373051"/>
              </a:xfrm>
              <a:prstGeom prst="rect">
                <a:avLst/>
              </a:prstGeom>
              <a:blipFill>
                <a:blip r:embed="rId5"/>
                <a:stretch>
                  <a:fillRect l="-532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967B13-5B3F-1B46-FD67-CFB2A9E03215}"/>
                  </a:ext>
                </a:extLst>
              </p:cNvPr>
              <p:cNvSpPr txBox="1"/>
              <p:nvPr/>
            </p:nvSpPr>
            <p:spPr>
              <a:xfrm>
                <a:off x="148590" y="2989349"/>
                <a:ext cx="41948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dirty="0"/>
                  <a:t>Spațiul soluțiilor: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o-R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dirty="0"/>
                      <m:t>[−2, 2]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dirty="0"/>
                      <m:t> [−2, 2]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967B13-5B3F-1B46-FD67-CFB2A9E03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90" y="2989349"/>
                <a:ext cx="4194810" cy="369332"/>
              </a:xfrm>
              <a:prstGeom prst="rect">
                <a:avLst/>
              </a:prstGeom>
              <a:blipFill>
                <a:blip r:embed="rId6"/>
                <a:stretch>
                  <a:fillRect l="-1161" t="-11475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8A96BE19-3785-1ABC-CC81-DF7FEE450D6B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459067"/>
            <a:ext cx="8458200" cy="8588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altLang="en-US" sz="2600" b="1" kern="0" dirty="0">
                <a:solidFill>
                  <a:schemeClr val="bg2"/>
                </a:solidFill>
              </a:rPr>
              <a:t>IV.</a:t>
            </a:r>
            <a:r>
              <a:rPr lang="en-US" altLang="en-US" sz="2600" b="1" kern="0" dirty="0">
                <a:solidFill>
                  <a:schemeClr val="bg2"/>
                </a:solidFill>
              </a:rPr>
              <a:t> </a:t>
            </a:r>
            <a:r>
              <a:rPr lang="ro-RO" altLang="en-US" sz="2600" b="1" kern="0" dirty="0">
                <a:solidFill>
                  <a:schemeClr val="bg2"/>
                </a:solidFill>
              </a:rPr>
              <a:t>Componentele</a:t>
            </a:r>
            <a:r>
              <a:rPr lang="en-US" altLang="en-US" sz="2600" b="1" kern="0" dirty="0">
                <a:solidFill>
                  <a:schemeClr val="bg2"/>
                </a:solidFill>
              </a:rPr>
              <a:t> EA</a:t>
            </a:r>
            <a:r>
              <a:rPr lang="ro-RO" altLang="en-US" sz="2600" b="1" kern="0" dirty="0">
                <a:solidFill>
                  <a:schemeClr val="bg2"/>
                </a:solidFill>
              </a:rPr>
              <a:t>. Populaţia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627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A5DE2C-FB6E-6EB1-D2B6-5304DFE518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14" t="11880" r="22186" b="24948"/>
          <a:stretch/>
        </p:blipFill>
        <p:spPr>
          <a:xfrm>
            <a:off x="19050" y="3158986"/>
            <a:ext cx="2743200" cy="252719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B8B8C9-2F10-5EA3-B902-460A012EB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10" t="12311" r="21444" b="18908"/>
          <a:stretch/>
        </p:blipFill>
        <p:spPr>
          <a:xfrm>
            <a:off x="6559950" y="3158986"/>
            <a:ext cx="2565000" cy="25650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555EF6-8908-63A3-FEFE-5F011BC434A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57" t="11879" r="20629" b="11450"/>
          <a:stretch/>
        </p:blipFill>
        <p:spPr>
          <a:xfrm>
            <a:off x="3133843" y="2907874"/>
            <a:ext cx="3024035" cy="3067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1E9164-32FB-4F9A-0D46-3206272B66E5}"/>
              </a:ext>
            </a:extLst>
          </p:cNvPr>
          <p:cNvSpPr txBox="1"/>
          <p:nvPr/>
        </p:nvSpPr>
        <p:spPr>
          <a:xfrm>
            <a:off x="685800" y="6171126"/>
            <a:ext cx="8286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>
                <a:latin typeface="+mn-lt"/>
              </a:rPr>
              <a:t>Evoluție populație: ES, minimizare funcția Ackley</a:t>
            </a: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97601B-87B1-BD7E-7C13-B5DFB095A23C}"/>
                  </a:ext>
                </a:extLst>
              </p:cNvPr>
              <p:cNvSpPr txBox="1"/>
              <p:nvPr/>
            </p:nvSpPr>
            <p:spPr>
              <a:xfrm>
                <a:off x="19050" y="1309345"/>
                <a:ext cx="19812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97601B-87B1-BD7E-7C13-B5DFB095A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" y="1309345"/>
                <a:ext cx="1981200" cy="276999"/>
              </a:xfrm>
              <a:prstGeom prst="rect">
                <a:avLst/>
              </a:prstGeom>
              <a:blipFill>
                <a:blip r:embed="rId6"/>
                <a:stretch>
                  <a:fillRect l="-615" t="-22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BBEDB9-D321-AA00-676D-CB7626B79C8A}"/>
                  </a:ext>
                </a:extLst>
              </p:cNvPr>
              <p:cNvSpPr txBox="1"/>
              <p:nvPr/>
            </p:nvSpPr>
            <p:spPr>
              <a:xfrm>
                <a:off x="-381000" y="1481515"/>
                <a:ext cx="7624315" cy="885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929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o-RO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ro-RO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ro-RO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o-RO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ro-RO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o-RO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o-RO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𝑐𝑜𝑠</m:t>
                              </m:r>
                              <m:d>
                                <m:dPr>
                                  <m:ctrlPr>
                                    <a:rPr lang="ro-RO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2∙</m:t>
                                  </m:r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ro-RO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+20+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0BBEDB9-D321-AA00-676D-CB7626B79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81000" y="1481515"/>
                <a:ext cx="7624315" cy="8855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E016B4-D5B9-4273-9052-46E5204874AA}"/>
                  </a:ext>
                </a:extLst>
              </p:cNvPr>
              <p:cNvSpPr txBox="1"/>
              <p:nvPr/>
            </p:nvSpPr>
            <p:spPr>
              <a:xfrm>
                <a:off x="157353" y="2488877"/>
                <a:ext cx="30323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 dirty="0" smtClean="0"/>
                        <m:t>[−2, 2]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dirty="0"/>
                        <m:t> [−2, 2]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E016B4-D5B9-4273-9052-46E520487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53" y="2488877"/>
                <a:ext cx="3032369" cy="276999"/>
              </a:xfrm>
              <a:prstGeom prst="rect">
                <a:avLst/>
              </a:prstGeom>
              <a:blipFill>
                <a:blip r:embed="rId8"/>
                <a:stretch>
                  <a:fillRect l="-604" t="-2174" r="-120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7C1930-2F4A-48F0-81A2-030486214F5E}"/>
                  </a:ext>
                </a:extLst>
              </p:cNvPr>
              <p:cNvSpPr txBox="1"/>
              <p:nvPr/>
            </p:nvSpPr>
            <p:spPr>
              <a:xfrm>
                <a:off x="3004173" y="2440528"/>
                <a:ext cx="43743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ro-RO" dirty="0">
                    <a:sym typeface="Wingdings" panose="05000000000000000000" pitchFamily="2" charset="2"/>
                  </a:rPr>
                  <a:t>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ro-RO" dirty="0">
                    <a:latin typeface="+mn-lt"/>
                  </a:rPr>
                  <a:t>Spațiul soluțiilor</a:t>
                </a:r>
                <a:r>
                  <a:rPr lang="ro-RO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o-RO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dirty="0"/>
                      <m:t>[−2, 2]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dirty="0"/>
                      <m:t> [−2, 2]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7C1930-2F4A-48F0-81A2-030486214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173" y="2440528"/>
                <a:ext cx="4374397" cy="369332"/>
              </a:xfrm>
              <a:prstGeom prst="rect">
                <a:avLst/>
              </a:prstGeom>
              <a:blipFill>
                <a:blip r:embed="rId9"/>
                <a:stretch>
                  <a:fillRect t="-9836" r="-418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2">
            <a:extLst>
              <a:ext uri="{FF2B5EF4-FFF2-40B4-BE49-F238E27FC236}">
                <a16:creationId xmlns:a16="http://schemas.microsoft.com/office/drawing/2014/main" id="{83C534F4-C5B2-776F-041E-BD5A3C05F767}"/>
              </a:ext>
            </a:extLst>
          </p:cNvPr>
          <p:cNvSpPr txBox="1">
            <a:spLocks noChangeArrowheads="1"/>
          </p:cNvSpPr>
          <p:nvPr/>
        </p:nvSpPr>
        <p:spPr>
          <a:xfrm>
            <a:off x="342900" y="412230"/>
            <a:ext cx="8458200" cy="8588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altLang="en-US" sz="2600" b="1" kern="0" dirty="0">
                <a:solidFill>
                  <a:schemeClr val="bg2"/>
                </a:solidFill>
              </a:rPr>
              <a:t>IV.</a:t>
            </a:r>
            <a:r>
              <a:rPr lang="en-US" altLang="en-US" sz="2600" b="1" kern="0" dirty="0">
                <a:solidFill>
                  <a:schemeClr val="bg2"/>
                </a:solidFill>
              </a:rPr>
              <a:t> </a:t>
            </a:r>
            <a:r>
              <a:rPr lang="ro-RO" altLang="en-US" sz="2600" b="1" kern="0" dirty="0">
                <a:solidFill>
                  <a:schemeClr val="bg2"/>
                </a:solidFill>
              </a:rPr>
              <a:t>Componentele</a:t>
            </a:r>
            <a:r>
              <a:rPr lang="en-US" altLang="en-US" sz="2600" b="1" kern="0" dirty="0">
                <a:solidFill>
                  <a:schemeClr val="bg2"/>
                </a:solidFill>
              </a:rPr>
              <a:t> EA</a:t>
            </a:r>
            <a:r>
              <a:rPr lang="ro-RO" altLang="en-US" sz="2600" b="1" kern="0" dirty="0">
                <a:solidFill>
                  <a:schemeClr val="bg2"/>
                </a:solidFill>
              </a:rPr>
              <a:t>. Populaţia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828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A3C725-9229-6A9F-19ED-D271D06A4B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02" t="23760" r="16470" b="16303"/>
          <a:stretch/>
        </p:blipFill>
        <p:spPr>
          <a:xfrm>
            <a:off x="3301040" y="2846249"/>
            <a:ext cx="4852360" cy="3520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E0B2C7-ABE2-D150-BFAF-0C9BC78CA88C}"/>
              </a:ext>
            </a:extLst>
          </p:cNvPr>
          <p:cNvSpPr txBox="1"/>
          <p:nvPr/>
        </p:nvSpPr>
        <p:spPr>
          <a:xfrm>
            <a:off x="609600" y="4114800"/>
            <a:ext cx="27204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>
                <a:latin typeface="+mn-lt"/>
              </a:rPr>
              <a:t>Evoluție populație:</a:t>
            </a:r>
            <a:endParaRPr lang="en-US" dirty="0">
              <a:latin typeface="+mn-lt"/>
            </a:endParaRPr>
          </a:p>
          <a:p>
            <a:pPr algn="ctr"/>
            <a:r>
              <a:rPr lang="ro-RO" dirty="0">
                <a:latin typeface="+mn-lt"/>
              </a:rPr>
              <a:t>ES, minimizare funcția Ackley</a:t>
            </a:r>
            <a:endParaRPr 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1674EA-7EE4-A97F-7E4C-FDDF6A0322EE}"/>
                  </a:ext>
                </a:extLst>
              </p:cNvPr>
              <p:cNvSpPr txBox="1"/>
              <p:nvPr/>
            </p:nvSpPr>
            <p:spPr>
              <a:xfrm>
                <a:off x="114300" y="1040906"/>
                <a:ext cx="236220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1674EA-7EE4-A97F-7E4C-FDDF6A032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1040906"/>
                <a:ext cx="2362200" cy="276999"/>
              </a:xfrm>
              <a:prstGeom prst="rect">
                <a:avLst/>
              </a:prstGeom>
              <a:blipFill>
                <a:blip r:embed="rId4"/>
                <a:stretch>
                  <a:fillRect t="-2222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EA99ED-C83E-0952-5C6E-D6024702CA8B}"/>
                  </a:ext>
                </a:extLst>
              </p:cNvPr>
              <p:cNvSpPr txBox="1"/>
              <p:nvPr/>
            </p:nvSpPr>
            <p:spPr>
              <a:xfrm>
                <a:off x="114300" y="1259675"/>
                <a:ext cx="7317740" cy="885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9297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o-RO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sz="16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0.2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ad>
                            <m:radPr>
                              <m:degHide m:val="on"/>
                              <m:ctrlPr>
                                <a:rPr lang="ro-RO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ro-RO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o-RO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ro-RO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o-RO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ro-RO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𝑐𝑜𝑠</m:t>
                              </m:r>
                              <m:d>
                                <m:dPr>
                                  <m:ctrlPr>
                                    <a:rPr lang="ro-RO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2∙</m:t>
                                  </m:r>
                                  <m:r>
                                    <a:rPr lang="en-US" sz="1600" i="1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ro-RO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+20+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EA99ED-C83E-0952-5C6E-D6024702C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" y="1259675"/>
                <a:ext cx="7317740" cy="8855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4602B7-FFB6-B389-E284-06EB10215322}"/>
                  </a:ext>
                </a:extLst>
              </p:cNvPr>
              <p:cNvSpPr txBox="1"/>
              <p:nvPr/>
            </p:nvSpPr>
            <p:spPr>
              <a:xfrm>
                <a:off x="147381" y="2307491"/>
                <a:ext cx="872205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dirty="0" smtClean="0"/>
                      <m:t>[−2, 2]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dirty="0"/>
                      <m:t> [−2, 2]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dirty="0"/>
                      <m:t> [−2, 2]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 </a:t>
                </a:r>
                <a:r>
                  <a:rPr lang="ro-RO" dirty="0">
                    <a:sym typeface="Wingdings" panose="05000000000000000000" pitchFamily="2" charset="2"/>
                  </a:rPr>
                  <a:t>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ro-RO" dirty="0"/>
                  <a:t>Spațiul soluțiilor: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ro-RO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dirty="0"/>
                      <m:t>[−2, 2]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dirty="0"/>
                      <m:t> [−2, 2]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dirty="0"/>
                      <m:t> [−2, 2]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A4602B7-FFB6-B389-E284-06EB10215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81" y="2307491"/>
                <a:ext cx="8722050" cy="553998"/>
              </a:xfrm>
              <a:prstGeom prst="rect">
                <a:avLst/>
              </a:prstGeom>
              <a:blipFill>
                <a:blip r:embed="rId6"/>
                <a:stretch>
                  <a:fillRect l="-699" t="-16667" r="-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">
            <a:extLst>
              <a:ext uri="{FF2B5EF4-FFF2-40B4-BE49-F238E27FC236}">
                <a16:creationId xmlns:a16="http://schemas.microsoft.com/office/drawing/2014/main" id="{FE635310-73DF-9AFF-2F11-05FEE6539A0E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459067"/>
            <a:ext cx="8458200" cy="8588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altLang="en-US" sz="2600" b="1" kern="0" dirty="0">
                <a:solidFill>
                  <a:schemeClr val="bg2"/>
                </a:solidFill>
              </a:rPr>
              <a:t>IV.</a:t>
            </a:r>
            <a:r>
              <a:rPr lang="en-US" altLang="en-US" sz="2600" b="1" kern="0" dirty="0">
                <a:solidFill>
                  <a:schemeClr val="bg2"/>
                </a:solidFill>
              </a:rPr>
              <a:t> </a:t>
            </a:r>
            <a:r>
              <a:rPr lang="ro-RO" altLang="en-US" sz="2600" b="1" kern="0" dirty="0">
                <a:solidFill>
                  <a:schemeClr val="bg2"/>
                </a:solidFill>
              </a:rPr>
              <a:t>Componentele</a:t>
            </a:r>
            <a:r>
              <a:rPr lang="en-US" altLang="en-US" sz="2600" b="1" kern="0" dirty="0">
                <a:solidFill>
                  <a:schemeClr val="bg2"/>
                </a:solidFill>
              </a:rPr>
              <a:t> EA</a:t>
            </a:r>
            <a:r>
              <a:rPr lang="ro-RO" altLang="en-US" sz="2600" b="1" kern="0" dirty="0">
                <a:solidFill>
                  <a:schemeClr val="bg2"/>
                </a:solidFill>
              </a:rPr>
              <a:t>. Populaţia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309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ro-RO" dirty="0"/>
              <a:t>Populația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Inițială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Populația (generația) curentă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Populația (bazinul) de părinți </a:t>
            </a:r>
            <a:r>
              <a:rPr lang="ro-RO" sz="1800" dirty="0">
                <a:latin typeface="Times New Roman"/>
                <a:cs typeface="Times New Roman"/>
                <a:sym typeface="Wingdings" panose="05000000000000000000" pitchFamily="2" charset="2"/>
              </a:rPr>
              <a:t>→ selectată din generația curentă</a:t>
            </a:r>
            <a:endParaRPr lang="ro-RO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Populația progeniturilor </a:t>
            </a:r>
            <a:r>
              <a:rPr lang="ro-RO" sz="1800" dirty="0">
                <a:latin typeface="Times New Roman"/>
                <a:cs typeface="Times New Roman"/>
                <a:sym typeface="Wingdings" panose="05000000000000000000" pitchFamily="2" charset="2"/>
              </a:rPr>
              <a:t>→ generată din bazinul de părinți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Populația (generația) următoare </a:t>
            </a:r>
            <a:r>
              <a:rPr lang="ro-RO" sz="1800" dirty="0">
                <a:latin typeface="Times New Roman"/>
                <a:cs typeface="Times New Roman"/>
                <a:sym typeface="Wingdings" panose="05000000000000000000" pitchFamily="2" charset="2"/>
              </a:rPr>
              <a:t>→ selectată din generația curentă și 						indivizii noi</a:t>
            </a:r>
            <a:endParaRPr lang="ro-RO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o-RO" dirty="0">
                <a:sym typeface="Wingdings" panose="05000000000000000000" pitchFamily="2" charset="2"/>
              </a:rPr>
              <a:t>Populația inițială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Se construiește alegând aleator (distribuție uniformă) indivizi din spațiul fenotipurilor </a:t>
            </a:r>
            <a:r>
              <a:rPr lang="ro-RO" sz="1800">
                <a:sym typeface="Wingdings" panose="05000000000000000000" pitchFamily="2" charset="2"/>
              </a:rPr>
              <a:t>și realizând </a:t>
            </a:r>
            <a:r>
              <a:rPr lang="ro-RO" sz="1800" dirty="0">
                <a:sym typeface="Wingdings" panose="05000000000000000000" pitchFamily="2" charset="2"/>
              </a:rPr>
              <a:t>conversia în spațiu genotipurilor</a:t>
            </a:r>
          </a:p>
          <a:p>
            <a:pPr marL="342900" lvl="1" indent="0">
              <a:buNone/>
            </a:pPr>
            <a:endParaRPr lang="ro-RO" dirty="0">
              <a:sym typeface="Wingdings" panose="05000000000000000000" pitchFamily="2" charset="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17A0966-AC8B-75B7-14CA-BAE7F6129A6B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459067"/>
            <a:ext cx="8458200" cy="85883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altLang="en-US" sz="2600" b="1" kern="0" dirty="0">
                <a:solidFill>
                  <a:schemeClr val="bg2"/>
                </a:solidFill>
              </a:rPr>
              <a:t>IV.</a:t>
            </a:r>
            <a:r>
              <a:rPr lang="en-US" altLang="en-US" sz="2600" b="1" kern="0" dirty="0">
                <a:solidFill>
                  <a:schemeClr val="bg2"/>
                </a:solidFill>
              </a:rPr>
              <a:t> </a:t>
            </a:r>
            <a:r>
              <a:rPr lang="ro-RO" altLang="en-US" sz="2600" b="1" kern="0" dirty="0">
                <a:solidFill>
                  <a:schemeClr val="bg2"/>
                </a:solidFill>
              </a:rPr>
              <a:t>Componentele</a:t>
            </a:r>
            <a:r>
              <a:rPr lang="en-US" altLang="en-US" sz="2600" b="1" kern="0" dirty="0">
                <a:solidFill>
                  <a:schemeClr val="bg2"/>
                </a:solidFill>
              </a:rPr>
              <a:t> EA</a:t>
            </a:r>
            <a:r>
              <a:rPr lang="ro-RO" altLang="en-US" sz="2600" b="1" kern="0" dirty="0">
                <a:solidFill>
                  <a:schemeClr val="bg2"/>
                </a:solidFill>
              </a:rPr>
              <a:t>. Populaţia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65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altLang="en-US" sz="2600" b="1">
                <a:solidFill>
                  <a:schemeClr val="bg2"/>
                </a:solidFill>
              </a:rPr>
              <a:t>V.</a:t>
            </a:r>
            <a:r>
              <a:rPr lang="en-US" altLang="en-US" sz="2600" b="1">
                <a:solidFill>
                  <a:schemeClr val="bg2"/>
                </a:solidFill>
              </a:rPr>
              <a:t> Componentele EA</a:t>
            </a:r>
            <a:r>
              <a:rPr lang="ro-RO" altLang="en-US" sz="2600" b="1">
                <a:solidFill>
                  <a:schemeClr val="bg2"/>
                </a:solidFill>
              </a:rPr>
              <a:t>. Selecţia părinţilor</a:t>
            </a:r>
            <a:endParaRPr lang="en-US" altLang="en-US" sz="2600" b="1">
              <a:solidFill>
                <a:schemeClr val="bg2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79196"/>
            <a:ext cx="8229600" cy="5211763"/>
          </a:xfrm>
        </p:spPr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ro-RO" altLang="en-US" sz="1800" dirty="0"/>
              <a:t>Rolul: de a distinge între indivizii populaţiei pe baza calităţii acestora</a:t>
            </a:r>
          </a:p>
          <a:p>
            <a:pPr algn="just">
              <a:buFont typeface="Wingdings" pitchFamily="2" charset="2"/>
              <a:buChar char="q"/>
            </a:pPr>
            <a:endParaRPr lang="ro-RO" altLang="en-US" sz="1800" dirty="0"/>
          </a:p>
          <a:p>
            <a:pPr algn="just">
              <a:buFont typeface="Wingdings" pitchFamily="2" charset="2"/>
              <a:buChar char="q"/>
            </a:pPr>
            <a:r>
              <a:rPr lang="ro-RO" altLang="en-US" sz="1800" dirty="0"/>
              <a:t>Permite cu prioritate celor mai buni indivizi să se reproducă, deci să participe la generarea populaţiei următoare.</a:t>
            </a:r>
          </a:p>
          <a:p>
            <a:pPr>
              <a:buFont typeface="Wingdings" pitchFamily="2" charset="2"/>
              <a:buChar char="q"/>
            </a:pPr>
            <a:endParaRPr lang="ro-RO" altLang="en-US" sz="1800" dirty="0"/>
          </a:p>
          <a:p>
            <a:pPr>
              <a:buFont typeface="Wingdings" pitchFamily="2" charset="2"/>
              <a:buChar char="q"/>
            </a:pPr>
            <a:r>
              <a:rPr lang="ro-RO" altLang="en-US" sz="1800" dirty="0"/>
              <a:t>Mecanism probabilist de selectare a părinţilor : alegerea unui individ pentru a se reproduce depinde direct proporţional de calitatea lui</a:t>
            </a:r>
          </a:p>
          <a:p>
            <a:pPr>
              <a:buFont typeface="Wingdings" pitchFamily="2" charset="2"/>
              <a:buChar char="q"/>
            </a:pPr>
            <a:endParaRPr lang="ro-RO" altLang="en-US" sz="1800" dirty="0"/>
          </a:p>
          <a:p>
            <a:pPr>
              <a:buFont typeface="Wingdings" pitchFamily="2" charset="2"/>
              <a:buChar char="q"/>
            </a:pPr>
            <a:r>
              <a:rPr lang="ro-RO" altLang="en-US" sz="1800" dirty="0"/>
              <a:t>Forţează îmbunătăţirea calităţii globale a populaţiei de la o generaţie la alta.</a:t>
            </a:r>
          </a:p>
          <a:p>
            <a:pPr>
              <a:buFont typeface="Wingdings" pitchFamily="2" charset="2"/>
              <a:buChar char="q"/>
            </a:pPr>
            <a:endParaRPr lang="ro-RO" altLang="en-US" sz="1800" dirty="0"/>
          </a:p>
          <a:p>
            <a:pPr algn="just">
              <a:buFont typeface="Wingdings" pitchFamily="2" charset="2"/>
              <a:buChar char="q"/>
            </a:pPr>
            <a:r>
              <a:rPr lang="ro-RO" altLang="en-US" sz="1800" dirty="0"/>
              <a:t>Indivizii “slabi” nu sunt eliminaţi din procesul de selectare pentru reproducere, ci doar au asociate probabilităţi mici, dar nenule, de selecţie:</a:t>
            </a:r>
          </a:p>
          <a:p>
            <a:pPr lvl="1">
              <a:buFont typeface="Wingdings" pitchFamily="2" charset="2"/>
              <a:buChar char="q"/>
            </a:pPr>
            <a:r>
              <a:rPr lang="ro-RO" altLang="en-US" sz="1600" dirty="0"/>
              <a:t>Algoritmul de căutare nu este de tip greedy </a:t>
            </a:r>
          </a:p>
          <a:p>
            <a:pPr lvl="1">
              <a:buFont typeface="Wingdings" pitchFamily="2" charset="2"/>
              <a:buChar char="q"/>
            </a:pPr>
            <a:r>
              <a:rPr lang="ro-RO" altLang="en-US" sz="1600" dirty="0"/>
              <a:t>Riscul de a identifica o valoare de optim local este diminuat</a:t>
            </a:r>
          </a:p>
          <a:p>
            <a:pPr lvl="1" eaLnBrk="1" hangingPunct="1">
              <a:buClr>
                <a:schemeClr val="tx1"/>
              </a:buClr>
              <a:buFont typeface="Wingdings" pitchFamily="2" charset="2"/>
              <a:buNone/>
            </a:pPr>
            <a:endParaRPr lang="en-US" altLang="en-US" sz="1600" dirty="0"/>
          </a:p>
        </p:txBody>
      </p:sp>
      <p:sp>
        <p:nvSpPr>
          <p:cNvPr id="1229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29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29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29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29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29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29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29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30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30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30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30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30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30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30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30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30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30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231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altLang="en-US" sz="2600" b="1" dirty="0">
                <a:solidFill>
                  <a:schemeClr val="bg2"/>
                </a:solidFill>
              </a:rPr>
              <a:t>V</a:t>
            </a:r>
            <a:r>
              <a:rPr lang="en-US" altLang="en-US" sz="2600" b="1" dirty="0">
                <a:solidFill>
                  <a:schemeClr val="bg2"/>
                </a:solidFill>
              </a:rPr>
              <a:t>I</a:t>
            </a:r>
            <a:r>
              <a:rPr lang="ro-RO" altLang="en-US" sz="2600" b="1" dirty="0">
                <a:solidFill>
                  <a:schemeClr val="bg2"/>
                </a:solidFill>
              </a:rPr>
              <a:t>.</a:t>
            </a:r>
            <a:r>
              <a:rPr lang="en-US" altLang="en-US" sz="2600" b="1" dirty="0">
                <a:solidFill>
                  <a:schemeClr val="bg2"/>
                </a:solidFill>
              </a:rPr>
              <a:t> </a:t>
            </a:r>
            <a:r>
              <a:rPr lang="ro-RO" sz="2600" b="1" noProof="0" dirty="0">
                <a:solidFill>
                  <a:schemeClr val="bg2"/>
                </a:solidFill>
              </a:rPr>
              <a:t>Componentele EA. Operatori de </a:t>
            </a:r>
            <a:r>
              <a:rPr lang="ro-RO" sz="2600" b="1" noProof="0" dirty="0" err="1">
                <a:solidFill>
                  <a:schemeClr val="bg2"/>
                </a:solidFill>
              </a:rPr>
              <a:t>variaţie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229600" cy="5211763"/>
          </a:xfrm>
        </p:spPr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ro-RO" altLang="en-US" sz="1800" b="1" dirty="0"/>
              <a:t>Optimul global al funcţiei obiectiv poate fi obţinut în situaţia în care operatorii de variaţie utilizaţi asigură obţinerea oricărui genotip soluţie potenţială a problemei de optim. </a:t>
            </a:r>
          </a:p>
          <a:p>
            <a:pPr marL="0" indent="0" algn="just">
              <a:buNone/>
            </a:pPr>
            <a:endParaRPr lang="ro-RO" altLang="en-US" sz="1800" b="1" dirty="0"/>
          </a:p>
          <a:p>
            <a:pPr algn="just">
              <a:buFont typeface="Wingdings" pitchFamily="2" charset="2"/>
              <a:buChar char="q"/>
            </a:pPr>
            <a:r>
              <a:rPr lang="ro-RO" altLang="en-US" sz="1800" b="1" dirty="0"/>
              <a:t>Operatorul mutaţie:</a:t>
            </a:r>
            <a:r>
              <a:rPr lang="ro-RO" altLang="en-US" sz="1800" dirty="0"/>
              <a:t> este operato</a:t>
            </a:r>
            <a:r>
              <a:rPr lang="en-US" altLang="en-US" sz="1800" dirty="0"/>
              <a:t>r</a:t>
            </a:r>
            <a:r>
              <a:rPr lang="ro-RO" altLang="en-US" sz="1800" dirty="0"/>
              <a:t> unar. </a:t>
            </a:r>
          </a:p>
          <a:p>
            <a:pPr algn="just">
              <a:buFont typeface="Wingdings" pitchFamily="2" charset="2"/>
              <a:buChar char="q"/>
            </a:pPr>
            <a:endParaRPr lang="ro-RO" altLang="en-US" sz="1800" dirty="0"/>
          </a:p>
          <a:p>
            <a:pPr algn="just">
              <a:buFont typeface="Wingdings" pitchFamily="2" charset="2"/>
              <a:buChar char="q"/>
            </a:pPr>
            <a:r>
              <a:rPr lang="ro-RO" altLang="en-US" sz="1800" dirty="0"/>
              <a:t>Aplicat unui genotip rezultă o variantă “mutantă”, numită progenitură sau copil. Operatorul mutaţie este întotdeauna stochastic: rezultatul depinde de o serie de alegeri aleatoare. </a:t>
            </a:r>
          </a:p>
          <a:p>
            <a:pPr algn="just">
              <a:buFont typeface="Wingdings" pitchFamily="2" charset="2"/>
              <a:buChar char="q"/>
            </a:pPr>
            <a:endParaRPr lang="ro-RO" altLang="en-US" sz="1800" dirty="0"/>
          </a:p>
          <a:p>
            <a:pPr algn="just">
              <a:buFont typeface="Wingdings" pitchFamily="2" charset="2"/>
              <a:buChar char="q"/>
            </a:pPr>
            <a:r>
              <a:rPr lang="ro-RO" altLang="en-US" sz="1800" dirty="0"/>
              <a:t>Rolul mutaţiei depinde de tipul de algoritm implementat: în cazul GA, mutaţia are rolul de a „împrospăta” structura genetică a unei populaţii. </a:t>
            </a:r>
          </a:p>
          <a:p>
            <a:pPr marL="0" indent="0">
              <a:buNone/>
            </a:pPr>
            <a:endParaRPr lang="ro-RO" altLang="en-US" sz="1800" dirty="0"/>
          </a:p>
          <a:p>
            <a:pPr algn="just">
              <a:buFont typeface="Wingdings" pitchFamily="2" charset="2"/>
              <a:buChar char="q"/>
            </a:pPr>
            <a:r>
              <a:rPr lang="ro-RO" altLang="en-US" sz="1800" dirty="0"/>
              <a:t>În general un operator mutaţie permite modificarea oricărei alele dintr-un cromozom cu orice variantă posibilă, cu o probabilitate nenulă. </a:t>
            </a:r>
          </a:p>
          <a:p>
            <a:pPr>
              <a:buFont typeface="Wingdings" pitchFamily="2" charset="2"/>
              <a:buChar char="q"/>
            </a:pPr>
            <a:endParaRPr lang="en-US" altLang="en-US" sz="1800" dirty="0"/>
          </a:p>
        </p:txBody>
      </p:sp>
      <p:sp>
        <p:nvSpPr>
          <p:cNvPr id="13316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17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18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19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20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21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22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23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24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25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26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27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28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29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30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31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32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33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3334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altLang="en-US" sz="2600" b="1">
                <a:solidFill>
                  <a:schemeClr val="bg2"/>
                </a:solidFill>
              </a:rPr>
              <a:t>V</a:t>
            </a:r>
            <a:r>
              <a:rPr lang="en-US" altLang="en-US" sz="2600" b="1">
                <a:solidFill>
                  <a:schemeClr val="bg2"/>
                </a:solidFill>
              </a:rPr>
              <a:t>I</a:t>
            </a:r>
            <a:r>
              <a:rPr lang="ro-RO" altLang="en-US" sz="2600" b="1">
                <a:solidFill>
                  <a:schemeClr val="bg2"/>
                </a:solidFill>
              </a:rPr>
              <a:t>.</a:t>
            </a:r>
            <a:r>
              <a:rPr lang="en-US" altLang="en-US" sz="2600" b="1">
                <a:solidFill>
                  <a:schemeClr val="bg2"/>
                </a:solidFill>
              </a:rPr>
              <a:t> Componentele EA</a:t>
            </a:r>
            <a:r>
              <a:rPr lang="ro-RO" altLang="en-US" sz="2600" b="1">
                <a:solidFill>
                  <a:schemeClr val="bg2"/>
                </a:solidFill>
              </a:rPr>
              <a:t>. </a:t>
            </a:r>
            <a:r>
              <a:rPr lang="en-US" altLang="en-US" sz="2600" b="1">
                <a:solidFill>
                  <a:schemeClr val="bg2"/>
                </a:solidFill>
              </a:rPr>
              <a:t>Operatori de varia</a:t>
            </a:r>
            <a:r>
              <a:rPr lang="ro-RO" altLang="en-US" sz="2600" b="1">
                <a:solidFill>
                  <a:schemeClr val="bg2"/>
                </a:solidFill>
              </a:rPr>
              <a:t>ţie</a:t>
            </a:r>
            <a:endParaRPr lang="en-US" altLang="en-US" sz="2600" b="1">
              <a:solidFill>
                <a:schemeClr val="bg2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229600" cy="5211763"/>
          </a:xfrm>
        </p:spPr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ro-RO" altLang="en-US" sz="1800" b="1" dirty="0"/>
              <a:t>Operatorul de recombinare</a:t>
            </a:r>
            <a:r>
              <a:rPr lang="ro-RO" altLang="en-US" sz="1800" dirty="0"/>
              <a:t>: operator binar ce produce unul sau două genotipuri copil prin combinarea informaţiei din două genotipuri părinte. </a:t>
            </a:r>
          </a:p>
          <a:p>
            <a:pPr algn="just">
              <a:buFont typeface="Wingdings" pitchFamily="2" charset="2"/>
              <a:buChar char="q"/>
            </a:pPr>
            <a:endParaRPr lang="ro-RO" altLang="en-US" sz="1800" dirty="0"/>
          </a:p>
          <a:p>
            <a:pPr algn="just">
              <a:buFont typeface="Wingdings" pitchFamily="2" charset="2"/>
              <a:buChar char="q"/>
            </a:pPr>
            <a:r>
              <a:rPr lang="ro-RO" altLang="en-US" sz="1800" dirty="0"/>
              <a:t>Recombinarea este stochastică: alegerea acelor părţi ale părinţilor care vor fi combinate şi tipul de recombinare sunt bazate pe extrageri aleatoare. </a:t>
            </a:r>
          </a:p>
          <a:p>
            <a:pPr algn="just">
              <a:buFont typeface="Wingdings" pitchFamily="2" charset="2"/>
              <a:buChar char="q"/>
            </a:pPr>
            <a:endParaRPr lang="ro-RO" altLang="en-US" sz="1800" dirty="0"/>
          </a:p>
          <a:p>
            <a:pPr algn="just">
              <a:buFont typeface="Wingdings" pitchFamily="2" charset="2"/>
              <a:buChar char="q"/>
            </a:pPr>
            <a:r>
              <a:rPr lang="ro-RO" altLang="en-US" sz="1800" dirty="0"/>
              <a:t>În cadrul GA este cel mai utilizat operator de variaţie</a:t>
            </a:r>
          </a:p>
          <a:p>
            <a:pPr algn="just">
              <a:buFont typeface="Wingdings" pitchFamily="2" charset="2"/>
              <a:buChar char="q"/>
            </a:pPr>
            <a:endParaRPr lang="en-US" altLang="en-US" sz="1800" dirty="0"/>
          </a:p>
          <a:p>
            <a:pPr>
              <a:buFont typeface="Wingdings" pitchFamily="2" charset="2"/>
              <a:buChar char="q"/>
            </a:pPr>
            <a:r>
              <a:rPr lang="ro-RO" altLang="en-US" sz="1800" dirty="0"/>
              <a:t>În dezvoltări de tip EA pot fi folosiţi şi operatori de recombinare de aritate mai mare decât 2</a:t>
            </a:r>
          </a:p>
          <a:p>
            <a:pPr>
              <a:buFont typeface="Wingdings" pitchFamily="2" charset="2"/>
              <a:buChar char="q"/>
            </a:pPr>
            <a:endParaRPr lang="en-US" altLang="en-US" sz="1800" dirty="0"/>
          </a:p>
          <a:p>
            <a:pPr algn="just">
              <a:buFont typeface="Wingdings" pitchFamily="2" charset="2"/>
              <a:buChar char="q"/>
            </a:pPr>
            <a:r>
              <a:rPr lang="ro-RO" altLang="en-US" sz="1800" dirty="0"/>
              <a:t>Aplicarea EA determină crearea de urmaşi direcţi prin încrucişări aleatoare. Progeniturile pot avea însuşiri nedorite, pot fi calitativ similari sau chiar inferiori părinţilor şi doar o mică parte dintre ei au în general caracteristici superioare celor ale părinţilor.       </a:t>
            </a:r>
            <a:endParaRPr lang="en-US" altLang="en-US" sz="1800" dirty="0"/>
          </a:p>
        </p:txBody>
      </p:sp>
      <p:sp>
        <p:nvSpPr>
          <p:cNvPr id="1434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41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4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43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44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45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46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4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48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49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50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51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52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53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54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55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56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57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4358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altLang="en-US" sz="2600" b="1">
                <a:solidFill>
                  <a:schemeClr val="bg2"/>
                </a:solidFill>
              </a:rPr>
              <a:t>V</a:t>
            </a:r>
            <a:r>
              <a:rPr lang="en-US" altLang="en-US" sz="2600" b="1">
                <a:solidFill>
                  <a:schemeClr val="bg2"/>
                </a:solidFill>
              </a:rPr>
              <a:t>I</a:t>
            </a:r>
            <a:r>
              <a:rPr lang="ro-RO" altLang="en-US" sz="2600" b="1">
                <a:solidFill>
                  <a:schemeClr val="bg2"/>
                </a:solidFill>
              </a:rPr>
              <a:t>I.</a:t>
            </a:r>
            <a:r>
              <a:rPr lang="en-US" altLang="en-US" sz="2600" b="1">
                <a:solidFill>
                  <a:schemeClr val="bg2"/>
                </a:solidFill>
              </a:rPr>
              <a:t> Componentele EA</a:t>
            </a:r>
            <a:r>
              <a:rPr lang="ro-RO" altLang="en-US" sz="2600" b="1">
                <a:solidFill>
                  <a:schemeClr val="bg2"/>
                </a:solidFill>
              </a:rPr>
              <a:t>. Trecerea la o nouă generaţie</a:t>
            </a:r>
            <a:endParaRPr lang="en-US" altLang="en-US" sz="2600" b="1">
              <a:solidFill>
                <a:schemeClr val="bg2"/>
              </a:solidFill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229600" cy="5211763"/>
          </a:xfrm>
        </p:spPr>
        <p:txBody>
          <a:bodyPr/>
          <a:lstStyle/>
          <a:p>
            <a:pPr algn="just">
              <a:buFont typeface="Wingdings" pitchFamily="2" charset="2"/>
              <a:buChar char="q"/>
            </a:pPr>
            <a:r>
              <a:rPr lang="ro-RO" altLang="en-US" sz="1800" dirty="0"/>
              <a:t>Rolul: diferenţiază indivizii în funcţie de calitatea lor - similar procesului de selecţie a părinţilor dar utilizat într-o etapă diferită a evoluţiei unui EA. </a:t>
            </a:r>
          </a:p>
          <a:p>
            <a:pPr>
              <a:buFont typeface="Wingdings" pitchFamily="2" charset="2"/>
              <a:buChar char="q"/>
            </a:pPr>
            <a:endParaRPr lang="ro-RO" altLang="en-US" sz="1800" dirty="0"/>
          </a:p>
          <a:p>
            <a:pPr algn="just">
              <a:buFont typeface="Wingdings" pitchFamily="2" charset="2"/>
              <a:buChar char="q"/>
            </a:pPr>
            <a:r>
              <a:rPr lang="ro-RO" altLang="en-US" sz="1800" dirty="0"/>
              <a:t>Mecanismul revine la aplicarea unei funcţii de decizie fiecărui individ aparţinând populaţiei curente sau mulţimii progeniturilor (mutate sau nu). </a:t>
            </a:r>
          </a:p>
          <a:p>
            <a:pPr algn="just">
              <a:buFont typeface="Wingdings" pitchFamily="2" charset="2"/>
              <a:buChar char="q"/>
            </a:pPr>
            <a:endParaRPr lang="ro-RO" altLang="en-US" sz="1800" dirty="0"/>
          </a:p>
          <a:p>
            <a:pPr algn="just">
              <a:buFont typeface="Wingdings" pitchFamily="2" charset="2"/>
              <a:buChar char="q"/>
            </a:pPr>
            <a:r>
              <a:rPr lang="ro-RO" altLang="en-US" sz="1800" dirty="0"/>
              <a:t>Funcţia de decizie este de obicei construită pe baza funcţiei de evaluare, luând în calcul calitatea fiecărui individ şi, în unele situaţii, factorul vârstă. </a:t>
            </a:r>
            <a:endParaRPr lang="en-US" altLang="en-US" sz="1800" dirty="0"/>
          </a:p>
          <a:p>
            <a:pPr>
              <a:buFont typeface="Wingdings" pitchFamily="2" charset="2"/>
              <a:buChar char="q"/>
            </a:pPr>
            <a:endParaRPr lang="ro-RO" altLang="en-US" sz="1800" dirty="0"/>
          </a:p>
          <a:p>
            <a:pPr>
              <a:buFont typeface="Wingdings" pitchFamily="2" charset="2"/>
              <a:buChar char="q"/>
            </a:pPr>
            <a:r>
              <a:rPr lang="ro-RO" altLang="en-US" sz="1800" b="1" dirty="0"/>
              <a:t>Exemple</a:t>
            </a:r>
            <a:r>
              <a:rPr lang="ro-RO" altLang="en-US" sz="1800" dirty="0"/>
              <a:t>: </a:t>
            </a:r>
          </a:p>
          <a:p>
            <a:pPr lvl="1" algn="just">
              <a:buFont typeface="Wingdings" pitchFamily="2" charset="2"/>
              <a:buChar char="q"/>
            </a:pPr>
            <a:r>
              <a:rPr lang="ro-RO" altLang="en-US" sz="1800" dirty="0"/>
              <a:t>Funcţie de decizie este bazată exclusiv pe funcţia de evaluare</a:t>
            </a:r>
          </a:p>
          <a:p>
            <a:pPr lvl="1" algn="just"/>
            <a:r>
              <a:rPr lang="ro-RO" altLang="en-US" sz="1800" dirty="0"/>
              <a:t>Funcţie de decizie este bazată exclusiv pe factorul vârstă</a:t>
            </a:r>
          </a:p>
          <a:p>
            <a:pPr lvl="1" algn="just"/>
            <a:r>
              <a:rPr lang="ro-RO" altLang="en-US" sz="1800" dirty="0"/>
              <a:t>Decizia este luată funcție și de vârstă și de calitate</a:t>
            </a:r>
            <a:endParaRPr lang="en-US" altLang="en-US" sz="1800" dirty="0"/>
          </a:p>
        </p:txBody>
      </p:sp>
      <p:sp>
        <p:nvSpPr>
          <p:cNvPr id="15364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65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66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67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68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69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70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71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72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73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74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75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76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77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78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79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80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81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5382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457200"/>
            <a:ext cx="8458200" cy="858838"/>
          </a:xfrm>
        </p:spPr>
        <p:txBody>
          <a:bodyPr/>
          <a:lstStyle/>
          <a:p>
            <a:pPr algn="ctr" eaLnBrk="1" hangingPunct="1"/>
            <a:r>
              <a:rPr lang="ro-RO" altLang="en-US" sz="2600" b="1" dirty="0">
                <a:solidFill>
                  <a:schemeClr val="bg2"/>
                </a:solidFill>
              </a:rPr>
              <a:t>V</a:t>
            </a:r>
            <a:r>
              <a:rPr lang="en-US" altLang="en-US" sz="2600" b="1" dirty="0">
                <a:solidFill>
                  <a:schemeClr val="bg2"/>
                </a:solidFill>
              </a:rPr>
              <a:t>I</a:t>
            </a:r>
            <a:r>
              <a:rPr lang="ro-RO" altLang="en-US" sz="2600" b="1" dirty="0">
                <a:solidFill>
                  <a:schemeClr val="bg2"/>
                </a:solidFill>
              </a:rPr>
              <a:t>II.</a:t>
            </a:r>
            <a:r>
              <a:rPr lang="en-US" altLang="en-US" sz="2600" b="1" dirty="0">
                <a:solidFill>
                  <a:schemeClr val="bg2"/>
                </a:solidFill>
              </a:rPr>
              <a:t> </a:t>
            </a:r>
            <a:r>
              <a:rPr lang="ro-RO" sz="2600" b="1" noProof="0" dirty="0">
                <a:solidFill>
                  <a:schemeClr val="bg2"/>
                </a:solidFill>
              </a:rPr>
              <a:t>Componentele</a:t>
            </a:r>
            <a:r>
              <a:rPr lang="en-US" altLang="en-US" sz="2600" b="1" dirty="0">
                <a:solidFill>
                  <a:schemeClr val="bg2"/>
                </a:solidFill>
              </a:rPr>
              <a:t> EA</a:t>
            </a:r>
            <a:r>
              <a:rPr lang="ro-RO" altLang="en-US" sz="2600" b="1" dirty="0">
                <a:solidFill>
                  <a:schemeClr val="bg2"/>
                </a:solidFill>
              </a:rPr>
              <a:t>. Iniţializarea. Condiţia de  terminare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85900"/>
            <a:ext cx="8229600" cy="5211763"/>
          </a:xfrm>
        </p:spPr>
        <p:txBody>
          <a:bodyPr/>
          <a:lstStyle/>
          <a:p>
            <a:pPr algn="just">
              <a:buFont typeface="Wingdings" pitchFamily="2" charset="2"/>
              <a:buChar char="q"/>
              <a:defRPr/>
            </a:pPr>
            <a:r>
              <a:rPr lang="ro-RO" sz="1800" b="1" dirty="0"/>
              <a:t>Iniţializarea:</a:t>
            </a:r>
            <a:r>
              <a:rPr lang="ro-RO" sz="1800" dirty="0"/>
              <a:t> crearea populaţiei iniţiale este realizată în general prin generare aleatoare de fenotipuri şi apoi obţinerea </a:t>
            </a:r>
            <a:r>
              <a:rPr lang="ro-RO" sz="1800" dirty="0" err="1"/>
              <a:t>multisetului</a:t>
            </a:r>
            <a:r>
              <a:rPr lang="ro-RO" sz="1800" dirty="0"/>
              <a:t> de genotipuri asociat. </a:t>
            </a:r>
          </a:p>
          <a:p>
            <a:pPr algn="just">
              <a:buFont typeface="Wingdings" pitchFamily="2" charset="2"/>
              <a:buChar char="q"/>
              <a:defRPr/>
            </a:pPr>
            <a:endParaRPr lang="ro-RO" sz="1800" dirty="0"/>
          </a:p>
          <a:p>
            <a:pPr marL="0" indent="0">
              <a:buFont typeface="Wingdings" pitchFamily="2" charset="2"/>
              <a:buNone/>
              <a:defRPr/>
            </a:pPr>
            <a:r>
              <a:rPr lang="ro-RO" sz="1800" b="1" dirty="0"/>
              <a:t>Condiţia de terminare</a:t>
            </a:r>
            <a:r>
              <a:rPr lang="ro-RO" sz="1800" dirty="0"/>
              <a:t>:</a:t>
            </a:r>
          </a:p>
          <a:p>
            <a:pPr marL="0" indent="0">
              <a:buFont typeface="Wingdings" pitchFamily="2" charset="2"/>
              <a:buNone/>
              <a:defRPr/>
            </a:pPr>
            <a:endParaRPr lang="en-US" sz="1800" dirty="0"/>
          </a:p>
          <a:p>
            <a:pPr>
              <a:buFont typeface="Wingdings" pitchFamily="2" charset="2"/>
              <a:buChar char="q"/>
              <a:defRPr/>
            </a:pPr>
            <a:r>
              <a:rPr lang="ro-RO" sz="1800" dirty="0"/>
              <a:t>atingerea unui număr maxim de iteraţii (generaţii);</a:t>
            </a:r>
            <a:endParaRPr lang="en-US" sz="1800" dirty="0"/>
          </a:p>
          <a:p>
            <a:pPr>
              <a:buFont typeface="Wingdings" pitchFamily="2" charset="2"/>
              <a:buChar char="q"/>
              <a:defRPr/>
            </a:pPr>
            <a:r>
              <a:rPr lang="ro-RO" sz="1800" dirty="0"/>
              <a:t>atingerea unui număr maxim de evaluări ale calităţii indivizilor;</a:t>
            </a:r>
            <a:endParaRPr lang="en-US" sz="1800" dirty="0"/>
          </a:p>
          <a:p>
            <a:pPr>
              <a:buFont typeface="Wingdings" pitchFamily="2" charset="2"/>
              <a:buChar char="q"/>
              <a:defRPr/>
            </a:pPr>
            <a:r>
              <a:rPr lang="ro-RO" sz="1800" dirty="0"/>
              <a:t>pentru o anumită perioadă de timp (un număr de iteraţii specificat sau un număr de evaluări specificat) calitatea populaţiei curente nu este semnificativ îmbunătăţită (este sub un prag dat);</a:t>
            </a:r>
            <a:endParaRPr lang="en-US" sz="1800" dirty="0"/>
          </a:p>
          <a:p>
            <a:pPr>
              <a:buFont typeface="Wingdings" pitchFamily="2" charset="2"/>
              <a:buChar char="q"/>
              <a:defRPr/>
            </a:pPr>
            <a:r>
              <a:rPr lang="ro-RO" sz="1800" dirty="0"/>
              <a:t>diversitatea populaţiei scade sub un prag dat. </a:t>
            </a:r>
            <a:endParaRPr lang="en-US" sz="1800" dirty="0"/>
          </a:p>
        </p:txBody>
      </p:sp>
      <p:sp>
        <p:nvSpPr>
          <p:cNvPr id="1638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38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39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39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39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39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39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39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39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39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39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39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40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40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40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40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40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40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640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ro-RO" altLang="en-US" sz="2800" b="1" dirty="0">
                <a:solidFill>
                  <a:schemeClr val="bg2"/>
                </a:solidFill>
              </a:rPr>
              <a:t>Exemplu – problema 0-1 a rucsacului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Fiind date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m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obiecte, fiecare având asociate o valoare și respectiv un cost de selecție, trebuie determinat un set de obiecte cu proprietatea că este de valoare maximă și costul este sub un prag dat,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Cmax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Valoarea/costul unei mulțimi de obiecte = suma valorilor/costurilor obiectelor care o compun</a:t>
                </a:r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O soluție posibilă este dată de un set de obiecte selectate astfel încât costul lui este inferior valorii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Cmax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Dacă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val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este vectorul valorilor asociate celor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m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obiecte și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cost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este vectorul costurilor, reprezentarea unui candidat la soluție (genotip) poate fi realizată printr-un vector de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m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elemente,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v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, unde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ro-RO" sz="1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ro-RO" sz="180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𝑑𝑎𝑐</m:t>
                            </m:r>
                            <m:r>
                              <a:rPr lang="ro-RO" sz="1800">
                                <a:latin typeface="Cambria Math" panose="02040503050406030204" pitchFamily="18" charset="0"/>
                              </a:rPr>
                              <m:t>ă </m:t>
                            </m:r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𝑜𝑏𝑖𝑒𝑐𝑡𝑢𝑙</m:t>
                            </m:r>
                            <m:r>
                              <a:rPr lang="ro-RO" sz="18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o-RO" sz="18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ro-RO" sz="18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𝑓𝑜𝑠𝑡</m:t>
                            </m:r>
                            <m:r>
                              <a:rPr lang="ro-RO" sz="18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𝑠𝑒𝑙𝑒𝑐𝑡𝑎𝑡</m:t>
                            </m:r>
                            <m:r>
                              <a:rPr lang="ro-RO" sz="1800">
                                <a:latin typeface="Cambria Math" panose="02040503050406030204" pitchFamily="18" charset="0"/>
                              </a:rPr>
                              <m:t> î</m:t>
                            </m:r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o-RO" sz="18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𝑚𝑢𝑙</m:t>
                            </m:r>
                            <m:r>
                              <a:rPr lang="ro-RO" sz="1800">
                                <a:latin typeface="Cambria Math" panose="02040503050406030204" pitchFamily="18" charset="0"/>
                              </a:rPr>
                              <m:t>ț</m:t>
                            </m:r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𝑖𝑚𝑒</m:t>
                            </m:r>
                          </m:e>
                          <m:e>
                            <m:r>
                              <a:rPr lang="ro-RO" sz="1800">
                                <a:latin typeface="Cambria Math" panose="02040503050406030204" pitchFamily="18" charset="0"/>
                              </a:rPr>
                              <m:t>0, î</m:t>
                            </m:r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o-RO" sz="18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𝑐𝑎𝑧</m:t>
                            </m:r>
                            <m:r>
                              <a:rPr lang="ro-RO" sz="180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𝑐𝑜𝑛𝑡𝑟𝑎𝑟</m:t>
                            </m:r>
                            <m:r>
                              <a:rPr lang="ro-RO" sz="1800">
                                <a:latin typeface="Cambria Math" panose="02040503050406030204" pitchFamily="18" charset="0"/>
                              </a:rPr>
                              <m:t>                                                       </m:t>
                            </m:r>
                          </m:e>
                        </m:eqArr>
                      </m:e>
                    </m:d>
                    <m:r>
                      <a:rPr lang="ro-RO" sz="1800">
                        <a:latin typeface="Cambria Math" panose="02040503050406030204" pitchFamily="18" charset="0"/>
                      </a:rPr>
                      <m:t>, 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sz="1800">
                        <a:latin typeface="Cambria Math" panose="02040503050406030204" pitchFamily="18" charset="0"/>
                      </a:rPr>
                      <m:t>=1,…,</m:t>
                    </m:r>
                    <m:r>
                      <m:rPr>
                        <m:sty m:val="p"/>
                      </m:rPr>
                      <a:rPr lang="ro-RO" sz="1800" b="0" i="0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180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𝑐𝑜𝑠𝑡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nary>
                    <m:r>
                      <a:rPr lang="ro-RO" sz="18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𝐶𝑚𝑎𝑥</m:t>
                    </m:r>
                  </m:oMath>
                </a14:m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Funcția de evaluare (fitness)</a:t>
                </a:r>
                <a:endParaRPr lang="ro-RO" sz="1800" i="1" dirty="0">
                  <a:latin typeface="Arial Body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18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𝑣𝑎𝑙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  <a:blipFill>
                <a:blip r:embed="rId2"/>
                <a:stretch>
                  <a:fillRect l="-74" t="-585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ro-RO" altLang="en-US" sz="2800" b="1" dirty="0">
                <a:solidFill>
                  <a:schemeClr val="bg2"/>
                </a:solidFill>
              </a:rPr>
              <a:t>Exemplu – problema 0-1 a rucsacului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La fiecare moment de timp, populația este formată din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N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indivizi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Populația inițială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: este generat aleator un vector binar de lungime egală cu numărul de obiecte și este reținut numai dacă nu este depășit pragul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Cmax - este soluție admisibilă (fezabilă)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. Procedeul se repetă până la generarea a -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N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cromozomi fezabili.</a:t>
                </a:r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Selecția părinților 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este realizată prin procedeul turneu.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Recombinarea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este realizată cu o probabilitate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pr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(0.7-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): pentru doi indivizi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𝒫</m:t>
                        </m:r>
                      </m:e>
                      <m:sub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și pentru o poziție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</a:rPr>
                      <m:t>𝑝𝑜𝑧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generată aleator sunt obținute progeniturile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o-RO" sz="1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astfel:</a:t>
                </a:r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copiază primele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poz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elemente din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, respectiv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în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, respectiv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copiază în ultimele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m-poz+1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poziții din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, respectiv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, ultimele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m-poz+1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elemente din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, respectiv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Dacă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sau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astfel obținuți nu îndeplinesc proprietatea de admisibilitate, este selectată o altă pereche de părinți și este aplicat același mecanism. 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Dacă o pereche de părinți nu este selectată pentru încrucișare sau nu a produs descendenți fezabili, aceasta este menținută în populația următoare.</a:t>
                </a:r>
                <a:endParaRPr lang="en-US" sz="1800" b="1" dirty="0">
                  <a:latin typeface="Arial Body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  <a:blipFill>
                <a:blip r:embed="rId2"/>
                <a:stretch>
                  <a:fillRect l="-74" t="-585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87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ro-RO" altLang="en-US" sz="2800" b="1" dirty="0">
                <a:solidFill>
                  <a:schemeClr val="bg2"/>
                </a:solidFill>
              </a:rPr>
              <a:t>Exemplu – problema 0-1 a rucsacului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Operatorul 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mutație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este aplicat cu o probabilitate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pm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(în general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</a:rPr>
                      <m:t>𝑝𝑚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) unui individ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v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și revine la selectarea aleatoare a unei poziției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</a:rPr>
                      <m:t>𝑝𝑜𝑧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și modificarea valorii prin efectuarea operației de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bit flip,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𝑝𝑜𝑧</m:t>
                        </m:r>
                      </m:e>
                    </m:d>
                    <m:r>
                      <a:rPr lang="ro-RO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𝑛𝑜𝑡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𝑝𝑜𝑧</m:t>
                            </m:r>
                          </m:e>
                        </m:d>
                      </m:e>
                    </m:d>
                  </m:oMath>
                </a14:m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. Dacă rezultatul nu este admisibil, este selectat un alt individ pentru mutație.</a:t>
                </a:r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Mecanismul de </a:t>
                </a: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înlocuire a populației 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revine la selectarea acelor indivizi aleși ca părinți, dar pentru care nu s-a realizat operația de încrucișare (valoarea generată aleator este inferioară valorii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pr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) și pentru progeniturile (eventual mutante) rezultate. Fiecare generație are deci dimensiunea constantă, </a:t>
                </a:r>
                <a:r>
                  <a:rPr lang="ro-RO" sz="1800" i="1" dirty="0">
                    <a:latin typeface="Arial Body"/>
                    <a:cs typeface="Times New Roman" panose="02020603050405020304" pitchFamily="18" charset="0"/>
                  </a:rPr>
                  <a:t>N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.</a:t>
                </a:r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latin typeface="Arial Body"/>
                    <a:cs typeface="Times New Roman" panose="02020603050405020304" pitchFamily="18" charset="0"/>
                  </a:rPr>
                  <a:t>Condiția de terminare </a:t>
                </a:r>
                <a:r>
                  <a:rPr lang="ro-RO" sz="1800" dirty="0">
                    <a:latin typeface="Arial Body"/>
                    <a:cs typeface="Times New Roman" panose="02020603050405020304" pitchFamily="18" charset="0"/>
                  </a:rPr>
                  <a:t>controlează numărul de iterații efectuate. </a:t>
                </a:r>
                <a:endParaRPr lang="en-US" sz="1800" dirty="0">
                  <a:latin typeface="Arial Body"/>
                  <a:cs typeface="Times New Roman" panose="02020603050405020304" pitchFamily="18" charset="0"/>
                </a:endParaRPr>
              </a:p>
              <a:p>
                <a:pPr>
                  <a:buFont typeface="Wingdings" pitchFamily="2" charset="2"/>
                  <a:buChar char="q"/>
                </a:pPr>
                <a:endParaRPr lang="en-US" altLang="en-US" sz="1800" dirty="0">
                  <a:latin typeface="Arial Body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41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219200"/>
                <a:ext cx="8229600" cy="5211763"/>
              </a:xfrm>
              <a:blipFill>
                <a:blip r:embed="rId2"/>
                <a:stretch>
                  <a:fillRect l="-74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703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ro-RO" altLang="en-US" sz="2800" b="1" dirty="0">
                <a:solidFill>
                  <a:schemeClr val="bg2"/>
                </a:solidFill>
              </a:rPr>
              <a:t>Exemplu – problema 0-1 a rucsacului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19200"/>
            <a:ext cx="8229600" cy="52117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ro-RO" sz="1800" dirty="0">
                <a:latin typeface="Arial Body"/>
              </a:rPr>
              <a:t>Date de intrare:</a:t>
            </a:r>
            <a:endParaRPr lang="en-US" sz="1800" dirty="0">
              <a:latin typeface="Arial Body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latin typeface="Arial Body"/>
              </a:rPr>
              <a:t>Valoare - 4.5 6 8 5.4 10.2 3.2 4.2 8.3 3.2 4.5 9 10.9 5 6.2 7 8.2</a:t>
            </a:r>
            <a:endParaRPr lang="en-US" sz="1800" dirty="0">
              <a:latin typeface="Arial Body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latin typeface="Arial Body"/>
              </a:rPr>
              <a:t>Cost - 3 2 2.4 6.8 5 6.2 5 4.8 5 0.2 3 4.8 7 7.1 9.7 4</a:t>
            </a:r>
            <a:endParaRPr lang="en-US" sz="1800" dirty="0">
              <a:latin typeface="Arial Body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latin typeface="Arial Body"/>
              </a:rPr>
              <a:t>Cmax= </a:t>
            </a:r>
            <a:r>
              <a:rPr lang="ro-RO" sz="1400" dirty="0">
                <a:latin typeface="Arial Body"/>
              </a:rPr>
              <a:t>26.3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o-RO" sz="1800" dirty="0">
                <a:latin typeface="Arial Body"/>
              </a:rPr>
              <a:t>Se pot obține următoarele rezultate (în acest exemplu = optim): </a:t>
            </a:r>
            <a:endParaRPr lang="en-US" sz="1800" dirty="0">
              <a:latin typeface="Arial Body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latin typeface="Arial Body"/>
              </a:rPr>
              <a:t>Cel mai mare profit calculat:  65.10000000000001</a:t>
            </a:r>
            <a:endParaRPr lang="en-US" sz="1800" dirty="0">
              <a:latin typeface="Arial Body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latin typeface="Arial Body"/>
              </a:rPr>
              <a:t>Pentru selecția obiectelor  [0 1 1 0 1 0 0 1 0 1 1 1 0 0 0 1]</a:t>
            </a:r>
            <a:endParaRPr lang="en-US" sz="1800" dirty="0">
              <a:latin typeface="Arial Body"/>
            </a:endParaRPr>
          </a:p>
          <a:p>
            <a:pPr marL="0" indent="0">
              <a:buNone/>
            </a:pPr>
            <a:r>
              <a:rPr lang="ro-RO" sz="1800" dirty="0">
                <a:latin typeface="Arial Body"/>
              </a:rPr>
              <a:t>	</a:t>
            </a:r>
            <a:endParaRPr lang="en-US" altLang="en-US" sz="1800" dirty="0">
              <a:latin typeface="Arial Body"/>
              <a:cs typeface="Times New Roman" panose="02020603050405020304" pitchFamily="18" charset="0"/>
            </a:endParaRPr>
          </a:p>
        </p:txBody>
      </p:sp>
      <p:sp>
        <p:nvSpPr>
          <p:cNvPr id="174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pic>
        <p:nvPicPr>
          <p:cNvPr id="23" name="Picture 22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6" t="11281" r="9048" b="2262"/>
          <a:stretch/>
        </p:blipFill>
        <p:spPr bwMode="auto">
          <a:xfrm>
            <a:off x="2438400" y="3672681"/>
            <a:ext cx="4343400" cy="31853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14077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algn="just" eaLnBrk="1" hangingPunct="1"/>
            <a:r>
              <a:rPr lang="ro-RO" altLang="en-US" sz="2600" b="1" dirty="0">
                <a:solidFill>
                  <a:schemeClr val="bg2"/>
                </a:solidFill>
              </a:rPr>
              <a:t>X.</a:t>
            </a:r>
            <a:r>
              <a:rPr lang="en-US" altLang="en-US" sz="2600" b="1" dirty="0">
                <a:solidFill>
                  <a:schemeClr val="bg2"/>
                </a:solidFill>
              </a:rPr>
              <a:t> </a:t>
            </a:r>
            <a:r>
              <a:rPr lang="ro-RO" altLang="en-US" sz="2800" b="1" dirty="0">
                <a:solidFill>
                  <a:schemeClr val="bg2"/>
                </a:solidFill>
              </a:rPr>
              <a:t>Evoluţia căutare directă-căutare stochastică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19200"/>
            <a:ext cx="8229600" cy="52117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ro-RO" altLang="en-US" sz="1800" dirty="0"/>
              <a:t>Evoluţia căutare directă-căutare stochastică: metodele de tip </a:t>
            </a:r>
            <a:r>
              <a:rPr lang="ro-RO" altLang="en-US" sz="1800" b="1" dirty="0"/>
              <a:t>“hill climbing” </a:t>
            </a:r>
            <a:r>
              <a:rPr lang="ro-RO" altLang="en-US" sz="1800" dirty="0"/>
              <a:t>şi “simulated annealing”. </a:t>
            </a:r>
          </a:p>
          <a:p>
            <a:pPr>
              <a:buFont typeface="Wingdings" pitchFamily="2" charset="2"/>
              <a:buChar char="q"/>
            </a:pPr>
            <a:endParaRPr lang="en-US" altLang="en-US" sz="1800" dirty="0"/>
          </a:p>
          <a:p>
            <a:pPr>
              <a:buFont typeface="Wingdings" pitchFamily="2" charset="2"/>
              <a:buChar char="q"/>
            </a:pPr>
            <a:r>
              <a:rPr lang="ro-RO" altLang="en-US" sz="1800" b="1" dirty="0"/>
              <a:t>Metodele de tip “hill climbing” </a:t>
            </a:r>
          </a:p>
          <a:p>
            <a:pPr lvl="1" algn="just">
              <a:buFont typeface="Wingdings" pitchFamily="2" charset="2"/>
              <a:buChar char="q"/>
            </a:pPr>
            <a:r>
              <a:rPr lang="ro-RO" altLang="en-US" sz="1600" dirty="0"/>
              <a:t>tehnică de iterativitate îmbunătăţită, aplicată unui singur punct din spaţiul de căutare. </a:t>
            </a:r>
          </a:p>
          <a:p>
            <a:pPr lvl="1" algn="just">
              <a:buFont typeface="Wingdings" pitchFamily="2" charset="2"/>
              <a:buChar char="q"/>
            </a:pPr>
            <a:r>
              <a:rPr lang="ro-RO" altLang="en-US" sz="1600" dirty="0"/>
              <a:t>la o iteraţie este selectat un nou punct aflat într-o vecinătate a punctului curent procesat. </a:t>
            </a:r>
          </a:p>
          <a:p>
            <a:pPr lvl="1" algn="just">
              <a:buFont typeface="Wingdings" pitchFamily="2" charset="2"/>
              <a:buChar char="q"/>
            </a:pPr>
            <a:r>
              <a:rPr lang="ro-RO" altLang="en-US" sz="1600" dirty="0"/>
              <a:t>dacă acest punct determină o valoare mai bună (din punct de vedere al criteriului de optim considerat) pentru funcţia obiectiv, el devine punct curent. </a:t>
            </a:r>
          </a:p>
          <a:p>
            <a:pPr lvl="1" algn="just">
              <a:buFont typeface="Wingdings" pitchFamily="2" charset="2"/>
              <a:buChar char="q"/>
            </a:pPr>
            <a:r>
              <a:rPr lang="ro-RO" altLang="en-US" sz="1600" dirty="0"/>
              <a:t>altfel, este selectată o altă vecinătate a punctului curent, procesul desfăşurându-se ulterior similar. </a:t>
            </a:r>
          </a:p>
          <a:p>
            <a:pPr lvl="1" algn="just">
              <a:buFont typeface="Wingdings" pitchFamily="2" charset="2"/>
              <a:buChar char="q"/>
            </a:pPr>
            <a:r>
              <a:rPr lang="ro-RO" altLang="en-US" sz="1600" dirty="0"/>
              <a:t>algoritmul se încheie când nici un punct vecin celui curent nu aduce îmbunătăţiri valorilor funcţiei obiectiv. </a:t>
            </a:r>
          </a:p>
          <a:p>
            <a:pPr lvl="1" algn="just">
              <a:buFont typeface="Wingdings" pitchFamily="2" charset="2"/>
              <a:buChar char="q"/>
            </a:pPr>
            <a:r>
              <a:rPr lang="ro-RO" altLang="en-US" sz="1600" dirty="0"/>
              <a:t>sunt obţinute de obicei la valori de optim local, depinzând de punctul de start. Pentru a creşte performanţele unor astfel de modele, acestea se utilizează pentru un număr mare de punct de start.</a:t>
            </a:r>
            <a:endParaRPr lang="en-US" altLang="en-US" sz="1600" dirty="0"/>
          </a:p>
        </p:txBody>
      </p:sp>
      <p:sp>
        <p:nvSpPr>
          <p:cNvPr id="17412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3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4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5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6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7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8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19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0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1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2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3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4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5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6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7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29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17430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ro-RO" dirty="0">
                <a:sym typeface="Wingdings" panose="05000000000000000000" pitchFamily="2" charset="2"/>
              </a:rPr>
              <a:t>Alegere vecini: depinde de reprezentare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Poate influența calitatea rezultatelor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ro-RO" sz="18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ro-RO" dirty="0">
                <a:sym typeface="Wingdings" panose="05000000000000000000" pitchFamily="2" charset="2"/>
              </a:rPr>
              <a:t>Exemple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Modificarea, pe rând, a câte unui bit din reprezentare</a:t>
            </a:r>
            <a:r>
              <a:rPr lang="en-US" sz="1800" dirty="0">
                <a:sym typeface="Wingdings" panose="05000000000000000000" pitchFamily="2" charset="2"/>
              </a:rPr>
              <a:t> (ex. </a:t>
            </a:r>
            <a:r>
              <a:rPr lang="en-US" sz="1800" dirty="0" err="1">
                <a:sym typeface="Wingdings" panose="05000000000000000000" pitchFamily="2" charset="2"/>
              </a:rPr>
              <a:t>Rucsac</a:t>
            </a:r>
            <a:r>
              <a:rPr lang="en-US" sz="1800" dirty="0">
                <a:sym typeface="Wingdings" panose="05000000000000000000" pitchFamily="2" charset="2"/>
              </a:rPr>
              <a:t> 0-1)</a:t>
            </a:r>
            <a:endParaRPr lang="ro-RO" sz="1800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Adunarea/scăderea unui „pas”</a:t>
            </a:r>
            <a:r>
              <a:rPr lang="en-US" sz="1800" dirty="0">
                <a:sym typeface="Wingdings" panose="05000000000000000000" pitchFamily="2" charset="2"/>
              </a:rPr>
              <a:t> (ex.</a:t>
            </a:r>
            <a:r>
              <a:rPr lang="ro-RO" sz="1800" dirty="0">
                <a:sym typeface="Wingdings" panose="05000000000000000000" pitchFamily="2" charset="2"/>
              </a:rPr>
              <a:t> optimizare funcție)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>
                <a:sym typeface="Wingdings" panose="05000000000000000000" pitchFamily="2" charset="2"/>
              </a:rPr>
              <a:t>Transpoziții (ex. regine)</a:t>
            </a:r>
          </a:p>
          <a:p>
            <a:pPr lvl="1"/>
            <a:endParaRPr lang="ro-RO" dirty="0">
              <a:sym typeface="Wingdings" panose="05000000000000000000" pitchFamily="2" charset="2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46A4DB-E0A6-2D10-54DD-DBE1DCF607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5499" y="88316"/>
            <a:ext cx="8055769" cy="1416050"/>
          </a:xfrm>
        </p:spPr>
        <p:txBody>
          <a:bodyPr/>
          <a:lstStyle/>
          <a:p>
            <a:r>
              <a:rPr lang="ro-RO" sz="2800" dirty="0">
                <a:solidFill>
                  <a:schemeClr val="bg2"/>
                </a:solidFill>
              </a:rPr>
              <a:t>XI. Algoritmul Hillclimbing</a:t>
            </a:r>
            <a:r>
              <a:rPr lang="en-US" sz="2800" dirty="0">
                <a:solidFill>
                  <a:schemeClr val="bg2"/>
                </a:solidFill>
              </a:rPr>
              <a:t>: </a:t>
            </a:r>
            <a:r>
              <a:rPr lang="ro-RO" sz="2800" dirty="0">
                <a:solidFill>
                  <a:schemeClr val="bg2"/>
                </a:solidFill>
              </a:rPr>
              <a:t>alegere vecini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197769" y="4011327"/>
                <a:ext cx="6858000" cy="19608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/>
                <a:r>
                  <a:rPr lang="ro-RO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Reprezentare binară: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⊂</m:t>
                    </m:r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ℝ</m:t>
                    </m:r>
                  </m:oMath>
                </a14:m>
                <a:endParaRPr lang="ro-RO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1"/>
                <a:endParaRPr lang="ro-RO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	</a:t>
                </a:r>
                <a14:m>
                  <m:oMath xmlns:m="http://schemas.openxmlformats.org/officeDocument/2006/math"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0     1     1     0     0     1     0     0     0     1</m:t>
                        </m:r>
                        <m:r>
                          <a:rPr lang="en-US" sz="1500" b="1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 </m:t>
                        </m:r>
                        <m:r>
                          <a:rPr 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  0     1     0     1</m:t>
                        </m:r>
                      </m:e>
                    </m:d>
                  </m:oMath>
                </a14:m>
                <a:endParaRPr lang="ro-RO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→</m:t>
                    </m:r>
                    <m:sSub>
                      <m:sSubPr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𝑛𝑐</m:t>
                        </m:r>
                      </m:sub>
                    </m:sSub>
                  </m:oMath>
                </a14:m>
                <a:r>
                  <a:rPr lang="ro-RO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	</a:t>
                </a:r>
                <a14:m>
                  <m:oMath xmlns:m="http://schemas.openxmlformats.org/officeDocument/2006/math">
                    <m:r>
                      <a:rPr lang="ro-RO" altLang="en-US" sz="150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50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  <m:r>
                          <a:rPr lang="en-US" sz="150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    1     1     0     0     1     0     0     0     </m:t>
                        </m:r>
                        <m:r>
                          <a:rPr lang="ro-RO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  <m:r>
                          <a:rPr lang="en-US" sz="1500" b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 </m:t>
                        </m:r>
                        <m:r>
                          <a:rPr lang="en-US" sz="150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  0     1     0     1</m:t>
                        </m:r>
                      </m:e>
                    </m:d>
                  </m:oMath>
                </a14:m>
                <a:endParaRPr lang="en-US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1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ro-RO" altLang="en-US" sz="150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50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0     </m:t>
                        </m:r>
                        <m:r>
                          <a:rPr lang="en-US" sz="150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  <m:r>
                          <a:rPr lang="en-US" sz="150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    1     0     0     1     0     0     0     </m:t>
                        </m:r>
                        <m:r>
                          <a:rPr lang="ro-RO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  <m:r>
                          <a:rPr lang="en-US" sz="1500" b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 </m:t>
                        </m:r>
                        <m:r>
                          <a:rPr lang="en-US" sz="150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  0     1     0     1</m:t>
                        </m:r>
                      </m:e>
                    </m:d>
                  </m:oMath>
                </a14:m>
                <a:endParaRPr lang="ro-RO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1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ro-RO" altLang="en-US" sz="150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50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0     1     </m:t>
                        </m:r>
                        <m:r>
                          <a:rPr lang="en-US" sz="150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  <m:r>
                          <a:rPr lang="en-US" sz="150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    0     0     1     0     0     0     </m:t>
                        </m:r>
                        <m:r>
                          <a:rPr lang="ro-RO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  <m:r>
                          <a:rPr lang="en-US" sz="1500" b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 </m:t>
                        </m:r>
                        <m:r>
                          <a:rPr lang="en-US" sz="150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  0     1     0     1</m:t>
                        </m:r>
                      </m:e>
                    </m:d>
                  </m:oMath>
                </a14:m>
                <a:endParaRPr lang="ro-RO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1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		…</a:t>
                </a:r>
              </a:p>
              <a:p>
                <a:pPr lvl="1"/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		</a:t>
                </a:r>
                <a14:m>
                  <m:oMath xmlns:m="http://schemas.openxmlformats.org/officeDocument/2006/math">
                    <m:r>
                      <a:rPr lang="ro-RO" altLang="en-US" sz="150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50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0     1     1     0     0     1     0     0     0     </m:t>
                        </m:r>
                        <m:r>
                          <a:rPr lang="ro-RO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  <m:r>
                          <a:rPr lang="en-US" sz="1500" b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 </m:t>
                        </m:r>
                        <m:r>
                          <a:rPr lang="en-US" sz="150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   0     1     0     </m:t>
                        </m:r>
                        <m:r>
                          <a:rPr lang="en-US" sz="150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e>
                    </m:d>
                  </m:oMath>
                </a14:m>
                <a:endParaRPr lang="ro-RO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769" y="4011327"/>
                <a:ext cx="6858000" cy="19608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197769" y="4024094"/>
                <a:ext cx="6858000" cy="196083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/>
                <a:r>
                  <a:rPr lang="ro-RO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Reprezentare ca numere reale: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⊂</m:t>
                    </m:r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ℝ</m:t>
                    </m:r>
                  </m:oMath>
                </a14:m>
                <a:endParaRPr lang="ro-RO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1"/>
                <a:endParaRPr lang="ro-RO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±</m:t>
                    </m:r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</a:rPr>
                      <m:t>𝑖</m:t>
                    </m:r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</a:rPr>
                      <m:t>∗</m:t>
                    </m:r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ro-RO" altLang="en-US" sz="1500" dirty="0">
                    <a:solidFill>
                      <a:schemeClr val="tx1"/>
                    </a:solidFill>
                  </a:rPr>
                  <a:t>, 	</a:t>
                </a:r>
                <a14:m>
                  <m:oMath xmlns:m="http://schemas.openxmlformats.org/officeDocument/2006/math"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𝜀</m:t>
                    </m:r>
                    <m:r>
                      <a:rPr lang="ro-RO" altLang="en-US" sz="150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𝑛𝑧</m:t>
                        </m:r>
                      </m:sup>
                    </m:sSup>
                  </m:oMath>
                </a14:m>
                <a:endParaRPr lang="ro-RO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1"/>
                <a:endParaRPr lang="ro-RO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</a:rPr>
                      <m:t>=4</m:t>
                    </m:r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1.0, 5.0</m:t>
                        </m:r>
                      </m:e>
                    </m:d>
                  </m:oMath>
                </a14:m>
                <a:r>
                  <a:rPr lang="ro-RO" altLang="en-US" sz="1500" dirty="0">
                    <a:solidFill>
                      <a:schemeClr val="tx1"/>
                    </a:solidFill>
                  </a:rPr>
                  <a:t>, 	</a:t>
                </a:r>
                <a:r>
                  <a:rPr lang="ro-RO" altLang="en-US" sz="1500" dirty="0">
                    <a:solidFill>
                      <a:schemeClr val="tx1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𝜀</m:t>
                    </m:r>
                    <m:r>
                      <a:rPr lang="ro-RO" altLang="en-US" sz="150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−1</m:t>
                        </m:r>
                      </m:sup>
                    </m:sSup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,  1≤</m:t>
                    </m:r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𝑖</m:t>
                    </m:r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≤3</m:t>
                    </m:r>
                  </m:oMath>
                </a14:m>
                <a:endParaRPr lang="ro-RO" altLang="en-US" sz="1500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ro-RO" altLang="en-US" sz="15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Vecini → 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altLang="en-US" sz="15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3.7,  3.8,  3.9,  4.1,  4.2,  4.3</m:t>
                        </m:r>
                      </m:e>
                    </m:d>
                    <m:r>
                      <a:rPr lang="ro-RO" altLang="en-US" sz="1500" i="1">
                        <a:solidFill>
                          <a:schemeClr val="tx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5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	</a:t>
                </a:r>
                <a:endParaRPr lang="ro-RO" sz="1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769" y="4024094"/>
                <a:ext cx="6858000" cy="19608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DB5A3288-5288-4036-BD05-D6E5985064C4}"/>
              </a:ext>
            </a:extLst>
          </p:cNvPr>
          <p:cNvSpPr/>
          <p:nvPr/>
        </p:nvSpPr>
        <p:spPr>
          <a:xfrm>
            <a:off x="1197769" y="4017710"/>
            <a:ext cx="6858000" cy="19608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1500" b="1" dirty="0">
                <a:solidFill>
                  <a:schemeClr val="tx1"/>
                </a:solidFill>
                <a:latin typeface="Cambria Math"/>
              </a:rPr>
              <a:t>P = (2, 7, 5, 1, 4, 6, 3) </a:t>
            </a:r>
            <a:r>
              <a:rPr lang="en-US" sz="1500" b="1" dirty="0">
                <a:solidFill>
                  <a:schemeClr val="tx1"/>
                </a:solidFill>
                <a:latin typeface="Cambria Math"/>
                <a:sym typeface="Wingdings" panose="05000000000000000000" pitchFamily="2" charset="2"/>
              </a:rPr>
              <a:t></a:t>
            </a:r>
          </a:p>
          <a:p>
            <a:pPr lvl="1"/>
            <a:endParaRPr lang="en-US" sz="1500" b="1" dirty="0">
              <a:solidFill>
                <a:schemeClr val="tx1"/>
              </a:solidFill>
              <a:latin typeface="Cambria Math"/>
            </a:endParaRPr>
          </a:p>
          <a:p>
            <a:pPr marL="676275" lvl="1"/>
            <a:r>
              <a:rPr lang="en-US" sz="1500" b="1" dirty="0">
                <a:solidFill>
                  <a:schemeClr val="tx1"/>
                </a:solidFill>
                <a:latin typeface="Cambria Math"/>
              </a:rPr>
              <a:t>(7, 2, 5, 1, 4, 6, 3)</a:t>
            </a:r>
          </a:p>
          <a:p>
            <a:pPr marL="676275" lvl="1"/>
            <a:r>
              <a:rPr lang="en-US" sz="1500" b="1" dirty="0">
                <a:solidFill>
                  <a:schemeClr val="tx1"/>
                </a:solidFill>
                <a:latin typeface="Cambria Math"/>
              </a:rPr>
              <a:t>(5, 7, 2, 1, 4, 6, 3)</a:t>
            </a:r>
          </a:p>
          <a:p>
            <a:pPr marL="676275" lvl="1"/>
            <a:r>
              <a:rPr lang="en-US" sz="1500" b="1" dirty="0">
                <a:solidFill>
                  <a:schemeClr val="tx1"/>
                </a:solidFill>
                <a:latin typeface="Cambria Math"/>
              </a:rPr>
              <a:t>(1, 7, 5, 2, 4, 6, 3)</a:t>
            </a:r>
          </a:p>
          <a:p>
            <a:pPr marL="676275" lvl="1"/>
            <a:r>
              <a:rPr lang="en-US" sz="1500" b="1" dirty="0">
                <a:solidFill>
                  <a:schemeClr val="tx1"/>
                </a:solidFill>
                <a:latin typeface="Cambria Math"/>
              </a:rPr>
              <a:t>…</a:t>
            </a:r>
          </a:p>
          <a:p>
            <a:pPr marL="676275" lvl="1"/>
            <a:r>
              <a:rPr lang="en-US" sz="1500" b="1" dirty="0">
                <a:solidFill>
                  <a:schemeClr val="tx1"/>
                </a:solidFill>
                <a:latin typeface="Cambria Math"/>
              </a:rPr>
              <a:t>(2, 7, 5, 1, 4, 3, 6)</a:t>
            </a:r>
          </a:p>
        </p:txBody>
      </p:sp>
    </p:spTree>
    <p:extLst>
      <p:ext uri="{BB962C8B-B14F-4D97-AF65-F5344CB8AC3E}">
        <p14:creationId xmlns:p14="http://schemas.microsoft.com/office/powerpoint/2010/main" val="365210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  <p:bldP spid="7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Content Placeholder 6"/>
              <p:cNvSpPr>
                <a:spLocks noGrp="1"/>
              </p:cNvSpPr>
              <p:nvPr>
                <p:ph idx="1"/>
              </p:nvPr>
            </p:nvSpPr>
            <p:spPr>
              <a:xfrm>
                <a:off x="990600" y="990600"/>
                <a:ext cx="6572250" cy="4018359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Funcții de mai multe variabile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Reprezentare binară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8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ro-RO" altLang="en-US" sz="1800" i="1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o-RO" alt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alt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o-RO" alt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o-RO" altLang="en-US" sz="1800" i="1">
                        <a:latin typeface="Cambria Math"/>
                        <a:ea typeface="Cambria Math"/>
                      </a:rPr>
                      <m:t>×…×</m:t>
                    </m:r>
                    <m:d>
                      <m:dPr>
                        <m:begChr m:val="["/>
                        <m:endChr m:val="]"/>
                        <m:ctrlPr>
                          <a:rPr lang="ro-RO" alt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alt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o-RO" alt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o-RO" altLang="en-US" sz="1800" i="1">
                        <a:latin typeface="Cambria Math"/>
                        <a:ea typeface="Cambria Math"/>
                      </a:rPr>
                      <m:t>⊂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ℝ</m:t>
                    </m:r>
                    <m:r>
                      <a:rPr lang="en-US" altLang="en-US" sz="1800" i="1" baseline="30000">
                        <a:latin typeface="Cambria Math" panose="02040503050406030204" pitchFamily="18" charset="0"/>
                        <a:ea typeface="Cambria Math"/>
                      </a:rPr>
                      <m:t>𝑛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ro-RO" alt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este reprezentat pe biți, prin concatenarea reprezentărilor pe biți pentru</a:t>
                </a:r>
                <a:r>
                  <a:rPr lang="ro-RO" alt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800" i="1">
                            <a:latin typeface="Cambria Math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altLang="en-US" sz="1800" i="1"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ro-RO" altLang="en-US" sz="1800" i="1">
                        <a:latin typeface="Cambria Math"/>
                      </a:rPr>
                      <m:t>…</m:t>
                    </m:r>
                    <m:sSub>
                      <m:sSub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800" i="1">
                            <a:latin typeface="Cambria Math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altLang="en-US" sz="1800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Modifică un bit</a:t>
                </a: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Modifică un bit din reprezentarea fiecărei componente (toate combinațiile)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Reprezentare cu numere reale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8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ro-RO" altLang="en-US" sz="1800" i="1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o-RO" alt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alt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o-RO" alt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ro-RO" altLang="en-US" sz="1800" i="1">
                        <a:latin typeface="Cambria Math"/>
                        <a:ea typeface="Cambria Math"/>
                      </a:rPr>
                      <m:t>×…×</m:t>
                    </m:r>
                    <m:d>
                      <m:dPr>
                        <m:begChr m:val="["/>
                        <m:endChr m:val="]"/>
                        <m:ctrlPr>
                          <a:rPr lang="ro-RO" alt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alt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ro-RO" alt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</m:e>
                          <m:sub>
                            <m:r>
                              <a:rPr lang="ro-RO" altLang="en-US" sz="1800" i="1">
                                <a:latin typeface="Cambria Math"/>
                                <a:ea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ro-RO" altLang="en-US" sz="1800" i="1">
                        <a:latin typeface="Cambria Math"/>
                        <a:ea typeface="Cambria Math"/>
                      </a:rPr>
                      <m:t>⊂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ℝ</m:t>
                    </m:r>
                    <m:r>
                      <a:rPr lang="en-US" altLang="en-US" sz="1800" i="1" baseline="30000">
                        <a:latin typeface="Cambria Math" panose="02040503050406030204" pitchFamily="18" charset="0"/>
                        <a:ea typeface="Cambria Math"/>
                      </a:rPr>
                      <m:t>𝑛</m:t>
                    </m:r>
                  </m:oMath>
                </a14:m>
                <a:r>
                  <a:rPr lang="en-US" alt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ro-RO" alt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este reprezentat prin secvența de numere reale</a:t>
                </a:r>
                <a:r>
                  <a:rPr lang="ro-RO" altLang="en-US" sz="18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altLang="en-US" sz="1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altLang="en-US" sz="18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ro-RO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altLang="en-US" sz="1800" i="1">
                                <a:latin typeface="Cambria Math"/>
                              </a:rPr>
                              <m:t>1</m:t>
                            </m:r>
                          </m:e>
                        </m:d>
                        <m:r>
                          <a:rPr lang="ro-RO" altLang="en-US" sz="1800" i="1">
                            <a:latin typeface="Cambria Math"/>
                          </a:rPr>
                          <m:t>…</m:t>
                        </m:r>
                        <m:sSub>
                          <m:sSubPr>
                            <m:ctrlPr>
                              <a:rPr lang="ro-RO" alt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altLang="en-US" sz="1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ro-RO" altLang="en-US" sz="1800" i="1">
                                <a:latin typeface="Cambria Math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lang="ro-RO" alt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altLang="en-US" sz="1800" i="1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Modifică o singură componentă </a:t>
                </a:r>
                <a:r>
                  <a:rPr lang="ro-RO" sz="1800" i="1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k</a:t>
                </a: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800" i="1">
                            <a:latin typeface="Cambria Math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altLang="en-US" sz="1800" i="1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ro-RO" altLang="en-US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800" i="1">
                            <a:latin typeface="Cambria Math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altLang="en-US" sz="1800" i="1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ro-RO" altLang="en-US" sz="1800" i="1">
                        <a:latin typeface="Cambria Math"/>
                        <a:ea typeface="Cambria Math"/>
                      </a:rPr>
                      <m:t>±</m:t>
                    </m:r>
                    <m:r>
                      <a:rPr lang="ro-RO" altLang="en-US" sz="1800" i="1">
                        <a:latin typeface="Cambria Math"/>
                      </a:rPr>
                      <m:t>𝑖</m:t>
                    </m:r>
                    <m:r>
                      <a:rPr lang="ro-RO" altLang="en-US" sz="1800" i="1">
                        <a:latin typeface="Cambria Math"/>
                      </a:rPr>
                      <m:t>∗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ro-RO" altLang="en-US" sz="1800" dirty="0"/>
                  <a:t>, </a:t>
                </a:r>
                <a14:m>
                  <m:oMath xmlns:m="http://schemas.openxmlformats.org/officeDocument/2006/math">
                    <m:r>
                      <a:rPr lang="ro-RO" altLang="en-US" sz="1800" i="1">
                        <a:latin typeface="Cambria Math"/>
                        <a:ea typeface="Cambria Math"/>
                      </a:rPr>
                      <m:t>𝜀</m:t>
                    </m:r>
                    <m:r>
                      <a:rPr lang="ro-RO" altLang="en-US" sz="180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ro-RO" alt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𝑛𝑧</m:t>
                        </m:r>
                      </m:sup>
                    </m:sSup>
                  </m:oMath>
                </a14:m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2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Modifică toate componentele </a:t>
                </a:r>
                <a:r>
                  <a:rPr lang="ro-RO" sz="1800" i="1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k</a:t>
                </a:r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(toate combinațiile):</a:t>
                </a:r>
              </a:p>
              <a:p>
                <a:pPr lvl="2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altLang="en-US" sz="1800" i="1">
                        <a:latin typeface="Cambria Math"/>
                      </a:rPr>
                      <m:t>1≤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𝑘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ro-RO" altLang="en-US" sz="18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800" i="1">
                            <a:latin typeface="Cambria Math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altLang="en-US" sz="1800" i="1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ro-RO" altLang="en-US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800" i="1">
                            <a:latin typeface="Cambria Math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altLang="en-US" sz="1800" i="1">
                            <a:latin typeface="Cambria Math"/>
                          </a:rPr>
                          <m:t>𝑘</m:t>
                        </m:r>
                      </m:e>
                    </m:d>
                    <m:r>
                      <a:rPr lang="ro-RO" altLang="en-US" sz="1800" i="1">
                        <a:latin typeface="Cambria Math"/>
                        <a:ea typeface="Cambria Math"/>
                      </a:rPr>
                      <m:t>±</m:t>
                    </m:r>
                    <m:sSub>
                      <m:sSubPr>
                        <m:ctrlPr>
                          <a:rPr lang="ro-RO" alt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𝑖</m:t>
                        </m:r>
                      </m:e>
                      <m:sub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𝑡</m:t>
                        </m:r>
                      </m:sub>
                    </m:sSub>
                    <m:r>
                      <a:rPr lang="ro-RO" altLang="en-US" sz="1800" i="1">
                        <a:latin typeface="Cambria Math"/>
                      </a:rPr>
                      <m:t>∗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𝜀</m:t>
                    </m:r>
                  </m:oMath>
                </a14:m>
                <a:r>
                  <a:rPr lang="ro-RO" altLang="en-US" sz="1800" dirty="0"/>
                  <a:t>, </a:t>
                </a:r>
                <a14:m>
                  <m:oMath xmlns:m="http://schemas.openxmlformats.org/officeDocument/2006/math">
                    <m:r>
                      <a:rPr lang="ro-RO" altLang="en-US" sz="1800" i="1">
                        <a:latin typeface="Cambria Math"/>
                        <a:ea typeface="Cambria Math"/>
                      </a:rPr>
                      <m:t>𝜀</m:t>
                    </m:r>
                    <m:r>
                      <a:rPr lang="ro-RO" altLang="en-US" sz="180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ro-RO" alt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𝑛𝑧</m:t>
                        </m:r>
                      </m:sup>
                    </m:sSup>
                  </m:oMath>
                </a14:m>
                <a:r>
                  <a:rPr lang="ro-RO" sz="18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ro-RO" altLang="en-US" sz="1800" i="1">
                        <a:latin typeface="Cambria Math"/>
                      </a:rPr>
                      <m:t>1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𝑡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𝑛𝑟𝑣</m:t>
                    </m:r>
                  </m:oMath>
                </a14:m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lvl="3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altLang="en-US" sz="1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ro-RO" altLang="en-US" sz="1800" i="1"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ro-RO" altLang="en-US" sz="1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ro-RO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altLang="en-US" sz="1800" i="1">
                            <a:latin typeface="Cambria Math"/>
                          </a:rPr>
                          <m:t>1,1</m:t>
                        </m:r>
                      </m:e>
                    </m:d>
                    <m:r>
                      <a:rPr lang="ro-RO" altLang="en-US" sz="1800" i="1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o-RO" alt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−2,</m:t>
                        </m:r>
                        <m:r>
                          <a:rPr lang="ro-RO" altLang="en-US" sz="1800" i="1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4</m:t>
                        </m:r>
                      </m:e>
                    </m:d>
                    <m:r>
                      <a:rPr lang="ro-RO" altLang="en-US" sz="1800" i="1">
                        <a:latin typeface="Cambria Math"/>
                        <a:ea typeface="Cambria Math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ro-RO" alt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−1,</m:t>
                        </m:r>
                        <m:r>
                          <a:rPr lang="ro-RO" altLang="en-US" sz="1800" i="1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</m:d>
                    <m:r>
                      <a:rPr lang="ro-RO" altLang="en-US" sz="1800" i="1">
                        <a:latin typeface="Cambria Math"/>
                        <a:ea typeface="Cambria Math"/>
                      </a:rPr>
                      <m:t>, 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𝜀</m:t>
                    </m:r>
                    <m:r>
                      <a:rPr lang="ro-RO" altLang="en-US" sz="1800">
                        <a:latin typeface="Cambria Math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ro-RO" alt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ro-RO" altLang="en-US" sz="1800" i="1">
                            <a:latin typeface="Cambria Math"/>
                            <a:ea typeface="Cambria Math"/>
                          </a:rPr>
                          <m:t>−1</m:t>
                        </m:r>
                      </m:sup>
                    </m:sSup>
                    <m:r>
                      <a:rPr lang="ro-RO" altLang="en-US" sz="1800" i="1">
                        <a:latin typeface="Cambria Math"/>
                        <a:ea typeface="Cambria Math"/>
                      </a:rPr>
                      <m:t>,  1≤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𝑖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,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𝑗</m:t>
                    </m:r>
                    <m:r>
                      <a:rPr lang="ro-RO" altLang="en-US" sz="1800" i="1">
                        <a:latin typeface="Cambria Math"/>
                        <a:ea typeface="Cambria Math"/>
                      </a:rPr>
                      <m:t>≤2</m:t>
                    </m:r>
                  </m:oMath>
                </a14:m>
                <a:endParaRPr lang="ro-RO" sz="1800" dirty="0">
                  <a:latin typeface="Arial" panose="020B0604020202020204" pitchFamily="34" charset="0"/>
                  <a:cs typeface="Arial" panose="020B0604020202020204" pitchFamily="34" charset="0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4339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990600"/>
                <a:ext cx="6572250" cy="4018359"/>
              </a:xfrm>
              <a:blipFill>
                <a:blip r:embed="rId2"/>
                <a:stretch>
                  <a:fillRect l="-93" t="-910" r="-1206" b="-48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886450" y="1982392"/>
            <a:ext cx="2057400" cy="39703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5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0.8000    0.8000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0.8000    0.9000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0.8000    1.0000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0.8000    1.1000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0.8000    1.2000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0.9000    0.8000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0.9000    0.9000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0.9000    1.0000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0.9000    1.1000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0.9000    1.2000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1.0000    0.8000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1.0000    0.9000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1.0000    1.1000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1.0000    1.2000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1.1000    0.8000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1.1000    0.9000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1.1000    1.0000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1.1000    1.1000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1.1000    1.2000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1.2000    0.8000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1.2000    0.9000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1.2000    1.0000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1.2000    1.1000</a:t>
            </a:r>
          </a:p>
          <a:p>
            <a:r>
              <a:rPr lang="en-US" sz="1050" b="1" dirty="0">
                <a:latin typeface="Consolas" panose="020B0609020204030204" pitchFamily="49" charset="0"/>
                <a:cs typeface="Consolas" panose="020B0609020204030204" pitchFamily="49" charset="0"/>
              </a:rPr>
              <a:t>    1.2000    1.2000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140611" y="2212096"/>
          <a:ext cx="3486150" cy="3487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302645" imgH="3302811" progId="Visio.Drawing.11">
                  <p:embed/>
                </p:oleObj>
              </mc:Choice>
              <mc:Fallback>
                <p:oleObj name="Visio" r:id="rId3" imgW="3302645" imgH="3302811" progId="Visio.Drawing.11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611" y="2212096"/>
                        <a:ext cx="3486150" cy="3487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31E7B5-BF18-3DAC-95F4-A17F3C9724F1}"/>
              </a:ext>
            </a:extLst>
          </p:cNvPr>
          <p:cNvSpPr txBox="1">
            <a:spLocks/>
          </p:cNvSpPr>
          <p:nvPr/>
        </p:nvSpPr>
        <p:spPr>
          <a:xfrm>
            <a:off x="381000" y="450053"/>
            <a:ext cx="8055769" cy="14160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ro-RO" sz="2800" b="1" kern="0" dirty="0">
                <a:solidFill>
                  <a:schemeClr val="bg2"/>
                </a:solidFill>
                <a:latin typeface="+mj-lt"/>
              </a:rPr>
              <a:t>XI. Algoritmul Hillclimbing</a:t>
            </a:r>
            <a:r>
              <a:rPr lang="en-US" sz="2800" b="1" kern="0" dirty="0">
                <a:solidFill>
                  <a:schemeClr val="bg2"/>
                </a:solidFill>
                <a:latin typeface="+mj-lt"/>
              </a:rPr>
              <a:t>: </a:t>
            </a:r>
            <a:r>
              <a:rPr lang="ro-RO" sz="2800" b="1" kern="0" dirty="0">
                <a:solidFill>
                  <a:schemeClr val="bg2"/>
                </a:solidFill>
                <a:latin typeface="+mj-lt"/>
              </a:rPr>
              <a:t>alegere vecini</a:t>
            </a:r>
          </a:p>
        </p:txBody>
      </p:sp>
    </p:spTree>
    <p:extLst>
      <p:ext uri="{BB962C8B-B14F-4D97-AF65-F5344CB8AC3E}">
        <p14:creationId xmlns:p14="http://schemas.microsoft.com/office/powerpoint/2010/main" val="4111840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ro-RO" sz="1500" i="1">
                        <a:latin typeface="Cambria Math"/>
                        <a:sym typeface="Wingdings" panose="05000000000000000000" pitchFamily="2" charset="2"/>
                      </a:rPr>
                      <m:t>𝑓</m:t>
                    </m:r>
                  </m:oMath>
                </a14:m>
                <a:r>
                  <a:rPr lang="ro-RO" sz="1500" dirty="0">
                    <a:sym typeface="Wingdings" panose="05000000000000000000" pitchFamily="2" charset="2"/>
                  </a:rPr>
                  <a:t> – funcția de maximizat</a:t>
                </a:r>
              </a:p>
              <a:p>
                <a:endParaRPr lang="ro-RO" sz="1500" dirty="0">
                  <a:sym typeface="Wingdings" panose="05000000000000000000" pitchFamily="2" charset="2"/>
                </a:endParaRPr>
              </a:p>
              <a:p>
                <a:r>
                  <a:rPr lang="ro-RO" sz="1500" dirty="0">
                    <a:sym typeface="Wingdings" panose="05000000000000000000" pitchFamily="2" charset="2"/>
                  </a:rPr>
                  <a:t>MAX – nr. puncte de start</a:t>
                </a:r>
              </a:p>
              <a:p>
                <a:endParaRPr lang="ro-RO" sz="1500" dirty="0">
                  <a:sym typeface="Wingdings" panose="05000000000000000000" pitchFamily="2" charset="2"/>
                </a:endParaRPr>
              </a:p>
              <a:p>
                <a:r>
                  <a:rPr lang="ro-RO" sz="1500" dirty="0">
                    <a:sym typeface="Wingdings" panose="05000000000000000000" pitchFamily="2" charset="2"/>
                  </a:rPr>
                  <a:t>local – bloca</a:t>
                </a:r>
                <a:r>
                  <a:rPr lang="en-US" sz="1500" dirty="0">
                    <a:sym typeface="Wingdings" panose="05000000000000000000" pitchFamily="2" charset="2"/>
                  </a:rPr>
                  <a:t>t</a:t>
                </a:r>
                <a:r>
                  <a:rPr lang="ro-RO" sz="1500" dirty="0">
                    <a:sym typeface="Wingdings" panose="05000000000000000000" pitchFamily="2" charset="2"/>
                  </a:rPr>
                  <a:t> în maxim local? (adevărat / fals)</a:t>
                </a:r>
              </a:p>
              <a:p>
                <a:endParaRPr lang="ro-RO" sz="1500" dirty="0">
                  <a:sym typeface="Wingdings" panose="05000000000000000000" pitchFamily="2" charset="2"/>
                </a:endParaRPr>
              </a:p>
              <a:p>
                <a:r>
                  <a:rPr lang="ro-RO" sz="1500" dirty="0">
                    <a:sym typeface="Wingdings" panose="05000000000000000000" pitchFamily="2" charset="2"/>
                  </a:rPr>
                  <a:t>V – vector cu puncte finale</a:t>
                </a:r>
              </a:p>
              <a:p>
                <a:endParaRPr lang="ro-RO" sz="1500" dirty="0">
                  <a:sym typeface="Wingdings" panose="05000000000000000000" pitchFamily="2" charset="2"/>
                </a:endParaRPr>
              </a:p>
              <a:p>
                <a:r>
                  <a:rPr lang="ro-RO" sz="1500" dirty="0">
                    <a:sym typeface="Wingdings" panose="05000000000000000000" pitchFamily="2" charset="2"/>
                  </a:rPr>
                  <a:t>v – cel mai bun punct obținut</a:t>
                </a:r>
              </a:p>
              <a:p>
                <a:endParaRPr lang="ro-RO" sz="1500" dirty="0">
                  <a:sym typeface="Wingdings" panose="05000000000000000000" pitchFamily="2" charset="2"/>
                </a:endParaRPr>
              </a:p>
              <a:p>
                <a:r>
                  <a:rPr lang="ro-RO" sz="1500" dirty="0">
                    <a:sym typeface="Wingdings" panose="05000000000000000000" pitchFamily="2" charset="2"/>
                  </a:rPr>
                  <a:t>t – contor puncte</a:t>
                </a:r>
              </a:p>
            </p:txBody>
          </p:sp>
        </mc:Choice>
        <mc:Fallback xmlns="">
          <p:sp>
            <p:nvSpPr>
              <p:cNvPr id="14339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1143000" y="1963162"/>
            <a:ext cx="6858000" cy="40152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ro-RO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t=0</a:t>
            </a:r>
          </a:p>
          <a:p>
            <a:pPr>
              <a:buNone/>
            </a:pPr>
            <a:r>
              <a:rPr lang="ro-RO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repetă</a:t>
            </a:r>
          </a:p>
          <a:p>
            <a:pPr>
              <a:buNone/>
            </a:pPr>
            <a:r>
              <a:rPr lang="ro-RO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</a:t>
            </a:r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local=fals</a:t>
            </a:r>
          </a:p>
          <a:p>
            <a:pPr>
              <a:buNone/>
            </a:pPr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alege aleator un punct curent </a:t>
            </a:r>
            <a:r>
              <a:rPr lang="ro-RO" sz="15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v</a:t>
            </a:r>
            <a:r>
              <a:rPr lang="ro-RO" sz="1500" b="1" baseline="-25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</a:t>
            </a:r>
            <a:endParaRPr lang="ro-RO" sz="1500" b="1" baseline="-250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>
              <a:buNone/>
            </a:pPr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evaluează </a:t>
            </a:r>
            <a:r>
              <a:rPr lang="ro-RO" sz="15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v</a:t>
            </a:r>
            <a:r>
              <a:rPr lang="ro-RO" sz="1500" b="1" baseline="-25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</a:t>
            </a:r>
            <a:endParaRPr lang="ro-RO" sz="15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0" lvl="1"/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repetă</a:t>
            </a:r>
          </a:p>
          <a:p>
            <a:pPr marL="0" lvl="1"/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 consideră punctele din vecinătatea lui </a:t>
            </a:r>
            <a:r>
              <a:rPr lang="ro-RO" sz="15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v</a:t>
            </a:r>
            <a:r>
              <a:rPr lang="ro-RO" sz="1500" b="1" baseline="-25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</a:t>
            </a:r>
            <a:endParaRPr lang="ro-RO" sz="15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0" lvl="1"/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 alege punctul </a:t>
            </a:r>
            <a:r>
              <a:rPr lang="ro-RO" sz="15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v</a:t>
            </a:r>
            <a:r>
              <a:rPr lang="ro-RO" sz="1500" b="1" baseline="-25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</a:t>
            </a:r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cu cea mai mare valoare a funcției</a:t>
            </a:r>
          </a:p>
          <a:p>
            <a:pPr marL="0" lvl="1"/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 dacă f(</a:t>
            </a:r>
            <a:r>
              <a:rPr lang="ro-RO" sz="15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v</a:t>
            </a:r>
            <a:r>
              <a:rPr lang="ro-RO" sz="1500" b="1" baseline="-25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</a:t>
            </a:r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)&lt;f(</a:t>
            </a:r>
            <a:r>
              <a:rPr lang="ro-RO" sz="15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v</a:t>
            </a:r>
            <a:r>
              <a:rPr lang="ro-RO" sz="1500" b="1" baseline="-25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</a:t>
            </a:r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) </a:t>
            </a:r>
          </a:p>
          <a:p>
            <a:pPr marL="0" lvl="1"/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	atunci </a:t>
            </a:r>
            <a:r>
              <a:rPr lang="ro-RO" sz="15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v</a:t>
            </a:r>
            <a:r>
              <a:rPr lang="ro-RO" sz="1500" b="1" baseline="-25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</a:t>
            </a:r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</a:t>
            </a:r>
            <a:r>
              <a:rPr lang="ro-RO" sz="15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v</a:t>
            </a:r>
            <a:r>
              <a:rPr lang="ro-RO" sz="1500" b="1" baseline="-25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n</a:t>
            </a:r>
            <a:endParaRPr lang="ro-RO" sz="1500" b="1" baseline="-250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0" lvl="1"/>
            <a:r>
              <a:rPr lang="ro-RO" sz="1500" b="1" baseline="-250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		</a:t>
            </a:r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altfel local=adevărat</a:t>
            </a:r>
          </a:p>
          <a:p>
            <a:pPr marL="0" lvl="1"/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până când local == adevărat</a:t>
            </a:r>
          </a:p>
          <a:p>
            <a:pPr marL="0" lvl="1"/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t=t+1</a:t>
            </a:r>
          </a:p>
          <a:p>
            <a:pPr marL="0" lvl="1"/>
            <a:r>
              <a:rPr lang="ro-RO" sz="15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V(t)=</a:t>
            </a:r>
            <a:r>
              <a:rPr lang="ro-RO" sz="15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v</a:t>
            </a:r>
            <a:r>
              <a:rPr lang="ro-RO" sz="1500" b="1" baseline="-250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</a:t>
            </a:r>
            <a:endParaRPr lang="ro-RO" sz="15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0" lvl="1"/>
            <a:r>
              <a:rPr lang="ro-RO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până când t == MAX</a:t>
            </a:r>
          </a:p>
          <a:p>
            <a:pPr marL="0" lvl="1"/>
            <a:endParaRPr lang="ro-RO" sz="15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0" lvl="1"/>
            <a:r>
              <a:rPr lang="ro-RO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alege v din V </a:t>
            </a:r>
            <a:r>
              <a:rPr lang="ro-RO" sz="15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a.î</a:t>
            </a:r>
            <a:r>
              <a:rPr lang="ro-RO" sz="15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. f(v)&gt;=f(V(i)) pentru orice i=1..MAX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D785B26-66F7-71C1-D8DB-50A0BEA14D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5499" y="88316"/>
            <a:ext cx="8055769" cy="1416050"/>
          </a:xfrm>
        </p:spPr>
        <p:txBody>
          <a:bodyPr/>
          <a:lstStyle/>
          <a:p>
            <a:r>
              <a:rPr lang="ro-RO" sz="2800" dirty="0">
                <a:solidFill>
                  <a:schemeClr val="bg2"/>
                </a:solidFill>
              </a:rPr>
              <a:t>XI. Algoritmul Hillclimbing. Schema generală</a:t>
            </a:r>
          </a:p>
        </p:txBody>
      </p:sp>
    </p:spTree>
    <p:extLst>
      <p:ext uri="{BB962C8B-B14F-4D97-AF65-F5344CB8AC3E}">
        <p14:creationId xmlns:p14="http://schemas.microsoft.com/office/powerpoint/2010/main" val="455834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FC08CB-A00E-87FC-3B7C-0704630918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2" t="10233" r="6102" b="4726"/>
          <a:stretch/>
        </p:blipFill>
        <p:spPr>
          <a:xfrm>
            <a:off x="315499" y="2731340"/>
            <a:ext cx="4455354" cy="32078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8B2147-F7EC-BE1B-4DEB-34366D08FE80}"/>
                  </a:ext>
                </a:extLst>
              </p:cNvPr>
              <p:cNvSpPr txBox="1"/>
              <p:nvPr/>
            </p:nvSpPr>
            <p:spPr>
              <a:xfrm>
                <a:off x="4800600" y="1211739"/>
                <a:ext cx="3200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o-RO" dirty="0">
                    <a:latin typeface="+mn-lt"/>
                  </a:rPr>
                  <a:t>Spațiul soluțiilor:</a:t>
                </a:r>
                <a:r>
                  <a:rPr lang="ro-RO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3, 10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8B2147-F7EC-BE1B-4DEB-34366D08F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1211739"/>
                <a:ext cx="3200400" cy="369332"/>
              </a:xfrm>
              <a:prstGeom prst="rect">
                <a:avLst/>
              </a:prstGeom>
              <a:blipFill>
                <a:blip r:embed="rId4"/>
                <a:stretch>
                  <a:fillRect l="-1714"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39F909-2809-F871-31D7-1F2F8CFBF835}"/>
                  </a:ext>
                </a:extLst>
              </p:cNvPr>
              <p:cNvSpPr txBox="1"/>
              <p:nvPr/>
            </p:nvSpPr>
            <p:spPr>
              <a:xfrm>
                <a:off x="321963" y="1551774"/>
                <a:ext cx="6917037" cy="582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𝑠𝑖𝑛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2∗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𝑠𝑖𝑛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(3∙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B39F909-2809-F871-31D7-1F2F8CFBF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63" y="1551774"/>
                <a:ext cx="6917037" cy="5821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102F9B-EC87-3340-A5BB-035CF9F22A04}"/>
                  </a:ext>
                </a:extLst>
              </p:cNvPr>
              <p:cNvSpPr txBox="1"/>
              <p:nvPr/>
            </p:nvSpPr>
            <p:spPr>
              <a:xfrm>
                <a:off x="315499" y="1204117"/>
                <a:ext cx="15311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:[3, 10]→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5102F9B-EC87-3340-A5BB-035CF9F22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499" y="1204117"/>
                <a:ext cx="1531167" cy="369332"/>
              </a:xfrm>
              <a:prstGeom prst="rect">
                <a:avLst/>
              </a:prstGeom>
              <a:blipFill>
                <a:blip r:embed="rId6"/>
                <a:stretch>
                  <a:fillRect l="-1195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7F89080-BF91-13E8-532D-6460C9C073A6}"/>
              </a:ext>
            </a:extLst>
          </p:cNvPr>
          <p:cNvSpPr txBox="1"/>
          <p:nvPr/>
        </p:nvSpPr>
        <p:spPr>
          <a:xfrm>
            <a:off x="1028699" y="2186409"/>
            <a:ext cx="354330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 err="1">
                <a:latin typeface="+mn-lt"/>
              </a:rPr>
              <a:t>Hillclimbing</a:t>
            </a:r>
            <a:r>
              <a:rPr lang="en-US" sz="1600" dirty="0">
                <a:latin typeface="+mn-lt"/>
              </a:rPr>
              <a:t>, 30 </a:t>
            </a:r>
            <a:r>
              <a:rPr lang="ro-RO" sz="1600" dirty="0">
                <a:latin typeface="+mn-lt"/>
              </a:rPr>
              <a:t>puncte inițiale </a:t>
            </a:r>
          </a:p>
          <a:p>
            <a:pPr algn="ctr"/>
            <a:r>
              <a:rPr lang="ro-RO" sz="1600" dirty="0">
                <a:latin typeface="+mn-lt"/>
              </a:rPr>
              <a:t>(vecini la distanțe egale)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535E33-33AF-143F-486E-36034588D9A0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3" t="11023" r="5512" b="4724"/>
          <a:stretch/>
        </p:blipFill>
        <p:spPr>
          <a:xfrm>
            <a:off x="4679347" y="2769649"/>
            <a:ext cx="4464653" cy="31847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959CB4-18AC-BA87-CB4A-C387DFFD5D62}"/>
              </a:ext>
            </a:extLst>
          </p:cNvPr>
          <p:cNvSpPr txBox="1"/>
          <p:nvPr/>
        </p:nvSpPr>
        <p:spPr>
          <a:xfrm>
            <a:off x="5181600" y="2186409"/>
            <a:ext cx="36004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 err="1">
                <a:latin typeface="+mn-lt"/>
              </a:rPr>
              <a:t>Hillclimbing</a:t>
            </a:r>
            <a:r>
              <a:rPr lang="en-US" sz="1600" dirty="0">
                <a:latin typeface="+mn-lt"/>
              </a:rPr>
              <a:t>, </a:t>
            </a:r>
            <a:r>
              <a:rPr lang="ro-RO" sz="1600" dirty="0">
                <a:latin typeface="+mn-lt"/>
              </a:rPr>
              <a:t>1</a:t>
            </a:r>
            <a:r>
              <a:rPr lang="en-US" sz="1600" dirty="0">
                <a:latin typeface="+mn-lt"/>
              </a:rPr>
              <a:t>0 </a:t>
            </a:r>
            <a:r>
              <a:rPr lang="ro-RO" sz="1600" dirty="0">
                <a:latin typeface="+mn-lt"/>
              </a:rPr>
              <a:t>puncte inițiale </a:t>
            </a:r>
          </a:p>
          <a:p>
            <a:pPr algn="ctr"/>
            <a:r>
              <a:rPr lang="ro-RO" sz="1600" dirty="0">
                <a:latin typeface="+mn-lt"/>
              </a:rPr>
              <a:t>(vecini la 1 bit)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E8799F9C-AB9D-29FB-CA98-63F32410C8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819" y="5080"/>
            <a:ext cx="8055769" cy="1416050"/>
          </a:xfrm>
        </p:spPr>
        <p:txBody>
          <a:bodyPr/>
          <a:lstStyle/>
          <a:p>
            <a:r>
              <a:rPr lang="ro-RO" sz="2800" dirty="0">
                <a:solidFill>
                  <a:schemeClr val="bg2"/>
                </a:solidFill>
              </a:rPr>
              <a:t>XI. Algoritmul </a:t>
            </a:r>
            <a:r>
              <a:rPr lang="en-US" sz="2800" dirty="0" err="1">
                <a:solidFill>
                  <a:schemeClr val="bg2"/>
                </a:solidFill>
              </a:rPr>
              <a:t>Hillclimbing</a:t>
            </a:r>
            <a:r>
              <a:rPr lang="ro-RO" sz="2800" dirty="0">
                <a:solidFill>
                  <a:schemeClr val="bg2"/>
                </a:solidFill>
              </a:rPr>
              <a:t>. Exemple</a:t>
            </a:r>
          </a:p>
        </p:txBody>
      </p:sp>
    </p:spTree>
    <p:extLst>
      <p:ext uri="{BB962C8B-B14F-4D97-AF65-F5344CB8AC3E}">
        <p14:creationId xmlns:p14="http://schemas.microsoft.com/office/powerpoint/2010/main" val="891039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vi-VN" dirty="0">
                    <a:sym typeface="Wingdings" panose="05000000000000000000" pitchFamily="2" charset="2"/>
                  </a:rPr>
                  <a:t>Exemplu: maximizează </a:t>
                </a:r>
                <a14:m>
                  <m:oMath xmlns:m="http://schemas.openxmlformats.org/officeDocument/2006/math">
                    <m:r>
                      <a:rPr lang="ro-RO" i="1">
                        <a:latin typeface="Cambria Math"/>
                      </a:rPr>
                      <m:t>𝑓</m:t>
                    </m:r>
                    <m:r>
                      <a:rPr lang="ro-RO" i="1">
                        <a:latin typeface="Cambria Math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i="1">
                            <a:latin typeface="Cambria Math"/>
                          </a:rPr>
                          <m:t>−2,2</m:t>
                        </m:r>
                      </m:e>
                    </m:d>
                    <m:r>
                      <a:rPr lang="ro-RO" i="1">
                        <a:latin typeface="Cambria Math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i="1">
                            <a:latin typeface="Cambria Math"/>
                          </a:rPr>
                          <m:t>−2,2</m:t>
                        </m:r>
                      </m:e>
                    </m:d>
                    <m:r>
                      <a:rPr lang="ro-RO" i="1">
                        <a:latin typeface="Cambria Math"/>
                      </a:rPr>
                      <m:t>→</m:t>
                    </m:r>
                    <m:r>
                      <a:rPr lang="ro-RO" i="1">
                        <a:latin typeface="Cambria Math"/>
                      </a:rPr>
                      <m:t>ℝ</m:t>
                    </m:r>
                  </m:oMath>
                </a14:m>
                <a:r>
                  <a:rPr lang="ro-RO" dirty="0">
                    <a:sym typeface="Wingdings" panose="05000000000000000000" pitchFamily="2" charset="2"/>
                  </a:rPr>
                  <a:t>, </a:t>
                </a:r>
                <a:r>
                  <a:rPr lang="vi-VN" dirty="0">
                    <a:sym typeface="Wingdings" panose="05000000000000000000" pitchFamily="2" charset="2"/>
                  </a:rPr>
                  <a:t>definită prin</a:t>
                </a:r>
              </a:p>
              <a:p>
                <a:pPr marL="89297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>
                              <a:latin typeface="Cambria Math"/>
                            </a:rPr>
                            <m:t>𝑥</m:t>
                          </m:r>
                          <m:r>
                            <a:rPr lang="ro-RO" i="1">
                              <a:latin typeface="Cambria Math"/>
                            </a:rPr>
                            <m:t>,</m:t>
                          </m:r>
                          <m:r>
                            <a:rPr lang="ro-RO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i="1">
                          <a:latin typeface="Cambria Math"/>
                        </a:rPr>
                        <m:t>=</m:t>
                      </m:r>
                      <m:r>
                        <a:rPr lang="ro-RO" i="1">
                          <a:latin typeface="Cambria Math"/>
                        </a:rPr>
                        <m:t>𝑒𝑥𝑝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ro-RO" i="1">
                          <a:latin typeface="Cambria Math"/>
                        </a:rPr>
                        <m:t>+</m:t>
                      </m:r>
                      <m:r>
                        <a:rPr lang="ro-RO" i="1">
                          <a:latin typeface="Cambria Math"/>
                        </a:rPr>
                        <m:t>𝑦</m:t>
                      </m:r>
                      <m:r>
                        <a:rPr lang="ro-RO" i="1">
                          <a:latin typeface="Cambria Math"/>
                        </a:rPr>
                        <m:t>∗</m:t>
                      </m:r>
                      <m:r>
                        <a:rPr lang="ro-RO" i="1">
                          <a:latin typeface="Cambria Math"/>
                        </a:rPr>
                        <m:t>𝑐𝑜𝑠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>
                              <a:latin typeface="Cambria Math"/>
                            </a:rPr>
                            <m:t>5</m:t>
                          </m:r>
                          <m:r>
                            <a:rPr lang="ro-RO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ro-RO" i="1">
                          <a:latin typeface="Cambria Math"/>
                        </a:rPr>
                        <m:t>−</m:t>
                      </m:r>
                      <m:r>
                        <a:rPr lang="ro-RO" i="1">
                          <a:latin typeface="Cambria Math"/>
                        </a:rPr>
                        <m:t>𝑥</m:t>
                      </m:r>
                      <m:r>
                        <a:rPr lang="ro-RO" i="1">
                          <a:latin typeface="Cambria Math"/>
                        </a:rPr>
                        <m:t>∗</m:t>
                      </m:r>
                      <m:r>
                        <a:rPr lang="ro-RO" i="1">
                          <a:latin typeface="Cambria Math"/>
                        </a:rPr>
                        <m:t>𝑠𝑖𝑛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i="1">
                              <a:latin typeface="Cambria Math"/>
                            </a:rPr>
                            <m:t>3</m:t>
                          </m:r>
                          <m:r>
                            <a:rPr lang="ro-RO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ro-RO" dirty="0">
                  <a:sym typeface="Wingdings" panose="05000000000000000000" pitchFamily="2" charset="2"/>
                </a:endParaRPr>
              </a:p>
              <a:p>
                <a:pPr marL="89297" indent="0" algn="ctr">
                  <a:buNone/>
                </a:pPr>
                <a:endParaRPr lang="ro-RO" dirty="0">
                  <a:sym typeface="Wingdings" panose="05000000000000000000" pitchFamily="2" charset="2"/>
                </a:endParaRPr>
              </a:p>
              <a:p>
                <a:r>
                  <a:rPr lang="ro-RO" dirty="0">
                    <a:sym typeface="Wingdings" panose="05000000000000000000" pitchFamily="2" charset="2"/>
                  </a:rPr>
                  <a:t>Folosind</a:t>
                </a:r>
              </a:p>
              <a:p>
                <a:pPr lvl="1"/>
                <a:r>
                  <a:rPr lang="ro-RO" dirty="0">
                    <a:sym typeface="Wingdings" panose="05000000000000000000" pitchFamily="2" charset="2"/>
                  </a:rPr>
                  <a:t>Reprezentare binară cu 5 zecimale</a:t>
                </a:r>
              </a:p>
              <a:p>
                <a:pPr lvl="1"/>
                <a:r>
                  <a:rPr lang="ro-RO" dirty="0">
                    <a:sym typeface="Wingdings" panose="05000000000000000000" pitchFamily="2" charset="2"/>
                  </a:rPr>
                  <a:t>MAX=75 puncte inițiale</a:t>
                </a:r>
              </a:p>
              <a:p>
                <a:pPr marL="342900" lvl="1" indent="0">
                  <a:buNone/>
                </a:pPr>
                <a:endParaRPr lang="vi-VN" dirty="0">
                  <a:sym typeface="Wingdings" panose="05000000000000000000" pitchFamily="2" charset="2"/>
                </a:endParaRPr>
              </a:p>
              <a:p>
                <a:r>
                  <a:rPr lang="ro-RO" dirty="0">
                    <a:sym typeface="Wingdings" panose="05000000000000000000" pitchFamily="2" charset="2"/>
                  </a:rPr>
                  <a:t>Un rezultat posibil</a:t>
                </a:r>
              </a:p>
              <a:p>
                <a:pPr lvl="1"/>
                <a:r>
                  <a:rPr lang="vi-VN" dirty="0">
                    <a:sym typeface="Wingdings" panose="05000000000000000000" pitchFamily="2" charset="2"/>
                  </a:rPr>
                  <a:t>x=-1.9</a:t>
                </a:r>
                <a:r>
                  <a:rPr lang="ro-RO" dirty="0">
                    <a:sym typeface="Wingdings" panose="05000000000000000000" pitchFamily="2" charset="2"/>
                  </a:rPr>
                  <a:t>09</a:t>
                </a:r>
                <a:r>
                  <a:rPr lang="vi-VN" dirty="0">
                    <a:sym typeface="Wingdings" panose="05000000000000000000" pitchFamily="2" charset="2"/>
                  </a:rPr>
                  <a:t>,   y=-1.62</a:t>
                </a:r>
                <a:r>
                  <a:rPr lang="ro-RO" dirty="0">
                    <a:sym typeface="Wingdings" panose="05000000000000000000" pitchFamily="2" charset="2"/>
                  </a:rPr>
                  <a:t>84</a:t>
                </a:r>
                <a:r>
                  <a:rPr lang="vi-VN" dirty="0">
                    <a:sym typeface="Wingdings" panose="05000000000000000000" pitchFamily="2" charset="2"/>
                  </a:rPr>
                  <a:t>,  valoarea maximă: 3.49</a:t>
                </a:r>
                <a:r>
                  <a:rPr lang="ro-RO" dirty="0">
                    <a:sym typeface="Wingdings" panose="05000000000000000000" pitchFamily="2" charset="2"/>
                  </a:rPr>
                  <a:t>91</a:t>
                </a:r>
              </a:p>
              <a:p>
                <a:pPr lvl="1"/>
                <a:endParaRPr lang="ro-RO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14339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44" t="6267" r="8057" b="7566"/>
          <a:stretch/>
        </p:blipFill>
        <p:spPr bwMode="auto">
          <a:xfrm>
            <a:off x="1897856" y="1545750"/>
            <a:ext cx="5940000" cy="445500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EB9415A-4844-4B25-9345-D229ED364CFE}"/>
              </a:ext>
            </a:extLst>
          </p:cNvPr>
          <p:cNvGrpSpPr/>
          <p:nvPr/>
        </p:nvGrpSpPr>
        <p:grpSpPr>
          <a:xfrm>
            <a:off x="1987535" y="1386994"/>
            <a:ext cx="5760643" cy="4632245"/>
            <a:chOff x="1370522" y="301499"/>
            <a:chExt cx="7680857" cy="607906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6A58C1D-2648-484C-A93C-A93B2E7D37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069"/>
            <a:stretch/>
          </p:blipFill>
          <p:spPr>
            <a:xfrm>
              <a:off x="1370522" y="301499"/>
              <a:ext cx="7680857" cy="6021869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7552891-3FA4-4AF7-8562-98AE5D1A31EC}"/>
                </a:ext>
              </a:extLst>
            </p:cNvPr>
            <p:cNvSpPr txBox="1"/>
            <p:nvPr/>
          </p:nvSpPr>
          <p:spPr>
            <a:xfrm>
              <a:off x="1441451" y="5168842"/>
              <a:ext cx="1905000" cy="1211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dirty="0"/>
                <a:t>Punct inițial, generat aleator</a:t>
              </a:r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03AD00-90CD-44E8-AD7E-5132AD95FE1C}"/>
                </a:ext>
              </a:extLst>
            </p:cNvPr>
            <p:cNvSpPr txBox="1"/>
            <p:nvPr/>
          </p:nvSpPr>
          <p:spPr>
            <a:xfrm>
              <a:off x="1462687" y="866032"/>
              <a:ext cx="1905000" cy="848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dirty="0"/>
                <a:t>Punct final calculat</a:t>
              </a:r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811F329-7C6D-4393-B011-1E0107FF20D5}"/>
                </a:ext>
              </a:extLst>
            </p:cNvPr>
            <p:cNvSpPr txBox="1"/>
            <p:nvPr/>
          </p:nvSpPr>
          <p:spPr>
            <a:xfrm>
              <a:off x="3367687" y="594834"/>
              <a:ext cx="2408628" cy="1211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dirty="0"/>
                <a:t>Puncte intermediare  calculate (roșu)</a:t>
              </a:r>
              <a:endParaRPr lang="en-US" dirty="0"/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43E70826-D70A-4988-9CD0-E81689BCDAD4}"/>
                </a:ext>
              </a:extLst>
            </p:cNvPr>
            <p:cNvSpPr/>
            <p:nvPr/>
          </p:nvSpPr>
          <p:spPr>
            <a:xfrm rot="19933414">
              <a:off x="2895255" y="4851982"/>
              <a:ext cx="1664392" cy="267622"/>
            </a:xfrm>
            <a:prstGeom prst="rightArrow">
              <a:avLst>
                <a:gd name="adj1" fmla="val 50000"/>
                <a:gd name="adj2" fmla="val 13652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35386296-50E7-4CA3-8170-274FBA52E8FD}"/>
                </a:ext>
              </a:extLst>
            </p:cNvPr>
            <p:cNvSpPr/>
            <p:nvPr/>
          </p:nvSpPr>
          <p:spPr>
            <a:xfrm rot="1983791">
              <a:off x="2344991" y="1577627"/>
              <a:ext cx="1664392" cy="267622"/>
            </a:xfrm>
            <a:prstGeom prst="rightArrow">
              <a:avLst>
                <a:gd name="adj1" fmla="val 50000"/>
                <a:gd name="adj2" fmla="val 13652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C5FDC96A-46CB-4CD9-8945-495A7CB63E93}"/>
                </a:ext>
              </a:extLst>
            </p:cNvPr>
            <p:cNvSpPr/>
            <p:nvPr/>
          </p:nvSpPr>
          <p:spPr>
            <a:xfrm rot="5400000">
              <a:off x="3890544" y="1868469"/>
              <a:ext cx="1500189" cy="229048"/>
            </a:xfrm>
            <a:prstGeom prst="rightArrow">
              <a:avLst>
                <a:gd name="adj1" fmla="val 50000"/>
                <a:gd name="adj2" fmla="val 13652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BC1071E1-E978-CF61-CD33-50B06DA236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819" y="5080"/>
            <a:ext cx="8055769" cy="1416050"/>
          </a:xfrm>
        </p:spPr>
        <p:txBody>
          <a:bodyPr/>
          <a:lstStyle/>
          <a:p>
            <a:r>
              <a:rPr lang="ro-RO" sz="2800" dirty="0">
                <a:solidFill>
                  <a:schemeClr val="bg2"/>
                </a:solidFill>
              </a:rPr>
              <a:t>XI. Algoritmul </a:t>
            </a:r>
            <a:r>
              <a:rPr lang="en-US" sz="2800" dirty="0" err="1">
                <a:solidFill>
                  <a:schemeClr val="bg2"/>
                </a:solidFill>
              </a:rPr>
              <a:t>Hillclimbing</a:t>
            </a:r>
            <a:r>
              <a:rPr lang="ro-RO" sz="2800" dirty="0">
                <a:solidFill>
                  <a:schemeClr val="bg2"/>
                </a:solidFill>
              </a:rPr>
              <a:t>. Exemple</a:t>
            </a:r>
          </a:p>
        </p:txBody>
      </p:sp>
    </p:spTree>
    <p:extLst>
      <p:ext uri="{BB962C8B-B14F-4D97-AF65-F5344CB8AC3E}">
        <p14:creationId xmlns:p14="http://schemas.microsoft.com/office/powerpoint/2010/main" val="339899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  <p:bldP spid="14339" grpId="1" build="allAtOnce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ro-RO" dirty="0"/>
              <a:t>Referințe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o-RO" sz="1800" dirty="0"/>
              <a:t>Manual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ro-RO" sz="1800" dirty="0"/>
              <a:t>capitolul 2</a:t>
            </a:r>
          </a:p>
          <a:p>
            <a:pPr marL="914400" lvl="2" indent="0">
              <a:buNone/>
            </a:pPr>
            <a:endParaRPr lang="ro-RO" sz="1800" dirty="0"/>
          </a:p>
          <a:p>
            <a:pPr lvl="2">
              <a:buFont typeface="Wingdings" panose="05000000000000000000" pitchFamily="2" charset="2"/>
              <a:buChar char="q"/>
            </a:pPr>
            <a:endParaRPr lang="ro-RO" sz="18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4BE3A0C-2D8E-1BF2-552A-B6FB6D7B8837}"/>
              </a:ext>
            </a:extLst>
          </p:cNvPr>
          <p:cNvSpPr>
            <a:spLocks/>
          </p:cNvSpPr>
          <p:nvPr/>
        </p:nvSpPr>
        <p:spPr bwMode="auto">
          <a:xfrm>
            <a:off x="457200" y="0"/>
            <a:ext cx="8077200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8872" tIns="0" rIns="45720" bIns="0" anchor="ctr"/>
          <a:lstStyle/>
          <a:p>
            <a:pPr>
              <a:buClr>
                <a:schemeClr val="accent1"/>
              </a:buClr>
              <a:buSzPct val="80000"/>
              <a:buFont typeface="Wingdings 2" pitchFamily="18" charset="2"/>
              <a:buNone/>
            </a:pPr>
            <a:r>
              <a:rPr lang="ro-RO" sz="2800" b="1" dirty="0">
                <a:solidFill>
                  <a:srgbClr val="002E8A"/>
                </a:solidFill>
                <a:latin typeface="+mj-lt"/>
              </a:rPr>
              <a:t>Referințe curs</a:t>
            </a:r>
          </a:p>
        </p:txBody>
      </p:sp>
    </p:spTree>
    <p:extLst>
      <p:ext uri="{BB962C8B-B14F-4D97-AF65-F5344CB8AC3E}">
        <p14:creationId xmlns:p14="http://schemas.microsoft.com/office/powerpoint/2010/main" val="1495473523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2950</TotalTime>
  <Words>2862</Words>
  <Application>Microsoft Office PowerPoint</Application>
  <PresentationFormat>On-screen Show (4:3)</PresentationFormat>
  <Paragraphs>337</Paragraphs>
  <Slides>29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Arial</vt:lpstr>
      <vt:lpstr>Arial Black</vt:lpstr>
      <vt:lpstr>Arial Body</vt:lpstr>
      <vt:lpstr>Calibri</vt:lpstr>
      <vt:lpstr>Cambria Math</vt:lpstr>
      <vt:lpstr>Consolas</vt:lpstr>
      <vt:lpstr>Courier New</vt:lpstr>
      <vt:lpstr>Garamond</vt:lpstr>
      <vt:lpstr>Times New Roman</vt:lpstr>
      <vt:lpstr>Wingdings</vt:lpstr>
      <vt:lpstr>Wingdings 2</vt:lpstr>
      <vt:lpstr>Pixel</vt:lpstr>
      <vt:lpstr>Visio</vt:lpstr>
      <vt:lpstr>   Componentele algoritmilor evolutivi (EAs). Evoluția căutare directă-căutare stochastică   </vt:lpstr>
      <vt:lpstr>I. Componentele EA (Evolutionary Algorithms)</vt:lpstr>
      <vt:lpstr>II. Componentele EA. Reprezentarea</vt:lpstr>
      <vt:lpstr>Exemplu de reprezentare prin permutări</vt:lpstr>
      <vt:lpstr>PowerPoint Presentation</vt:lpstr>
      <vt:lpstr>III. Componentele EA. Funcţia de evaluare f</vt:lpstr>
      <vt:lpstr>IV. Componentele EA. Populaţia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V. Componentele EA. Selecţia părinţilor</vt:lpstr>
      <vt:lpstr>VI. Componentele EA. Operatori de variaţie</vt:lpstr>
      <vt:lpstr>VI. Componentele EA. Operatori de variaţie</vt:lpstr>
      <vt:lpstr>VII. Componentele EA. Trecerea la o nouă generaţie</vt:lpstr>
      <vt:lpstr>VIII. Componentele EA. Iniţializarea. Condiţia de  terminare</vt:lpstr>
      <vt:lpstr>Exemplu – problema 0-1 a rucsacului</vt:lpstr>
      <vt:lpstr>Exemplu – problema 0-1 a rucsacului</vt:lpstr>
      <vt:lpstr>Exemplu – problema 0-1 a rucsacului</vt:lpstr>
      <vt:lpstr>Exemplu – problema 0-1 a rucsacului</vt:lpstr>
      <vt:lpstr>X. Evoluţia căutare directă-căutare stochastică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Catalina</dc:creator>
  <cp:lastModifiedBy>Catalina</cp:lastModifiedBy>
  <cp:revision>320</cp:revision>
  <dcterms:created xsi:type="dcterms:W3CDTF">2007-06-04T09:28:42Z</dcterms:created>
  <dcterms:modified xsi:type="dcterms:W3CDTF">2026-02-17T07:39:55Z</dcterms:modified>
</cp:coreProperties>
</file>