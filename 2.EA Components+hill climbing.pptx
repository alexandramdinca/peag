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1"/>
  </p:notesMasterIdLst>
  <p:sldIdLst>
    <p:sldId id="256" r:id="rId2"/>
    <p:sldId id="310" r:id="rId3"/>
    <p:sldId id="336" r:id="rId4"/>
    <p:sldId id="337" r:id="rId5"/>
    <p:sldId id="333" r:id="rId6"/>
    <p:sldId id="339" r:id="rId7"/>
    <p:sldId id="340" r:id="rId8"/>
    <p:sldId id="370" r:id="rId9"/>
    <p:sldId id="334" r:id="rId10"/>
    <p:sldId id="335" r:id="rId11"/>
    <p:sldId id="371" r:id="rId12"/>
    <p:sldId id="338" r:id="rId13"/>
    <p:sldId id="328" r:id="rId14"/>
    <p:sldId id="342" r:id="rId15"/>
    <p:sldId id="343" r:id="rId16"/>
    <p:sldId id="344" r:id="rId17"/>
    <p:sldId id="345" r:id="rId18"/>
    <p:sldId id="346" r:id="rId19"/>
    <p:sldId id="347" r:id="rId20"/>
    <p:sldId id="365" r:id="rId21"/>
    <p:sldId id="366" r:id="rId22"/>
    <p:sldId id="367" r:id="rId23"/>
    <p:sldId id="364" r:id="rId24"/>
    <p:sldId id="329" r:id="rId25"/>
    <p:sldId id="330" r:id="rId26"/>
    <p:sldId id="325" r:id="rId27"/>
    <p:sldId id="332" r:id="rId28"/>
    <p:sldId id="326" r:id="rId29"/>
    <p:sldId id="372" r:id="rId30"/>
  </p:sldIdLst>
  <p:sldSz cx="9144000" cy="6858000" type="screen4x3"/>
  <p:notesSz cx="6815138" cy="9942513"/>
  <p:defaultTextStyle>
    <a:defPPr>
      <a:defRPr lang="en-US"/>
    </a:defPPr>
    <a:lvl1pPr algn="l" rtl="0" eaLnBrk="0" fontAlgn="base" hangingPunct="0">
      <a:spcBef>
        <a:spcPct val="0"/>
      </a:spcBef>
      <a:spcAft>
        <a:spcPct val="0"/>
      </a:spcAft>
      <a:defRPr kern="1200">
        <a:solidFill>
          <a:schemeClr val="tx1"/>
        </a:solidFill>
        <a:latin typeface="Garamond"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A3ADF7-962C-42F5-A5E9-62491881DE58}" v="3226" dt="2026-02-19T12:29:10.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115" d="100"/>
          <a:sy n="115" d="100"/>
        </p:scale>
        <p:origin x="72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inia Roxana Toma" userId="763e1cba-df04-4924-ae67-02c9d011635e" providerId="ADAL" clId="{E6EE6903-4C62-42B0-9FEA-47A34BC200DD}"/>
    <pc:docChg chg="undo custSel modSld">
      <pc:chgData name="Lavinia Roxana Toma" userId="763e1cba-df04-4924-ae67-02c9d011635e" providerId="ADAL" clId="{E6EE6903-4C62-42B0-9FEA-47A34BC200DD}" dt="2026-02-19T12:29:10.264" v="5001" actId="20577"/>
      <pc:docMkLst>
        <pc:docMk/>
      </pc:docMkLst>
      <pc:sldChg chg="modSp">
        <pc:chgData name="Lavinia Roxana Toma" userId="763e1cba-df04-4924-ae67-02c9d011635e" providerId="ADAL" clId="{E6EE6903-4C62-42B0-9FEA-47A34BC200DD}" dt="2026-02-19T09:46:04.917" v="1" actId="1076"/>
        <pc:sldMkLst>
          <pc:docMk/>
          <pc:sldMk cId="0" sldId="256"/>
        </pc:sldMkLst>
        <pc:spChg chg="mod">
          <ac:chgData name="Lavinia Roxana Toma" userId="763e1cba-df04-4924-ae67-02c9d011635e" providerId="ADAL" clId="{E6EE6903-4C62-42B0-9FEA-47A34BC200DD}" dt="2026-02-19T09:46:04.917" v="1" actId="1076"/>
          <ac:spMkLst>
            <pc:docMk/>
            <pc:sldMk cId="0" sldId="256"/>
            <ac:spMk id="2050" creationId="{00000000-0000-0000-0000-000000000000}"/>
          </ac:spMkLst>
        </pc:spChg>
      </pc:sldChg>
      <pc:sldChg chg="addSp modSp mod">
        <pc:chgData name="Lavinia Roxana Toma" userId="763e1cba-df04-4924-ae67-02c9d011635e" providerId="ADAL" clId="{E6EE6903-4C62-42B0-9FEA-47A34BC200DD}" dt="2026-02-19T09:46:55.336" v="29"/>
        <pc:sldMkLst>
          <pc:docMk/>
          <pc:sldMk cId="0" sldId="310"/>
        </pc:sldMkLst>
        <pc:spChg chg="add mod">
          <ac:chgData name="Lavinia Roxana Toma" userId="763e1cba-df04-4924-ae67-02c9d011635e" providerId="ADAL" clId="{E6EE6903-4C62-42B0-9FEA-47A34BC200DD}" dt="2026-02-19T09:46:34.088" v="28"/>
          <ac:spMkLst>
            <pc:docMk/>
            <pc:sldMk cId="0" sldId="310"/>
            <ac:spMk id="2" creationId="{EDC553A4-B8DB-B8E6-3379-C263AD9F02B8}"/>
          </ac:spMkLst>
        </pc:spChg>
        <pc:spChg chg="mod">
          <ac:chgData name="Lavinia Roxana Toma" userId="763e1cba-df04-4924-ae67-02c9d011635e" providerId="ADAL" clId="{E6EE6903-4C62-42B0-9FEA-47A34BC200DD}" dt="2026-02-19T09:46:15.213" v="25" actId="20577"/>
          <ac:spMkLst>
            <pc:docMk/>
            <pc:sldMk cId="0" sldId="310"/>
            <ac:spMk id="6146" creationId="{00000000-0000-0000-0000-000000000000}"/>
          </ac:spMkLst>
        </pc:spChg>
        <pc:spChg chg="mod">
          <ac:chgData name="Lavinia Roxana Toma" userId="763e1cba-df04-4924-ae67-02c9d011635e" providerId="ADAL" clId="{E6EE6903-4C62-42B0-9FEA-47A34BC200DD}" dt="2026-02-19T09:46:55.336" v="29"/>
          <ac:spMkLst>
            <pc:docMk/>
            <pc:sldMk cId="0" sldId="310"/>
            <ac:spMk id="6147" creationId="{00000000-0000-0000-0000-000000000000}"/>
          </ac:spMkLst>
        </pc:spChg>
      </pc:sldChg>
      <pc:sldChg chg="modSp mod">
        <pc:chgData name="Lavinia Roxana Toma" userId="763e1cba-df04-4924-ae67-02c9d011635e" providerId="ADAL" clId="{E6EE6903-4C62-42B0-9FEA-47A34BC200DD}" dt="2026-02-19T12:23:34.739" v="4334" actId="20577"/>
        <pc:sldMkLst>
          <pc:docMk/>
          <pc:sldMk cId="455834719" sldId="325"/>
        </pc:sldMkLst>
        <pc:spChg chg="mod">
          <ac:chgData name="Lavinia Roxana Toma" userId="763e1cba-df04-4924-ae67-02c9d011635e" providerId="ADAL" clId="{E6EE6903-4C62-42B0-9FEA-47A34BC200DD}" dt="2026-02-19T12:23:34.739" v="4334" actId="20577"/>
          <ac:spMkLst>
            <pc:docMk/>
            <pc:sldMk cId="455834719" sldId="325"/>
            <ac:spMk id="2" creationId="{00000000-0000-0000-0000-000000000000}"/>
          </ac:spMkLst>
        </pc:spChg>
        <pc:spChg chg="mod">
          <ac:chgData name="Lavinia Roxana Toma" userId="763e1cba-df04-4924-ae67-02c9d011635e" providerId="ADAL" clId="{E6EE6903-4C62-42B0-9FEA-47A34BC200DD}" dt="2026-02-19T12:21:36.070" v="4022" actId="20577"/>
          <ac:spMkLst>
            <pc:docMk/>
            <pc:sldMk cId="455834719" sldId="325"/>
            <ac:spMk id="5" creationId="{FD785B26-66F7-71C1-D8DB-50A0BEA14DAA}"/>
          </ac:spMkLst>
        </pc:spChg>
        <pc:spChg chg="mod">
          <ac:chgData name="Lavinia Roxana Toma" userId="763e1cba-df04-4924-ae67-02c9d011635e" providerId="ADAL" clId="{E6EE6903-4C62-42B0-9FEA-47A34BC200DD}" dt="2026-02-19T12:13:46.908" v="3877" actId="20577"/>
          <ac:spMkLst>
            <pc:docMk/>
            <pc:sldMk cId="455834719" sldId="325"/>
            <ac:spMk id="14339" creationId="{00000000-0000-0000-0000-000000000000}"/>
          </ac:spMkLst>
        </pc:spChg>
      </pc:sldChg>
      <pc:sldChg chg="modSp mod modAnim">
        <pc:chgData name="Lavinia Roxana Toma" userId="763e1cba-df04-4924-ae67-02c9d011635e" providerId="ADAL" clId="{E6EE6903-4C62-42B0-9FEA-47A34BC200DD}" dt="2026-02-19T12:09:29.949" v="3628" actId="20577"/>
        <pc:sldMkLst>
          <pc:docMk/>
          <pc:sldMk cId="3398991654" sldId="326"/>
        </pc:sldMkLst>
        <pc:spChg chg="mod modVis">
          <ac:chgData name="Lavinia Roxana Toma" userId="763e1cba-df04-4924-ae67-02c9d011635e" providerId="ADAL" clId="{E6EE6903-4C62-42B0-9FEA-47A34BC200DD}" dt="2026-02-19T12:09:08.779" v="3583" actId="14429"/>
          <ac:spMkLst>
            <pc:docMk/>
            <pc:sldMk cId="3398991654" sldId="326"/>
            <ac:spMk id="2" creationId="{47552891-3FA4-4AF7-8562-98AE5D1A31EC}"/>
          </ac:spMkLst>
        </pc:spChg>
        <pc:spChg chg="mod modVis">
          <ac:chgData name="Lavinia Roxana Toma" userId="763e1cba-df04-4924-ae67-02c9d011635e" providerId="ADAL" clId="{E6EE6903-4C62-42B0-9FEA-47A34BC200DD}" dt="2026-02-19T12:09:07.531" v="3580" actId="14429"/>
          <ac:spMkLst>
            <pc:docMk/>
            <pc:sldMk cId="3398991654" sldId="326"/>
            <ac:spMk id="4" creationId="{43E70826-D70A-4988-9CD0-E81689BCDAD4}"/>
          </ac:spMkLst>
        </pc:spChg>
        <pc:spChg chg="mod modVis">
          <ac:chgData name="Lavinia Roxana Toma" userId="763e1cba-df04-4924-ae67-02c9d011635e" providerId="ADAL" clId="{E6EE6903-4C62-42B0-9FEA-47A34BC200DD}" dt="2026-02-19T12:09:29.949" v="3628" actId="20577"/>
          <ac:spMkLst>
            <pc:docMk/>
            <pc:sldMk cId="3398991654" sldId="326"/>
            <ac:spMk id="8" creationId="{BC1071E1-E978-CF61-CD33-50B06DA236D8}"/>
          </ac:spMkLst>
        </pc:spChg>
        <pc:spChg chg="mod modVis">
          <ac:chgData name="Lavinia Roxana Toma" userId="763e1cba-df04-4924-ae67-02c9d011635e" providerId="ADAL" clId="{E6EE6903-4C62-42B0-9FEA-47A34BC200DD}" dt="2026-02-19T12:09:08.347" v="3582" actId="14429"/>
          <ac:spMkLst>
            <pc:docMk/>
            <pc:sldMk cId="3398991654" sldId="326"/>
            <ac:spMk id="9" creationId="{DB03AD00-90CD-44E8-AD7E-5132AD95FE1C}"/>
          </ac:spMkLst>
        </pc:spChg>
        <pc:spChg chg="mod modVis">
          <ac:chgData name="Lavinia Roxana Toma" userId="763e1cba-df04-4924-ae67-02c9d011635e" providerId="ADAL" clId="{E6EE6903-4C62-42B0-9FEA-47A34BC200DD}" dt="2026-02-19T12:09:07.940" v="3581" actId="14429"/>
          <ac:spMkLst>
            <pc:docMk/>
            <pc:sldMk cId="3398991654" sldId="326"/>
            <ac:spMk id="10" creationId="{F811F329-7C6D-4393-B011-1E0107FF20D5}"/>
          </ac:spMkLst>
        </pc:spChg>
        <pc:spChg chg="mod modVis">
          <ac:chgData name="Lavinia Roxana Toma" userId="763e1cba-df04-4924-ae67-02c9d011635e" providerId="ADAL" clId="{E6EE6903-4C62-42B0-9FEA-47A34BC200DD}" dt="2026-02-19T12:09:07.131" v="3579" actId="14429"/>
          <ac:spMkLst>
            <pc:docMk/>
            <pc:sldMk cId="3398991654" sldId="326"/>
            <ac:spMk id="12" creationId="{35386296-50E7-4CA3-8170-274FBA52E8FD}"/>
          </ac:spMkLst>
        </pc:spChg>
        <pc:spChg chg="mod modVis">
          <ac:chgData name="Lavinia Roxana Toma" userId="763e1cba-df04-4924-ae67-02c9d011635e" providerId="ADAL" clId="{E6EE6903-4C62-42B0-9FEA-47A34BC200DD}" dt="2026-02-19T12:09:06.723" v="3578" actId="14429"/>
          <ac:spMkLst>
            <pc:docMk/>
            <pc:sldMk cId="3398991654" sldId="326"/>
            <ac:spMk id="13" creationId="{C5FDC96A-46CB-4CD9-8945-495A7CB63E93}"/>
          </ac:spMkLst>
        </pc:spChg>
        <pc:spChg chg="mod modVis">
          <ac:chgData name="Lavinia Roxana Toma" userId="763e1cba-df04-4924-ae67-02c9d011635e" providerId="ADAL" clId="{E6EE6903-4C62-42B0-9FEA-47A34BC200DD}" dt="2026-02-19T12:09:11.525" v="3586" actId="14429"/>
          <ac:spMkLst>
            <pc:docMk/>
            <pc:sldMk cId="3398991654" sldId="326"/>
            <ac:spMk id="14339" creationId="{00000000-0000-0000-0000-000000000000}"/>
          </ac:spMkLst>
        </pc:spChg>
        <pc:grpChg chg="mod modVis">
          <ac:chgData name="Lavinia Roxana Toma" userId="763e1cba-df04-4924-ae67-02c9d011635e" providerId="ADAL" clId="{E6EE6903-4C62-42B0-9FEA-47A34BC200DD}" dt="2026-02-19T12:09:05.643" v="3577" actId="14429"/>
          <ac:grpSpMkLst>
            <pc:docMk/>
            <pc:sldMk cId="3398991654" sldId="326"/>
            <ac:grpSpMk id="5" creationId="{FEB9415A-4844-4B25-9345-D229ED364CFE}"/>
          </ac:grpSpMkLst>
        </pc:grpChg>
        <pc:picChg chg="mod modVis">
          <ac:chgData name="Lavinia Roxana Toma" userId="763e1cba-df04-4924-ae67-02c9d011635e" providerId="ADAL" clId="{E6EE6903-4C62-42B0-9FEA-47A34BC200DD}" dt="2026-02-19T12:09:09.196" v="3584" actId="14429"/>
          <ac:picMkLst>
            <pc:docMk/>
            <pc:sldMk cId="3398991654" sldId="326"/>
            <ac:picMk id="3" creationId="{56A58C1D-2648-484C-A93C-A93B2E7D3760}"/>
          </ac:picMkLst>
        </pc:picChg>
        <pc:picChg chg="mod modVis">
          <ac:chgData name="Lavinia Roxana Toma" userId="763e1cba-df04-4924-ae67-02c9d011635e" providerId="ADAL" clId="{E6EE6903-4C62-42B0-9FEA-47A34BC200DD}" dt="2026-02-19T12:09:10.513" v="3585" actId="14429"/>
          <ac:picMkLst>
            <pc:docMk/>
            <pc:sldMk cId="3398991654" sldId="326"/>
            <ac:picMk id="2051" creationId="{00000000-0000-0000-0000-000000000000}"/>
          </ac:picMkLst>
        </pc:picChg>
      </pc:sldChg>
      <pc:sldChg chg="modSp mod modAnim">
        <pc:chgData name="Lavinia Roxana Toma" userId="763e1cba-df04-4924-ae67-02c9d011635e" providerId="ADAL" clId="{E6EE6903-4C62-42B0-9FEA-47A34BC200DD}" dt="2026-02-19T10:18:20.395" v="2120" actId="20577"/>
        <pc:sldMkLst>
          <pc:docMk/>
          <pc:sldMk cId="1171659991" sldId="328"/>
        </pc:sldMkLst>
        <pc:spChg chg="mod">
          <ac:chgData name="Lavinia Roxana Toma" userId="763e1cba-df04-4924-ae67-02c9d011635e" providerId="ADAL" clId="{E6EE6903-4C62-42B0-9FEA-47A34BC200DD}" dt="2026-02-19T10:13:37.548" v="1594" actId="20577"/>
          <ac:spMkLst>
            <pc:docMk/>
            <pc:sldMk cId="1171659991" sldId="328"/>
            <ac:spMk id="4" creationId="{617A0966-AC8B-75B7-14CA-BAE7F6129A6B}"/>
          </ac:spMkLst>
        </pc:spChg>
        <pc:spChg chg="mod">
          <ac:chgData name="Lavinia Roxana Toma" userId="763e1cba-df04-4924-ae67-02c9d011635e" providerId="ADAL" clId="{E6EE6903-4C62-42B0-9FEA-47A34BC200DD}" dt="2026-02-19T10:18:20.395" v="2120" actId="20577"/>
          <ac:spMkLst>
            <pc:docMk/>
            <pc:sldMk cId="1171659991" sldId="328"/>
            <ac:spMk id="14339" creationId="{00000000-0000-0000-0000-000000000000}"/>
          </ac:spMkLst>
        </pc:spChg>
      </pc:sldChg>
      <pc:sldChg chg="addSp modSp mod modAnim">
        <pc:chgData name="Lavinia Roxana Toma" userId="763e1cba-df04-4924-ae67-02c9d011635e" providerId="ADAL" clId="{E6EE6903-4C62-42B0-9FEA-47A34BC200DD}" dt="2026-02-19T12:01:59.160" v="3015" actId="255"/>
        <pc:sldMkLst>
          <pc:docMk/>
          <pc:sldMk cId="3652104094" sldId="329"/>
        </pc:sldMkLst>
        <pc:spChg chg="mod">
          <ac:chgData name="Lavinia Roxana Toma" userId="763e1cba-df04-4924-ae67-02c9d011635e" providerId="ADAL" clId="{E6EE6903-4C62-42B0-9FEA-47A34BC200DD}" dt="2026-02-19T12:00:56.030" v="2987" actId="20577"/>
          <ac:spMkLst>
            <pc:docMk/>
            <pc:sldMk cId="3652104094" sldId="329"/>
            <ac:spMk id="2" creationId="{F546A4DB-E0A6-2D10-54DD-DBE1DCF6070A}"/>
          </ac:spMkLst>
        </pc:spChg>
        <pc:spChg chg="add">
          <ac:chgData name="Lavinia Roxana Toma" userId="763e1cba-df04-4924-ae67-02c9d011635e" providerId="ADAL" clId="{E6EE6903-4C62-42B0-9FEA-47A34BC200DD}" dt="2026-02-19T12:01:24.624" v="3005"/>
          <ac:spMkLst>
            <pc:docMk/>
            <pc:sldMk cId="3652104094" sldId="329"/>
            <ac:spMk id="3" creationId="{25193CBD-C800-9016-7025-32B665A03D99}"/>
          </ac:spMkLst>
        </pc:spChg>
        <pc:spChg chg="mod">
          <ac:chgData name="Lavinia Roxana Toma" userId="763e1cba-df04-4924-ae67-02c9d011635e" providerId="ADAL" clId="{E6EE6903-4C62-42B0-9FEA-47A34BC200DD}" dt="2026-02-19T12:01:54.931" v="3014" actId="1076"/>
          <ac:spMkLst>
            <pc:docMk/>
            <pc:sldMk cId="3652104094" sldId="329"/>
            <ac:spMk id="9" creationId="{DB5A3288-5288-4036-BD05-D6E5985064C4}"/>
          </ac:spMkLst>
        </pc:spChg>
        <pc:spChg chg="mod">
          <ac:chgData name="Lavinia Roxana Toma" userId="763e1cba-df04-4924-ae67-02c9d011635e" providerId="ADAL" clId="{E6EE6903-4C62-42B0-9FEA-47A34BC200DD}" dt="2026-02-19T12:01:59.160" v="3015" actId="255"/>
          <ac:spMkLst>
            <pc:docMk/>
            <pc:sldMk cId="3652104094" sldId="329"/>
            <ac:spMk id="14339" creationId="{00000000-0000-0000-0000-000000000000}"/>
          </ac:spMkLst>
        </pc:spChg>
      </pc:sldChg>
      <pc:sldChg chg="modSp mod modAnim">
        <pc:chgData name="Lavinia Roxana Toma" userId="763e1cba-df04-4924-ae67-02c9d011635e" providerId="ADAL" clId="{E6EE6903-4C62-42B0-9FEA-47A34BC200DD}" dt="2026-02-19T12:29:10.264" v="5001" actId="20577"/>
        <pc:sldMkLst>
          <pc:docMk/>
          <pc:sldMk cId="4111840224" sldId="330"/>
        </pc:sldMkLst>
        <pc:spChg chg="mod">
          <ac:chgData name="Lavinia Roxana Toma" userId="763e1cba-df04-4924-ae67-02c9d011635e" providerId="ADAL" clId="{E6EE6903-4C62-42B0-9FEA-47A34BC200DD}" dt="2026-02-19T12:02:14.401" v="3017" actId="113"/>
          <ac:spMkLst>
            <pc:docMk/>
            <pc:sldMk cId="4111840224" sldId="330"/>
            <ac:spMk id="2" creationId="{A731E7B5-BF18-3DAC-95F4-A17F3C9724F1}"/>
          </ac:spMkLst>
        </pc:spChg>
        <pc:spChg chg="mod modVis">
          <ac:chgData name="Lavinia Roxana Toma" userId="763e1cba-df04-4924-ae67-02c9d011635e" providerId="ADAL" clId="{E6EE6903-4C62-42B0-9FEA-47A34BC200DD}" dt="2026-02-19T12:15:41.512" v="3885" actId="14430"/>
          <ac:spMkLst>
            <pc:docMk/>
            <pc:sldMk cId="4111840224" sldId="330"/>
            <ac:spMk id="6" creationId="{00000000-0000-0000-0000-000000000000}"/>
          </ac:spMkLst>
        </pc:spChg>
        <pc:spChg chg="mod modVis">
          <ac:chgData name="Lavinia Roxana Toma" userId="763e1cba-df04-4924-ae67-02c9d011635e" providerId="ADAL" clId="{E6EE6903-4C62-42B0-9FEA-47A34BC200DD}" dt="2026-02-19T12:29:10.264" v="5001" actId="20577"/>
          <ac:spMkLst>
            <pc:docMk/>
            <pc:sldMk cId="4111840224" sldId="330"/>
            <ac:spMk id="14339" creationId="{00000000-0000-0000-0000-000000000000}"/>
          </ac:spMkLst>
        </pc:spChg>
        <pc:graphicFrameChg chg="mod modVis">
          <ac:chgData name="Lavinia Roxana Toma" userId="763e1cba-df04-4924-ae67-02c9d011635e" providerId="ADAL" clId="{E6EE6903-4C62-42B0-9FEA-47A34BC200DD}" dt="2026-02-19T12:15:32.163" v="3882" actId="14430"/>
          <ac:graphicFrameMkLst>
            <pc:docMk/>
            <pc:sldMk cId="4111840224" sldId="330"/>
            <ac:graphicFrameMk id="3" creationId="{00000000-0000-0000-0000-000000000000}"/>
          </ac:graphicFrameMkLst>
        </pc:graphicFrameChg>
      </pc:sldChg>
      <pc:sldChg chg="modSp mod">
        <pc:chgData name="Lavinia Roxana Toma" userId="763e1cba-df04-4924-ae67-02c9d011635e" providerId="ADAL" clId="{E6EE6903-4C62-42B0-9FEA-47A34BC200DD}" dt="2026-02-19T12:12:57.365" v="3827" actId="20577"/>
        <pc:sldMkLst>
          <pc:docMk/>
          <pc:sldMk cId="891039080" sldId="332"/>
        </pc:sldMkLst>
        <pc:spChg chg="mod">
          <ac:chgData name="Lavinia Roxana Toma" userId="763e1cba-df04-4924-ae67-02c9d011635e" providerId="ADAL" clId="{E6EE6903-4C62-42B0-9FEA-47A34BC200DD}" dt="2026-02-19T12:09:51.758" v="3664" actId="20577"/>
          <ac:spMkLst>
            <pc:docMk/>
            <pc:sldMk cId="891039080" sldId="332"/>
            <ac:spMk id="4" creationId="{E8799F9C-AB9D-29FB-CA98-63F32410C8A9}"/>
          </ac:spMkLst>
        </pc:spChg>
        <pc:spChg chg="mod">
          <ac:chgData name="Lavinia Roxana Toma" userId="763e1cba-df04-4924-ae67-02c9d011635e" providerId="ADAL" clId="{E6EE6903-4C62-42B0-9FEA-47A34BC200DD}" dt="2026-02-19T12:10:05.220" v="3694" actId="20577"/>
          <ac:spMkLst>
            <pc:docMk/>
            <pc:sldMk cId="891039080" sldId="332"/>
            <ac:spMk id="6" creationId="{D48B2147-F7EC-BE1B-4DEB-34366D08FE80}"/>
          </ac:spMkLst>
        </pc:spChg>
        <pc:spChg chg="mod">
          <ac:chgData name="Lavinia Roxana Toma" userId="763e1cba-df04-4924-ae67-02c9d011635e" providerId="ADAL" clId="{E6EE6903-4C62-42B0-9FEA-47A34BC200DD}" dt="2026-02-19T12:12:07.442" v="3775" actId="20577"/>
          <ac:spMkLst>
            <pc:docMk/>
            <pc:sldMk cId="891039080" sldId="332"/>
            <ac:spMk id="9" creationId="{87F89080-BF91-13E8-532D-6460C9C073A6}"/>
          </ac:spMkLst>
        </pc:spChg>
        <pc:spChg chg="mod">
          <ac:chgData name="Lavinia Roxana Toma" userId="763e1cba-df04-4924-ae67-02c9d011635e" providerId="ADAL" clId="{E6EE6903-4C62-42B0-9FEA-47A34BC200DD}" dt="2026-02-19T12:12:57.365" v="3827" actId="20577"/>
          <ac:spMkLst>
            <pc:docMk/>
            <pc:sldMk cId="891039080" sldId="332"/>
            <ac:spMk id="11" creationId="{4E959CB4-18AC-BA87-CB4A-C387DFFD5D62}"/>
          </ac:spMkLst>
        </pc:spChg>
      </pc:sldChg>
      <pc:sldChg chg="modSp mod">
        <pc:chgData name="Lavinia Roxana Toma" userId="763e1cba-df04-4924-ae67-02c9d011635e" providerId="ADAL" clId="{E6EE6903-4C62-42B0-9FEA-47A34BC200DD}" dt="2026-02-19T09:55:42.607" v="463" actId="20577"/>
        <pc:sldMkLst>
          <pc:docMk/>
          <pc:sldMk cId="1584921971" sldId="333"/>
        </pc:sldMkLst>
        <pc:spChg chg="mod">
          <ac:chgData name="Lavinia Roxana Toma" userId="763e1cba-df04-4924-ae67-02c9d011635e" providerId="ADAL" clId="{E6EE6903-4C62-42B0-9FEA-47A34BC200DD}" dt="2026-02-19T09:55:10.492" v="403" actId="20577"/>
          <ac:spMkLst>
            <pc:docMk/>
            <pc:sldMk cId="1584921971" sldId="333"/>
            <ac:spMk id="5" creationId="{7A679F4C-BDC7-6E0C-F3CF-5BEA5DAC2365}"/>
          </ac:spMkLst>
        </pc:spChg>
        <pc:spChg chg="mod">
          <ac:chgData name="Lavinia Roxana Toma" userId="763e1cba-df04-4924-ae67-02c9d011635e" providerId="ADAL" clId="{E6EE6903-4C62-42B0-9FEA-47A34BC200DD}" dt="2026-02-19T09:55:42.607" v="463" actId="20577"/>
          <ac:spMkLst>
            <pc:docMk/>
            <pc:sldMk cId="1584921971" sldId="333"/>
            <ac:spMk id="8" creationId="{116666B7-DA04-C1D1-85E2-0E27A574DE11}"/>
          </ac:spMkLst>
        </pc:spChg>
        <pc:spChg chg="mod">
          <ac:chgData name="Lavinia Roxana Toma" userId="763e1cba-df04-4924-ae67-02c9d011635e" providerId="ADAL" clId="{E6EE6903-4C62-42B0-9FEA-47A34BC200DD}" dt="2026-02-19T09:54:58.564" v="373" actId="255"/>
          <ac:spMkLst>
            <pc:docMk/>
            <pc:sldMk cId="1584921971" sldId="333"/>
            <ac:spMk id="10" creationId="{669AF184-CCE6-4907-CAAF-EBC630C9F821}"/>
          </ac:spMkLst>
        </pc:spChg>
      </pc:sldChg>
      <pc:sldChg chg="delSp modSp mod">
        <pc:chgData name="Lavinia Roxana Toma" userId="763e1cba-df04-4924-ae67-02c9d011635e" providerId="ADAL" clId="{E6EE6903-4C62-42B0-9FEA-47A34BC200DD}" dt="2026-02-19T10:09:44.449" v="1283"/>
        <pc:sldMkLst>
          <pc:docMk/>
          <pc:sldMk cId="1665246336" sldId="334"/>
        </pc:sldMkLst>
        <pc:spChg chg="mod">
          <ac:chgData name="Lavinia Roxana Toma" userId="763e1cba-df04-4924-ae67-02c9d011635e" providerId="ADAL" clId="{E6EE6903-4C62-42B0-9FEA-47A34BC200DD}" dt="2026-02-19T10:06:22.766" v="1180" actId="20577"/>
          <ac:spMkLst>
            <pc:docMk/>
            <pc:sldMk cId="1665246336" sldId="334"/>
            <ac:spMk id="4" creationId="{A463AF93-52AE-7E72-E32A-0BF851D7E839}"/>
          </ac:spMkLst>
        </pc:spChg>
        <pc:spChg chg="del mod">
          <ac:chgData name="Lavinia Roxana Toma" userId="763e1cba-df04-4924-ae67-02c9d011635e" providerId="ADAL" clId="{E6EE6903-4C62-42B0-9FEA-47A34BC200DD}" dt="2026-02-19T10:09:44.449" v="1283"/>
          <ac:spMkLst>
            <pc:docMk/>
            <pc:sldMk cId="1665246336" sldId="334"/>
            <ac:spMk id="6" creationId="{CD0FEEE2-53E4-39A4-F659-E212B54DA047}"/>
          </ac:spMkLst>
        </pc:spChg>
        <pc:spChg chg="mod">
          <ac:chgData name="Lavinia Roxana Toma" userId="763e1cba-df04-4924-ae67-02c9d011635e" providerId="ADAL" clId="{E6EE6903-4C62-42B0-9FEA-47A34BC200DD}" dt="2026-02-19T10:08:56.963" v="1229" actId="20577"/>
          <ac:spMkLst>
            <pc:docMk/>
            <pc:sldMk cId="1665246336" sldId="334"/>
            <ac:spMk id="9" creationId="{37E5F6CD-307C-3F85-D9FE-C489374FD16A}"/>
          </ac:spMkLst>
        </pc:spChg>
        <pc:spChg chg="mod">
          <ac:chgData name="Lavinia Roxana Toma" userId="763e1cba-df04-4924-ae67-02c9d011635e" providerId="ADAL" clId="{E6EE6903-4C62-42B0-9FEA-47A34BC200DD}" dt="2026-02-19T10:09:42.984" v="1281" actId="20577"/>
          <ac:spMkLst>
            <pc:docMk/>
            <pc:sldMk cId="1665246336" sldId="334"/>
            <ac:spMk id="10" creationId="{D4EA5969-6391-9C11-A386-E985DD758FB1}"/>
          </ac:spMkLst>
        </pc:spChg>
      </pc:sldChg>
      <pc:sldChg chg="modSp mod">
        <pc:chgData name="Lavinia Roxana Toma" userId="763e1cba-df04-4924-ae67-02c9d011635e" providerId="ADAL" clId="{E6EE6903-4C62-42B0-9FEA-47A34BC200DD}" dt="2026-02-19T10:10:34.082" v="1382" actId="1076"/>
        <pc:sldMkLst>
          <pc:docMk/>
          <pc:sldMk cId="570627106" sldId="335"/>
        </pc:sldMkLst>
        <pc:spChg chg="mod">
          <ac:chgData name="Lavinia Roxana Toma" userId="763e1cba-df04-4924-ae67-02c9d011635e" providerId="ADAL" clId="{E6EE6903-4C62-42B0-9FEA-47A34BC200DD}" dt="2026-02-19T10:10:34.082" v="1382" actId="1076"/>
          <ac:spMkLst>
            <pc:docMk/>
            <pc:sldMk cId="570627106" sldId="335"/>
            <ac:spMk id="4" creationId="{92C1249B-E693-195F-B5EF-6E7F237AB66B}"/>
          </ac:spMkLst>
        </pc:spChg>
        <pc:spChg chg="mod">
          <ac:chgData name="Lavinia Roxana Toma" userId="763e1cba-df04-4924-ae67-02c9d011635e" providerId="ADAL" clId="{E6EE6903-4C62-42B0-9FEA-47A34BC200DD}" dt="2026-02-19T10:10:09.382" v="1314" actId="20577"/>
          <ac:spMkLst>
            <pc:docMk/>
            <pc:sldMk cId="570627106" sldId="335"/>
            <ac:spMk id="6" creationId="{8A96BE19-3785-1ABC-CC81-DF7FEE450D6B}"/>
          </ac:spMkLst>
        </pc:spChg>
        <pc:spChg chg="mod">
          <ac:chgData name="Lavinia Roxana Toma" userId="763e1cba-df04-4924-ae67-02c9d011635e" providerId="ADAL" clId="{E6EE6903-4C62-42B0-9FEA-47A34BC200DD}" dt="2026-02-19T10:10:16.516" v="1344" actId="20577"/>
          <ac:spMkLst>
            <pc:docMk/>
            <pc:sldMk cId="570627106" sldId="335"/>
            <ac:spMk id="18" creationId="{C5967B13-5B3F-1B46-FD67-CFB2A9E03215}"/>
          </ac:spMkLst>
        </pc:spChg>
      </pc:sldChg>
      <pc:sldChg chg="modSp mod modAnim">
        <pc:chgData name="Lavinia Roxana Toma" userId="763e1cba-df04-4924-ae67-02c9d011635e" providerId="ADAL" clId="{E6EE6903-4C62-42B0-9FEA-47A34BC200DD}" dt="2026-02-19T09:52:44.547" v="254" actId="20577"/>
        <pc:sldMkLst>
          <pc:docMk/>
          <pc:sldMk cId="0" sldId="336"/>
        </pc:sldMkLst>
        <pc:spChg chg="mod">
          <ac:chgData name="Lavinia Roxana Toma" userId="763e1cba-df04-4924-ae67-02c9d011635e" providerId="ADAL" clId="{E6EE6903-4C62-42B0-9FEA-47A34BC200DD}" dt="2026-02-19T09:52:44.547" v="254" actId="20577"/>
          <ac:spMkLst>
            <pc:docMk/>
            <pc:sldMk cId="0" sldId="336"/>
            <ac:spMk id="6147" creationId="{00000000-0000-0000-0000-000000000000}"/>
          </ac:spMkLst>
        </pc:spChg>
        <pc:spChg chg="mod">
          <ac:chgData name="Lavinia Roxana Toma" userId="763e1cba-df04-4924-ae67-02c9d011635e" providerId="ADAL" clId="{E6EE6903-4C62-42B0-9FEA-47A34BC200DD}" dt="2026-02-19T09:47:16.493" v="78" actId="20577"/>
          <ac:spMkLst>
            <pc:docMk/>
            <pc:sldMk cId="0" sldId="336"/>
            <ac:spMk id="7170" creationId="{00000000-0000-0000-0000-000000000000}"/>
          </ac:spMkLst>
        </pc:spChg>
      </pc:sldChg>
      <pc:sldChg chg="modSp mod">
        <pc:chgData name="Lavinia Roxana Toma" userId="763e1cba-df04-4924-ae67-02c9d011635e" providerId="ADAL" clId="{E6EE6903-4C62-42B0-9FEA-47A34BC200DD}" dt="2026-02-19T09:53:52.199" v="306" actId="20577"/>
        <pc:sldMkLst>
          <pc:docMk/>
          <pc:sldMk cId="0" sldId="337"/>
        </pc:sldMkLst>
        <pc:spChg chg="mod">
          <ac:chgData name="Lavinia Roxana Toma" userId="763e1cba-df04-4924-ae67-02c9d011635e" providerId="ADAL" clId="{E6EE6903-4C62-42B0-9FEA-47A34BC200DD}" dt="2026-02-19T09:53:52.199" v="306" actId="20577"/>
          <ac:spMkLst>
            <pc:docMk/>
            <pc:sldMk cId="0" sldId="337"/>
            <ac:spMk id="8194" creationId="{00000000-0000-0000-0000-000000000000}"/>
          </ac:spMkLst>
        </pc:spChg>
      </pc:sldChg>
      <pc:sldChg chg="modSp mod">
        <pc:chgData name="Lavinia Roxana Toma" userId="763e1cba-df04-4924-ae67-02c9d011635e" providerId="ADAL" clId="{E6EE6903-4C62-42B0-9FEA-47A34BC200DD}" dt="2026-02-19T10:13:12.667" v="1563" actId="20577"/>
        <pc:sldMkLst>
          <pc:docMk/>
          <pc:sldMk cId="982309572" sldId="338"/>
        </pc:sldMkLst>
        <pc:spChg chg="mod">
          <ac:chgData name="Lavinia Roxana Toma" userId="763e1cba-df04-4924-ae67-02c9d011635e" providerId="ADAL" clId="{E6EE6903-4C62-42B0-9FEA-47A34BC200DD}" dt="2026-02-19T10:11:51.968" v="1525" actId="20577"/>
          <ac:spMkLst>
            <pc:docMk/>
            <pc:sldMk cId="982309572" sldId="338"/>
            <ac:spMk id="4" creationId="{FE635310-73DF-9AFF-2F11-05FEE6539A0E}"/>
          </ac:spMkLst>
        </pc:spChg>
        <pc:spChg chg="mod">
          <ac:chgData name="Lavinia Roxana Toma" userId="763e1cba-df04-4924-ae67-02c9d011635e" providerId="ADAL" clId="{E6EE6903-4C62-42B0-9FEA-47A34BC200DD}" dt="2026-02-19T10:13:12.667" v="1563" actId="20577"/>
          <ac:spMkLst>
            <pc:docMk/>
            <pc:sldMk cId="982309572" sldId="338"/>
            <ac:spMk id="5" creationId="{80E0B2C7-ABE2-D150-BFAF-0C9BC78CA88C}"/>
          </ac:spMkLst>
        </pc:spChg>
        <pc:spChg chg="mod">
          <ac:chgData name="Lavinia Roxana Toma" userId="763e1cba-df04-4924-ae67-02c9d011635e" providerId="ADAL" clId="{E6EE6903-4C62-42B0-9FEA-47A34BC200DD}" dt="2026-02-19T10:12:01.360" v="1555" actId="20577"/>
          <ac:spMkLst>
            <pc:docMk/>
            <pc:sldMk cId="982309572" sldId="338"/>
            <ac:spMk id="8" creationId="{8A4602B7-FFB6-B389-E284-06EB10215322}"/>
          </ac:spMkLst>
        </pc:spChg>
      </pc:sldChg>
      <pc:sldChg chg="modSp modAnim">
        <pc:chgData name="Lavinia Roxana Toma" userId="763e1cba-df04-4924-ae67-02c9d011635e" providerId="ADAL" clId="{E6EE6903-4C62-42B0-9FEA-47A34BC200DD}" dt="2026-02-19T10:01:24.829" v="842" actId="1076"/>
        <pc:sldMkLst>
          <pc:docMk/>
          <pc:sldMk cId="0" sldId="339"/>
        </pc:sldMkLst>
        <pc:spChg chg="mod">
          <ac:chgData name="Lavinia Roxana Toma" userId="763e1cba-df04-4924-ae67-02c9d011635e" providerId="ADAL" clId="{E6EE6903-4C62-42B0-9FEA-47A34BC200DD}" dt="2026-02-19T10:01:24.829" v="842" actId="1076"/>
          <ac:spMkLst>
            <pc:docMk/>
            <pc:sldMk cId="0" sldId="339"/>
            <ac:spMk id="2" creationId="{346CE5A7-B720-D41C-CAE3-355E235E2884}"/>
          </ac:spMkLst>
        </pc:spChg>
        <pc:spChg chg="mod">
          <ac:chgData name="Lavinia Roxana Toma" userId="763e1cba-df04-4924-ae67-02c9d011635e" providerId="ADAL" clId="{E6EE6903-4C62-42B0-9FEA-47A34BC200DD}" dt="2026-02-19T10:00:06.591" v="672" actId="1076"/>
          <ac:spMkLst>
            <pc:docMk/>
            <pc:sldMk cId="0" sldId="339"/>
            <ac:spMk id="3" creationId="{E17A2439-76B8-BAC4-6B83-EFF5EBBB16A8}"/>
          </ac:spMkLst>
        </pc:spChg>
        <pc:spChg chg="mod">
          <ac:chgData name="Lavinia Roxana Toma" userId="763e1cba-df04-4924-ae67-02c9d011635e" providerId="ADAL" clId="{E6EE6903-4C62-42B0-9FEA-47A34BC200DD}" dt="2026-02-19T10:01:13.974" v="841" actId="20577"/>
          <ac:spMkLst>
            <pc:docMk/>
            <pc:sldMk cId="0" sldId="339"/>
            <ac:spMk id="23" creationId="{00000000-0000-0000-0000-000000000000}"/>
          </ac:spMkLst>
        </pc:spChg>
        <pc:spChg chg="mod">
          <ac:chgData name="Lavinia Roxana Toma" userId="763e1cba-df04-4924-ae67-02c9d011635e" providerId="ADAL" clId="{E6EE6903-4C62-42B0-9FEA-47A34BC200DD}" dt="2026-02-19T09:59:53.635" v="668" actId="20577"/>
          <ac:spMkLst>
            <pc:docMk/>
            <pc:sldMk cId="0" sldId="339"/>
            <ac:spMk id="10242" creationId="{00000000-0000-0000-0000-000000000000}"/>
          </ac:spMkLst>
        </pc:spChg>
      </pc:sldChg>
      <pc:sldChg chg="modSp mod modAnim">
        <pc:chgData name="Lavinia Roxana Toma" userId="763e1cba-df04-4924-ae67-02c9d011635e" providerId="ADAL" clId="{E6EE6903-4C62-42B0-9FEA-47A34BC200DD}" dt="2026-02-19T10:04:37.492" v="1041" actId="255"/>
        <pc:sldMkLst>
          <pc:docMk/>
          <pc:sldMk cId="0" sldId="340"/>
        </pc:sldMkLst>
        <pc:spChg chg="mod">
          <ac:chgData name="Lavinia Roxana Toma" userId="763e1cba-df04-4924-ae67-02c9d011635e" providerId="ADAL" clId="{E6EE6903-4C62-42B0-9FEA-47A34BC200DD}" dt="2026-02-19T10:04:37.492" v="1041" actId="255"/>
          <ac:spMkLst>
            <pc:docMk/>
            <pc:sldMk cId="0" sldId="340"/>
            <ac:spMk id="25" creationId="{00000000-0000-0000-0000-000000000000}"/>
          </ac:spMkLst>
        </pc:spChg>
        <pc:spChg chg="mod">
          <ac:chgData name="Lavinia Roxana Toma" userId="763e1cba-df04-4924-ae67-02c9d011635e" providerId="ADAL" clId="{E6EE6903-4C62-42B0-9FEA-47A34BC200DD}" dt="2026-02-19T10:02:05.692" v="873" actId="20577"/>
          <ac:spMkLst>
            <pc:docMk/>
            <pc:sldMk cId="0" sldId="340"/>
            <ac:spMk id="11266" creationId="{00000000-0000-0000-0000-000000000000}"/>
          </ac:spMkLst>
        </pc:spChg>
      </pc:sldChg>
      <pc:sldChg chg="modSp mod modAnim">
        <pc:chgData name="Lavinia Roxana Toma" userId="763e1cba-df04-4924-ae67-02c9d011635e" providerId="ADAL" clId="{E6EE6903-4C62-42B0-9FEA-47A34BC200DD}" dt="2026-02-19T10:20:20.451" v="2191" actId="255"/>
        <pc:sldMkLst>
          <pc:docMk/>
          <pc:sldMk cId="0" sldId="342"/>
        </pc:sldMkLst>
        <pc:spChg chg="mod">
          <ac:chgData name="Lavinia Roxana Toma" userId="763e1cba-df04-4924-ae67-02c9d011635e" providerId="ADAL" clId="{E6EE6903-4C62-42B0-9FEA-47A34BC200DD}" dt="2026-02-19T10:19:03.194" v="2179" actId="20577"/>
          <ac:spMkLst>
            <pc:docMk/>
            <pc:sldMk cId="0" sldId="342"/>
            <ac:spMk id="12290" creationId="{00000000-0000-0000-0000-000000000000}"/>
          </ac:spMkLst>
        </pc:spChg>
        <pc:spChg chg="mod">
          <ac:chgData name="Lavinia Roxana Toma" userId="763e1cba-df04-4924-ae67-02c9d011635e" providerId="ADAL" clId="{E6EE6903-4C62-42B0-9FEA-47A34BC200DD}" dt="2026-02-19T10:20:20.451" v="2191" actId="255"/>
          <ac:spMkLst>
            <pc:docMk/>
            <pc:sldMk cId="0" sldId="342"/>
            <ac:spMk id="12291" creationId="{00000000-0000-0000-0000-000000000000}"/>
          </ac:spMkLst>
        </pc:spChg>
      </pc:sldChg>
      <pc:sldChg chg="modSp mod modAnim">
        <pc:chgData name="Lavinia Roxana Toma" userId="763e1cba-df04-4924-ae67-02c9d011635e" providerId="ADAL" clId="{E6EE6903-4C62-42B0-9FEA-47A34BC200DD}" dt="2026-02-19T10:22:40.846" v="2265" actId="113"/>
        <pc:sldMkLst>
          <pc:docMk/>
          <pc:sldMk cId="0" sldId="343"/>
        </pc:sldMkLst>
        <pc:spChg chg="mod">
          <ac:chgData name="Lavinia Roxana Toma" userId="763e1cba-df04-4924-ae67-02c9d011635e" providerId="ADAL" clId="{E6EE6903-4C62-42B0-9FEA-47A34BC200DD}" dt="2026-02-19T10:22:06.387" v="2261" actId="20577"/>
          <ac:spMkLst>
            <pc:docMk/>
            <pc:sldMk cId="0" sldId="343"/>
            <ac:spMk id="13314" creationId="{00000000-0000-0000-0000-000000000000}"/>
          </ac:spMkLst>
        </pc:spChg>
        <pc:spChg chg="mod">
          <ac:chgData name="Lavinia Roxana Toma" userId="763e1cba-df04-4924-ae67-02c9d011635e" providerId="ADAL" clId="{E6EE6903-4C62-42B0-9FEA-47A34BC200DD}" dt="2026-02-19T10:22:40.846" v="2265" actId="113"/>
          <ac:spMkLst>
            <pc:docMk/>
            <pc:sldMk cId="0" sldId="343"/>
            <ac:spMk id="13315" creationId="{00000000-0000-0000-0000-000000000000}"/>
          </ac:spMkLst>
        </pc:spChg>
      </pc:sldChg>
      <pc:sldChg chg="modSp mod modAnim">
        <pc:chgData name="Lavinia Roxana Toma" userId="763e1cba-df04-4924-ae67-02c9d011635e" providerId="ADAL" clId="{E6EE6903-4C62-42B0-9FEA-47A34BC200DD}" dt="2026-02-19T10:24:03.593" v="2332" actId="1076"/>
        <pc:sldMkLst>
          <pc:docMk/>
          <pc:sldMk cId="0" sldId="344"/>
        </pc:sldMkLst>
        <pc:spChg chg="mod">
          <ac:chgData name="Lavinia Roxana Toma" userId="763e1cba-df04-4924-ae67-02c9d011635e" providerId="ADAL" clId="{E6EE6903-4C62-42B0-9FEA-47A34BC200DD}" dt="2026-02-19T10:23:17.011" v="2329" actId="20577"/>
          <ac:spMkLst>
            <pc:docMk/>
            <pc:sldMk cId="0" sldId="344"/>
            <ac:spMk id="14338" creationId="{00000000-0000-0000-0000-000000000000}"/>
          </ac:spMkLst>
        </pc:spChg>
        <pc:spChg chg="mod">
          <ac:chgData name="Lavinia Roxana Toma" userId="763e1cba-df04-4924-ae67-02c9d011635e" providerId="ADAL" clId="{E6EE6903-4C62-42B0-9FEA-47A34BC200DD}" dt="2026-02-19T10:24:03.593" v="2332" actId="1076"/>
          <ac:spMkLst>
            <pc:docMk/>
            <pc:sldMk cId="0" sldId="344"/>
            <ac:spMk id="14339" creationId="{00000000-0000-0000-0000-000000000000}"/>
          </ac:spMkLst>
        </pc:spChg>
      </pc:sldChg>
      <pc:sldChg chg="modSp mod modAnim">
        <pc:chgData name="Lavinia Roxana Toma" userId="763e1cba-df04-4924-ae67-02c9d011635e" providerId="ADAL" clId="{E6EE6903-4C62-42B0-9FEA-47A34BC200DD}" dt="2026-02-19T10:31:11.192" v="2423" actId="255"/>
        <pc:sldMkLst>
          <pc:docMk/>
          <pc:sldMk cId="0" sldId="345"/>
        </pc:sldMkLst>
        <pc:spChg chg="mod">
          <ac:chgData name="Lavinia Roxana Toma" userId="763e1cba-df04-4924-ae67-02c9d011635e" providerId="ADAL" clId="{E6EE6903-4C62-42B0-9FEA-47A34BC200DD}" dt="2026-02-19T10:30:48.579" v="2414" actId="20577"/>
          <ac:spMkLst>
            <pc:docMk/>
            <pc:sldMk cId="0" sldId="345"/>
            <ac:spMk id="15362" creationId="{00000000-0000-0000-0000-000000000000}"/>
          </ac:spMkLst>
        </pc:spChg>
        <pc:spChg chg="mod">
          <ac:chgData name="Lavinia Roxana Toma" userId="763e1cba-df04-4924-ae67-02c9d011635e" providerId="ADAL" clId="{E6EE6903-4C62-42B0-9FEA-47A34BC200DD}" dt="2026-02-19T10:31:11.192" v="2423" actId="255"/>
          <ac:spMkLst>
            <pc:docMk/>
            <pc:sldMk cId="0" sldId="345"/>
            <ac:spMk id="15363" creationId="{00000000-0000-0000-0000-000000000000}"/>
          </ac:spMkLst>
        </pc:spChg>
      </pc:sldChg>
      <pc:sldChg chg="modSp mod modAnim">
        <pc:chgData name="Lavinia Roxana Toma" userId="763e1cba-df04-4924-ae67-02c9d011635e" providerId="ADAL" clId="{E6EE6903-4C62-42B0-9FEA-47A34BC200DD}" dt="2026-02-19T10:35:25.961" v="2484" actId="20577"/>
        <pc:sldMkLst>
          <pc:docMk/>
          <pc:sldMk cId="0" sldId="346"/>
        </pc:sldMkLst>
        <pc:spChg chg="mod">
          <ac:chgData name="Lavinia Roxana Toma" userId="763e1cba-df04-4924-ae67-02c9d011635e" providerId="ADAL" clId="{E6EE6903-4C62-42B0-9FEA-47A34BC200DD}" dt="2026-02-19T10:35:25.961" v="2484" actId="20577"/>
          <ac:spMkLst>
            <pc:docMk/>
            <pc:sldMk cId="0" sldId="346"/>
            <ac:spMk id="6147" creationId="{00000000-0000-0000-0000-000000000000}"/>
          </ac:spMkLst>
        </pc:spChg>
        <pc:spChg chg="mod">
          <ac:chgData name="Lavinia Roxana Toma" userId="763e1cba-df04-4924-ae67-02c9d011635e" providerId="ADAL" clId="{E6EE6903-4C62-42B0-9FEA-47A34BC200DD}" dt="2026-02-19T10:34:25.008" v="2427" actId="113"/>
          <ac:spMkLst>
            <pc:docMk/>
            <pc:sldMk cId="0" sldId="346"/>
            <ac:spMk id="16386" creationId="{00000000-0000-0000-0000-000000000000}"/>
          </ac:spMkLst>
        </pc:spChg>
      </pc:sldChg>
      <pc:sldChg chg="modSp mod">
        <pc:chgData name="Lavinia Roxana Toma" userId="763e1cba-df04-4924-ae67-02c9d011635e" providerId="ADAL" clId="{E6EE6903-4C62-42B0-9FEA-47A34BC200DD}" dt="2026-02-19T11:46:21.089" v="2701" actId="20577"/>
        <pc:sldMkLst>
          <pc:docMk/>
          <pc:sldMk cId="0" sldId="347"/>
        </pc:sldMkLst>
        <pc:spChg chg="mod">
          <ac:chgData name="Lavinia Roxana Toma" userId="763e1cba-df04-4924-ae67-02c9d011635e" providerId="ADAL" clId="{E6EE6903-4C62-42B0-9FEA-47A34BC200DD}" dt="2026-02-19T10:36:50.896" v="2547" actId="20577"/>
          <ac:spMkLst>
            <pc:docMk/>
            <pc:sldMk cId="0" sldId="347"/>
            <ac:spMk id="17410" creationId="{00000000-0000-0000-0000-000000000000}"/>
          </ac:spMkLst>
        </pc:spChg>
        <pc:spChg chg="mod">
          <ac:chgData name="Lavinia Roxana Toma" userId="763e1cba-df04-4924-ae67-02c9d011635e" providerId="ADAL" clId="{E6EE6903-4C62-42B0-9FEA-47A34BC200DD}" dt="2026-02-19T11:46:21.089" v="2701" actId="20577"/>
          <ac:spMkLst>
            <pc:docMk/>
            <pc:sldMk cId="0" sldId="347"/>
            <ac:spMk id="17411" creationId="{00000000-0000-0000-0000-000000000000}"/>
          </ac:spMkLst>
        </pc:spChg>
      </pc:sldChg>
      <pc:sldChg chg="modSp mod modAnim">
        <pc:chgData name="Lavinia Roxana Toma" userId="763e1cba-df04-4924-ae67-02c9d011635e" providerId="ADAL" clId="{E6EE6903-4C62-42B0-9FEA-47A34BC200DD}" dt="2026-02-19T11:54:44.302" v="2938" actId="255"/>
        <pc:sldMkLst>
          <pc:docMk/>
          <pc:sldMk cId="18891644" sldId="364"/>
        </pc:sldMkLst>
        <pc:spChg chg="mod">
          <ac:chgData name="Lavinia Roxana Toma" userId="763e1cba-df04-4924-ae67-02c9d011635e" providerId="ADAL" clId="{E6EE6903-4C62-42B0-9FEA-47A34BC200DD}" dt="2026-02-19T11:53:55.658" v="2877" actId="207"/>
          <ac:spMkLst>
            <pc:docMk/>
            <pc:sldMk cId="18891644" sldId="364"/>
            <ac:spMk id="17410" creationId="{00000000-0000-0000-0000-000000000000}"/>
          </ac:spMkLst>
        </pc:spChg>
        <pc:spChg chg="mod">
          <ac:chgData name="Lavinia Roxana Toma" userId="763e1cba-df04-4924-ae67-02c9d011635e" providerId="ADAL" clId="{E6EE6903-4C62-42B0-9FEA-47A34BC200DD}" dt="2026-02-19T11:54:44.302" v="2938" actId="255"/>
          <ac:spMkLst>
            <pc:docMk/>
            <pc:sldMk cId="18891644" sldId="364"/>
            <ac:spMk id="17411" creationId="{00000000-0000-0000-0000-000000000000}"/>
          </ac:spMkLst>
        </pc:spChg>
      </pc:sldChg>
      <pc:sldChg chg="modSp mod">
        <pc:chgData name="Lavinia Roxana Toma" userId="763e1cba-df04-4924-ae67-02c9d011635e" providerId="ADAL" clId="{E6EE6903-4C62-42B0-9FEA-47A34BC200DD}" dt="2026-02-19T11:49:34.229" v="2770" actId="20577"/>
        <pc:sldMkLst>
          <pc:docMk/>
          <pc:sldMk cId="253687386" sldId="365"/>
        </pc:sldMkLst>
        <pc:spChg chg="mod">
          <ac:chgData name="Lavinia Roxana Toma" userId="763e1cba-df04-4924-ae67-02c9d011635e" providerId="ADAL" clId="{E6EE6903-4C62-42B0-9FEA-47A34BC200DD}" dt="2026-02-19T11:47:43.427" v="2759" actId="20577"/>
          <ac:spMkLst>
            <pc:docMk/>
            <pc:sldMk cId="253687386" sldId="365"/>
            <ac:spMk id="17410" creationId="{00000000-0000-0000-0000-000000000000}"/>
          </ac:spMkLst>
        </pc:spChg>
        <pc:spChg chg="mod">
          <ac:chgData name="Lavinia Roxana Toma" userId="763e1cba-df04-4924-ae67-02c9d011635e" providerId="ADAL" clId="{E6EE6903-4C62-42B0-9FEA-47A34BC200DD}" dt="2026-02-19T11:49:34.229" v="2770" actId="20577"/>
          <ac:spMkLst>
            <pc:docMk/>
            <pc:sldMk cId="253687386" sldId="365"/>
            <ac:spMk id="17411" creationId="{00000000-0000-0000-0000-000000000000}"/>
          </ac:spMkLst>
        </pc:spChg>
      </pc:sldChg>
      <pc:sldChg chg="modSp mod">
        <pc:chgData name="Lavinia Roxana Toma" userId="763e1cba-df04-4924-ae67-02c9d011635e" providerId="ADAL" clId="{E6EE6903-4C62-42B0-9FEA-47A34BC200DD}" dt="2026-02-19T11:51:12.434" v="2817" actId="5793"/>
        <pc:sldMkLst>
          <pc:docMk/>
          <pc:sldMk cId="2065703329" sldId="366"/>
        </pc:sldMkLst>
        <pc:spChg chg="mod">
          <ac:chgData name="Lavinia Roxana Toma" userId="763e1cba-df04-4924-ae67-02c9d011635e" providerId="ADAL" clId="{E6EE6903-4C62-42B0-9FEA-47A34BC200DD}" dt="2026-02-19T11:50:23.756" v="2805" actId="20577"/>
          <ac:spMkLst>
            <pc:docMk/>
            <pc:sldMk cId="2065703329" sldId="366"/>
            <ac:spMk id="17410" creationId="{00000000-0000-0000-0000-000000000000}"/>
          </ac:spMkLst>
        </pc:spChg>
        <pc:spChg chg="mod">
          <ac:chgData name="Lavinia Roxana Toma" userId="763e1cba-df04-4924-ae67-02c9d011635e" providerId="ADAL" clId="{E6EE6903-4C62-42B0-9FEA-47A34BC200DD}" dt="2026-02-19T11:51:12.434" v="2817" actId="5793"/>
          <ac:spMkLst>
            <pc:docMk/>
            <pc:sldMk cId="2065703329" sldId="366"/>
            <ac:spMk id="17411" creationId="{00000000-0000-0000-0000-000000000000}"/>
          </ac:spMkLst>
        </pc:spChg>
      </pc:sldChg>
      <pc:sldChg chg="modSp mod">
        <pc:chgData name="Lavinia Roxana Toma" userId="763e1cba-df04-4924-ae67-02c9d011635e" providerId="ADAL" clId="{E6EE6903-4C62-42B0-9FEA-47A34BC200DD}" dt="2026-02-19T11:52:44.195" v="2874" actId="20577"/>
        <pc:sldMkLst>
          <pc:docMk/>
          <pc:sldMk cId="2314077087" sldId="367"/>
        </pc:sldMkLst>
        <pc:spChg chg="mod">
          <ac:chgData name="Lavinia Roxana Toma" userId="763e1cba-df04-4924-ae67-02c9d011635e" providerId="ADAL" clId="{E6EE6903-4C62-42B0-9FEA-47A34BC200DD}" dt="2026-02-19T11:51:36.687" v="2852" actId="20577"/>
          <ac:spMkLst>
            <pc:docMk/>
            <pc:sldMk cId="2314077087" sldId="367"/>
            <ac:spMk id="17410" creationId="{00000000-0000-0000-0000-000000000000}"/>
          </ac:spMkLst>
        </pc:spChg>
        <pc:spChg chg="mod">
          <ac:chgData name="Lavinia Roxana Toma" userId="763e1cba-df04-4924-ae67-02c9d011635e" providerId="ADAL" clId="{E6EE6903-4C62-42B0-9FEA-47A34BC200DD}" dt="2026-02-19T11:52:44.195" v="2874" actId="20577"/>
          <ac:spMkLst>
            <pc:docMk/>
            <pc:sldMk cId="2314077087" sldId="367"/>
            <ac:spMk id="17411" creationId="{00000000-0000-0000-0000-000000000000}"/>
          </ac:spMkLst>
        </pc:spChg>
      </pc:sldChg>
      <pc:sldChg chg="modSp mod">
        <pc:chgData name="Lavinia Roxana Toma" userId="763e1cba-df04-4924-ae67-02c9d011635e" providerId="ADAL" clId="{E6EE6903-4C62-42B0-9FEA-47A34BC200DD}" dt="2026-02-19T10:06:04.021" v="1143" actId="14100"/>
        <pc:sldMkLst>
          <pc:docMk/>
          <pc:sldMk cId="1664762371" sldId="370"/>
        </pc:sldMkLst>
        <pc:spChg chg="mod">
          <ac:chgData name="Lavinia Roxana Toma" userId="763e1cba-df04-4924-ae67-02c9d011635e" providerId="ADAL" clId="{E6EE6903-4C62-42B0-9FEA-47A34BC200DD}" dt="2026-02-19T10:04:55.329" v="1076" actId="20577"/>
          <ac:spMkLst>
            <pc:docMk/>
            <pc:sldMk cId="1664762371" sldId="370"/>
            <ac:spMk id="5" creationId="{935C9935-D211-4AE6-78E4-530ED8977C66}"/>
          </ac:spMkLst>
        </pc:spChg>
        <pc:spChg chg="mod">
          <ac:chgData name="Lavinia Roxana Toma" userId="763e1cba-df04-4924-ae67-02c9d011635e" providerId="ADAL" clId="{E6EE6903-4C62-42B0-9FEA-47A34BC200DD}" dt="2026-02-19T10:05:04.827" v="1110" actId="20577"/>
          <ac:spMkLst>
            <pc:docMk/>
            <pc:sldMk cId="1664762371" sldId="370"/>
            <ac:spMk id="11" creationId="{7452932B-9154-FD47-DB55-4E8803335EB3}"/>
          </ac:spMkLst>
        </pc:spChg>
        <pc:spChg chg="mod">
          <ac:chgData name="Lavinia Roxana Toma" userId="763e1cba-df04-4924-ae67-02c9d011635e" providerId="ADAL" clId="{E6EE6903-4C62-42B0-9FEA-47A34BC200DD}" dt="2026-02-19T10:06:04.021" v="1143" actId="14100"/>
          <ac:spMkLst>
            <pc:docMk/>
            <pc:sldMk cId="1664762371" sldId="370"/>
            <ac:spMk id="12" creationId="{87956943-2383-6F4B-17A6-DF26D955F703}"/>
          </ac:spMkLst>
        </pc:spChg>
      </pc:sldChg>
      <pc:sldChg chg="modSp mod">
        <pc:chgData name="Lavinia Roxana Toma" userId="763e1cba-df04-4924-ae67-02c9d011635e" providerId="ADAL" clId="{E6EE6903-4C62-42B0-9FEA-47A34BC200DD}" dt="2026-02-19T10:11:28.413" v="1494"/>
        <pc:sldMkLst>
          <pc:docMk/>
          <pc:sldMk cId="2617828799" sldId="371"/>
        </pc:sldMkLst>
        <pc:spChg chg="mod">
          <ac:chgData name="Lavinia Roxana Toma" userId="763e1cba-df04-4924-ae67-02c9d011635e" providerId="ADAL" clId="{E6EE6903-4C62-42B0-9FEA-47A34BC200DD}" dt="2026-02-19T10:11:28.413" v="1494"/>
          <ac:spMkLst>
            <pc:docMk/>
            <pc:sldMk cId="2617828799" sldId="371"/>
            <ac:spMk id="7" creationId="{611E9164-32FB-4F9A-0D46-3206272B66E5}"/>
          </ac:spMkLst>
        </pc:spChg>
        <pc:spChg chg="mod">
          <ac:chgData name="Lavinia Roxana Toma" userId="763e1cba-df04-4924-ae67-02c9d011635e" providerId="ADAL" clId="{E6EE6903-4C62-42B0-9FEA-47A34BC200DD}" dt="2026-02-19T10:10:59.072" v="1443" actId="20577"/>
          <ac:spMkLst>
            <pc:docMk/>
            <pc:sldMk cId="2617828799" sldId="371"/>
            <ac:spMk id="11" creationId="{187C1930-2F4A-48F0-81A2-030486214F5E}"/>
          </ac:spMkLst>
        </pc:spChg>
        <pc:spChg chg="mod">
          <ac:chgData name="Lavinia Roxana Toma" userId="763e1cba-df04-4924-ae67-02c9d011635e" providerId="ADAL" clId="{E6EE6903-4C62-42B0-9FEA-47A34BC200DD}" dt="2026-02-19T10:10:48.832" v="1413" actId="20577"/>
          <ac:spMkLst>
            <pc:docMk/>
            <pc:sldMk cId="2617828799" sldId="371"/>
            <ac:spMk id="12" creationId="{83C534F4-C5B2-776F-041E-BD5A3C05F767}"/>
          </ac:spMkLst>
        </pc:spChg>
      </pc:sldChg>
      <pc:sldChg chg="modSp mod">
        <pc:chgData name="Lavinia Roxana Toma" userId="763e1cba-df04-4924-ae67-02c9d011635e" providerId="ADAL" clId="{E6EE6903-4C62-42B0-9FEA-47A34BC200DD}" dt="2026-02-19T12:03:43.247" v="3098" actId="20577"/>
        <pc:sldMkLst>
          <pc:docMk/>
          <pc:sldMk cId="1495473523" sldId="372"/>
        </pc:sldMkLst>
        <pc:spChg chg="mod">
          <ac:chgData name="Lavinia Roxana Toma" userId="763e1cba-df04-4924-ae67-02c9d011635e" providerId="ADAL" clId="{E6EE6903-4C62-42B0-9FEA-47A34BC200DD}" dt="2026-02-19T12:03:19.992" v="3072" actId="20577"/>
          <ac:spMkLst>
            <pc:docMk/>
            <pc:sldMk cId="1495473523" sldId="372"/>
            <ac:spMk id="4" creationId="{54BE3A0C-2D8E-1BF2-552A-B6FB6D7B8837}"/>
          </ac:spMkLst>
        </pc:spChg>
        <pc:spChg chg="mod">
          <ac:chgData name="Lavinia Roxana Toma" userId="763e1cba-df04-4924-ae67-02c9d011635e" providerId="ADAL" clId="{E6EE6903-4C62-42B0-9FEA-47A34BC200DD}" dt="2026-02-19T12:03:43.247" v="3098" actId="20577"/>
          <ac:spMkLst>
            <pc:docMk/>
            <pc:sldMk cId="1495473523" sldId="372"/>
            <ac:spMk id="143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275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60800" y="0"/>
            <a:ext cx="2952750" cy="496888"/>
          </a:xfrm>
          <a:prstGeom prst="rect">
            <a:avLst/>
          </a:prstGeom>
        </p:spPr>
        <p:txBody>
          <a:bodyPr vert="horz" lIns="91440" tIns="45720" rIns="91440" bIns="45720" rtlCol="0"/>
          <a:lstStyle>
            <a:lvl1pPr algn="r">
              <a:defRPr sz="1200"/>
            </a:lvl1pPr>
          </a:lstStyle>
          <a:p>
            <a:fld id="{252A8B2F-8A7B-47D6-AD29-2FDCB473C5A8}" type="datetimeFigureOut">
              <a:rPr lang="en-US" smtClean="0"/>
              <a:t>2/19/2026</a:t>
            </a:fld>
            <a:endParaRPr lang="en-US"/>
          </a:p>
        </p:txBody>
      </p:sp>
      <p:sp>
        <p:nvSpPr>
          <p:cNvPr id="4" name="Slide Image Placeholder 3"/>
          <p:cNvSpPr>
            <a:spLocks noGrp="1" noRot="1" noChangeAspect="1"/>
          </p:cNvSpPr>
          <p:nvPr>
            <p:ph type="sldImg" idx="2"/>
          </p:nvPr>
        </p:nvSpPr>
        <p:spPr>
          <a:xfrm>
            <a:off x="923925" y="746125"/>
            <a:ext cx="4968875" cy="3727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038" y="4722813"/>
            <a:ext cx="5453062" cy="44735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4038"/>
            <a:ext cx="2952750" cy="4968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60800" y="9444038"/>
            <a:ext cx="2952750" cy="496887"/>
          </a:xfrm>
          <a:prstGeom prst="rect">
            <a:avLst/>
          </a:prstGeom>
        </p:spPr>
        <p:txBody>
          <a:bodyPr vert="horz" lIns="91440" tIns="45720" rIns="91440" bIns="45720" rtlCol="0" anchor="b"/>
          <a:lstStyle>
            <a:lvl1pPr algn="r">
              <a:defRPr sz="1200"/>
            </a:lvl1pPr>
          </a:lstStyle>
          <a:p>
            <a:fld id="{5BD849E0-D4AD-456D-9950-B493D663DF21}" type="slidenum">
              <a:rPr lang="en-US" smtClean="0"/>
              <a:t>‹#›</a:t>
            </a:fld>
            <a:endParaRPr lang="en-US"/>
          </a:p>
        </p:txBody>
      </p:sp>
    </p:spTree>
    <p:extLst>
      <p:ext uri="{BB962C8B-B14F-4D97-AF65-F5344CB8AC3E}">
        <p14:creationId xmlns:p14="http://schemas.microsoft.com/office/powerpoint/2010/main" val="425387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5</a:t>
            </a:fld>
            <a:endParaRPr lang="en-US"/>
          </a:p>
        </p:txBody>
      </p:sp>
    </p:spTree>
    <p:extLst>
      <p:ext uri="{BB962C8B-B14F-4D97-AF65-F5344CB8AC3E}">
        <p14:creationId xmlns:p14="http://schemas.microsoft.com/office/powerpoint/2010/main" val="539216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D849E0-D4AD-456D-9950-B493D663DF21}" type="slidenum">
              <a:rPr lang="en-US" smtClean="0"/>
              <a:t>6</a:t>
            </a:fld>
            <a:endParaRPr lang="en-US"/>
          </a:p>
        </p:txBody>
      </p:sp>
    </p:spTree>
    <p:extLst>
      <p:ext uri="{BB962C8B-B14F-4D97-AF65-F5344CB8AC3E}">
        <p14:creationId xmlns:p14="http://schemas.microsoft.com/office/powerpoint/2010/main" val="462825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8</a:t>
            </a:fld>
            <a:endParaRPr lang="en-US"/>
          </a:p>
        </p:txBody>
      </p:sp>
    </p:spTree>
    <p:extLst>
      <p:ext uri="{BB962C8B-B14F-4D97-AF65-F5344CB8AC3E}">
        <p14:creationId xmlns:p14="http://schemas.microsoft.com/office/powerpoint/2010/main" val="1937982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9</a:t>
            </a:fld>
            <a:endParaRPr lang="en-US"/>
          </a:p>
        </p:txBody>
      </p:sp>
    </p:spTree>
    <p:extLst>
      <p:ext uri="{BB962C8B-B14F-4D97-AF65-F5344CB8AC3E}">
        <p14:creationId xmlns:p14="http://schemas.microsoft.com/office/powerpoint/2010/main" val="1828435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10</a:t>
            </a:fld>
            <a:endParaRPr lang="en-US"/>
          </a:p>
        </p:txBody>
      </p:sp>
    </p:spTree>
    <p:extLst>
      <p:ext uri="{BB962C8B-B14F-4D97-AF65-F5344CB8AC3E}">
        <p14:creationId xmlns:p14="http://schemas.microsoft.com/office/powerpoint/2010/main" val="1656170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11</a:t>
            </a:fld>
            <a:endParaRPr lang="en-US"/>
          </a:p>
        </p:txBody>
      </p:sp>
    </p:spTree>
    <p:extLst>
      <p:ext uri="{BB962C8B-B14F-4D97-AF65-F5344CB8AC3E}">
        <p14:creationId xmlns:p14="http://schemas.microsoft.com/office/powerpoint/2010/main" val="179014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12</a:t>
            </a:fld>
            <a:endParaRPr lang="en-US"/>
          </a:p>
        </p:txBody>
      </p:sp>
    </p:spTree>
    <p:extLst>
      <p:ext uri="{BB962C8B-B14F-4D97-AF65-F5344CB8AC3E}">
        <p14:creationId xmlns:p14="http://schemas.microsoft.com/office/powerpoint/2010/main" val="2313049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26</a:t>
            </a:fld>
            <a:endParaRPr lang="en-US"/>
          </a:p>
        </p:txBody>
      </p:sp>
    </p:spTree>
    <p:extLst>
      <p:ext uri="{BB962C8B-B14F-4D97-AF65-F5344CB8AC3E}">
        <p14:creationId xmlns:p14="http://schemas.microsoft.com/office/powerpoint/2010/main" val="2480658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27</a:t>
            </a:fld>
            <a:endParaRPr lang="en-US"/>
          </a:p>
        </p:txBody>
      </p:sp>
    </p:spTree>
    <p:extLst>
      <p:ext uri="{BB962C8B-B14F-4D97-AF65-F5344CB8AC3E}">
        <p14:creationId xmlns:p14="http://schemas.microsoft.com/office/powerpoint/2010/main" val="544417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0437-83A9-42EA-BF20-FC7DB371F87F}" type="slidenum">
              <a:rPr lang="en-US" smtClean="0"/>
              <a:t>28</a:t>
            </a:fld>
            <a:endParaRPr lang="en-US"/>
          </a:p>
        </p:txBody>
      </p:sp>
    </p:spTree>
    <p:extLst>
      <p:ext uri="{BB962C8B-B14F-4D97-AF65-F5344CB8AC3E}">
        <p14:creationId xmlns:p14="http://schemas.microsoft.com/office/powerpoint/2010/main" val="378076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10"/>
          </p:nvPr>
        </p:nvSpPr>
        <p:spPr/>
        <p:txBody>
          <a:bodyPr/>
          <a:lstStyle/>
          <a:p>
            <a:fld id="{DB685A03-5EDC-436B-B7D0-76B30F94BF23}" type="slidenum">
              <a:rPr lang="ro-RO" smtClean="0"/>
              <a:t>29</a:t>
            </a:fld>
            <a:endParaRPr lang="ro-RO"/>
          </a:p>
        </p:txBody>
      </p:sp>
    </p:spTree>
    <p:extLst>
      <p:ext uri="{BB962C8B-B14F-4D97-AF65-F5344CB8AC3E}">
        <p14:creationId xmlns:p14="http://schemas.microsoft.com/office/powerpoint/2010/main" val="3408982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p:spPr>
          <p:txBody>
            <a:bodyPr wrap="none" anchor="ct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grpSp>
      </p:grpSp>
      <p:sp>
        <p:nvSpPr>
          <p:cNvPr id="4097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noProof="0"/>
              <a:t>Click to edit Master title style</a:t>
            </a:r>
          </a:p>
        </p:txBody>
      </p:sp>
      <p:sp>
        <p:nvSpPr>
          <p:cNvPr id="4098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en-US" noProof="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pPr>
              <a:defRPr/>
            </a:pPr>
            <a:fld id="{2B08A464-CBBD-46EF-916C-F94F9142440B}" type="slidenum">
              <a:rPr lang="en-US"/>
              <a:pPr>
                <a:defRPr/>
              </a:pPr>
              <a:t>‹#›</a:t>
            </a:fld>
            <a:endParaRPr lang="en-US"/>
          </a:p>
        </p:txBody>
      </p:sp>
    </p:spTree>
    <p:extLst>
      <p:ext uri="{BB962C8B-B14F-4D97-AF65-F5344CB8AC3E}">
        <p14:creationId xmlns:p14="http://schemas.microsoft.com/office/powerpoint/2010/main" val="2828074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C99D355-B647-491B-B98A-E87E712D8DA4}"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77713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0C8C4549-F086-4B3D-85C6-A4C5C74A0F51}"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1639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EE2B9392-376C-42ED-B472-4CE3E609B5C4}"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54525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563B58B8-7ABC-487C-8AFE-82F03791E412}"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14779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6D2F6519-5001-4FF9-848F-7305CF455BB2}"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35320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2D0C2F85-2599-451F-B8B2-832600078F66}"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931316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A4286940-F289-4763-843B-976885DDEE21}"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4748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3BFEAE45-71CE-4085-82FF-11ACD501A23A}"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48924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9256AD17-FD54-4210-991F-E86B1B3F8A34}"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42406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495EC44-6F90-461D-93F9-A499A2BDB877}"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359498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44ABD4C1-8F27-4073-BDC6-F3215BB65FF9}"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887248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57200"/>
            <a:ext cx="82296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A07C64D7-A370-40E0-BD06-6004A548D690}"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27527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33262251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1527745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561502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12654002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23332185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28293737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23568102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3765407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3390034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21057452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732" y="1504366"/>
            <a:ext cx="8371268" cy="4972634"/>
          </a:xfrm>
        </p:spPr>
        <p:txBody>
          <a:bodyPr/>
          <a:lstStyle>
            <a:lvl1pPr>
              <a:defRPr sz="1800">
                <a:latin typeface="Arial" panose="020B0604020202020204" pitchFamily="34" charset="0"/>
                <a:cs typeface="Arial" panose="020B0604020202020204" pitchFamily="34" charset="0"/>
              </a:defRPr>
            </a:lvl1pPr>
            <a:lvl2pPr>
              <a:defRPr sz="1500">
                <a:latin typeface="Arial" panose="020B0604020202020204" pitchFamily="34" charset="0"/>
                <a:cs typeface="Arial" panose="020B0604020202020204" pitchFamily="34" charset="0"/>
              </a:defRPr>
            </a:lvl2pPr>
            <a:lvl3pPr>
              <a:defRPr sz="135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BEEA483-F1EC-4F77-B37F-E78F81176C40}" type="datetimeFigureOut">
              <a:rPr lang="en-US" smtClean="0"/>
              <a:pPr>
                <a:defRPr/>
              </a:pPr>
              <a:t>2/19/2026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FDEA935-13DF-4BD5-B540-01136F2C9651}" type="slidenum">
              <a:rPr lang="en-US" smtClean="0"/>
              <a:pPr>
                <a:defRPr/>
              </a:pPr>
              <a:t>‹#›</a:t>
            </a:fld>
            <a:endParaRPr lang="en-US"/>
          </a:p>
        </p:txBody>
      </p:sp>
      <p:sp>
        <p:nvSpPr>
          <p:cNvPr id="7" name="Text Placeholder 6">
            <a:extLst>
              <a:ext uri="{FF2B5EF4-FFF2-40B4-BE49-F238E27FC236}">
                <a16:creationId xmlns:a16="http://schemas.microsoft.com/office/drawing/2014/main" id="{DBF263CC-C53F-6977-3CFF-A8EB89E3DA48}"/>
              </a:ext>
            </a:extLst>
          </p:cNvPr>
          <p:cNvSpPr>
            <a:spLocks noGrp="1"/>
          </p:cNvSpPr>
          <p:nvPr>
            <p:ph type="body" sz="quarter" idx="13"/>
          </p:nvPr>
        </p:nvSpPr>
        <p:spPr>
          <a:xfrm>
            <a:off x="0" y="0"/>
            <a:ext cx="8055769" cy="1416050"/>
          </a:xfrm>
        </p:spPr>
        <p:txBody>
          <a:bodyPr anchor="ctr" anchorCtr="0"/>
          <a:lstStyle>
            <a:lvl1pPr marL="89297" indent="0">
              <a:buNone/>
              <a:defRPr sz="2100" b="1">
                <a:solidFill>
                  <a:srgbClr val="FFFF00"/>
                </a:solidFill>
                <a:latin typeface="+mj-lt"/>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173051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200">
                <a:latin typeface="+mn-lt"/>
              </a:defRPr>
            </a:lvl1pPr>
          </a:lstStyle>
          <a:p>
            <a:pPr>
              <a:defRPr/>
            </a:pPr>
            <a:endParaRPr lang="en-US"/>
          </a:p>
        </p:txBody>
      </p:sp>
      <p:sp>
        <p:nvSpPr>
          <p:cNvPr id="39939" name="Rectangle 3"/>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defRPr>
            </a:lvl1pPr>
          </a:lstStyle>
          <a:p>
            <a:pPr>
              <a:defRPr/>
            </a:pPr>
            <a:fld id="{6EA8E899-540B-4134-8F83-C0647B0C3B28}" type="slidenum">
              <a:rPr lang="en-US"/>
              <a:pPr>
                <a:defRPr/>
              </a:pPr>
              <a:t>‹#›</a:t>
            </a:fld>
            <a:endParaRPr lang="en-US"/>
          </a:p>
        </p:txBody>
      </p:sp>
      <p:grpSp>
        <p:nvGrpSpPr>
          <p:cNvPr id="2052" name="Group 4"/>
          <p:cNvGrpSpPr>
            <a:grpSpLocks/>
          </p:cNvGrpSpPr>
          <p:nvPr/>
        </p:nvGrpSpPr>
        <p:grpSpPr bwMode="auto">
          <a:xfrm>
            <a:off x="0" y="0"/>
            <a:ext cx="9144000" cy="546100"/>
            <a:chOff x="0" y="0"/>
            <a:chExt cx="5760" cy="344"/>
          </a:xfrm>
        </p:grpSpPr>
        <p:sp>
          <p:nvSpPr>
            <p:cNvPr id="2056"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p:spPr>
          <p:txBody>
            <a:bodyPr wrap="none" anchor="ct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sz="2400">
                <a:latin typeface="Times New Roman" pitchFamily="18" charset="0"/>
              </a:endParaRPr>
            </a:p>
          </p:txBody>
        </p:sp>
        <p:sp>
          <p:nvSpPr>
            <p:cNvPr id="2057"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2058" name="Rectangle 7"/>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hlink"/>
                </a:solidFill>
                <a:latin typeface="Arial" charset="0"/>
              </a:endParaRPr>
            </a:p>
          </p:txBody>
        </p:sp>
        <p:sp>
          <p:nvSpPr>
            <p:cNvPr id="2059" name="Rectangle 8"/>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hlink"/>
                </a:solidFill>
                <a:latin typeface="Arial" charset="0"/>
              </a:endParaRPr>
            </a:p>
          </p:txBody>
        </p:sp>
        <p:sp>
          <p:nvSpPr>
            <p:cNvPr id="2060" name="Rectangle 9"/>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accent2"/>
                </a:solidFill>
                <a:latin typeface="Arial" charset="0"/>
              </a:endParaRPr>
            </a:p>
          </p:txBody>
        </p:sp>
        <p:sp>
          <p:nvSpPr>
            <p:cNvPr id="2061" name="Rectangle 10"/>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hlink"/>
                </a:solidFill>
                <a:latin typeface="Arial" charset="0"/>
              </a:endParaRPr>
            </a:p>
          </p:txBody>
        </p:sp>
        <p:sp>
          <p:nvSpPr>
            <p:cNvPr id="2062" name="Rectangle 11"/>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sz="2400">
                <a:latin typeface="Times New Roman" pitchFamily="18" charset="0"/>
              </a:endParaRPr>
            </a:p>
          </p:txBody>
        </p:sp>
        <p:sp>
          <p:nvSpPr>
            <p:cNvPr id="2063" name="Rectangle 12"/>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accent2"/>
                </a:solidFill>
                <a:latin typeface="Arial" charset="0"/>
              </a:endParaRPr>
            </a:p>
          </p:txBody>
        </p:sp>
        <p:sp>
          <p:nvSpPr>
            <p:cNvPr id="2064" name="Rectangle 13"/>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eaLnBrk="1" hangingPunct="1">
                <a:defRPr/>
              </a:pPr>
              <a:endParaRPr lang="en-US" altLang="en-US">
                <a:solidFill>
                  <a:schemeClr val="accent2"/>
                </a:solidFill>
                <a:latin typeface="Arial" charset="0"/>
              </a:endParaRPr>
            </a:p>
          </p:txBody>
        </p:sp>
      </p:grpSp>
      <p:sp>
        <p:nvSpPr>
          <p:cNvPr id="2053"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4"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9952" name="Rectangle 16"/>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mn-lt"/>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910"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 id="2147483908" r:id="rId13"/>
    <p:sldLayoutId id="2147483911" r:id="rId14"/>
    <p:sldLayoutId id="2147483912" r:id="rId15"/>
    <p:sldLayoutId id="2147483913" r:id="rId16"/>
    <p:sldLayoutId id="2147483914" r:id="rId17"/>
    <p:sldLayoutId id="2147483915" r:id="rId18"/>
    <p:sldLayoutId id="2147483916" r:id="rId19"/>
    <p:sldLayoutId id="2147483917" r:id="rId20"/>
    <p:sldLayoutId id="2147483918" r:id="rId21"/>
    <p:sldLayoutId id="2147483919" r:id="rId22"/>
    <p:sldLayoutId id="2147483920" r:id="rId23"/>
    <p:sldLayoutId id="2147483921" r:id="rId24"/>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gif"/><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gif"/><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gif"/><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2.gif"/><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30.png"/><Relationship Id="rId5" Type="http://schemas.openxmlformats.org/officeDocument/2006/relationships/image" Target="../media/image24.gif"/><Relationship Id="rId4" Type="http://schemas.openxmlformats.org/officeDocument/2006/relationships/image" Target="../media/image23.gif"/><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28.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42.gif"/><Relationship Id="rId7" Type="http://schemas.openxmlformats.org/officeDocument/2006/relationships/image" Target="../media/image44.gif"/><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49.png"/><Relationship Id="rId4" Type="http://schemas.openxmlformats.org/officeDocument/2006/relationships/image" Target="../media/image48.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447800"/>
            <a:ext cx="7772400" cy="2454275"/>
          </a:xfrm>
        </p:spPr>
        <p:txBody>
          <a:bodyPr/>
          <a:lstStyle/>
          <a:p>
            <a:pPr eaLnBrk="1" hangingPunct="1">
              <a:defRPr/>
            </a:pPr>
            <a:br>
              <a:rPr lang="en-US" sz="4000" dirty="0"/>
            </a:br>
            <a:br>
              <a:rPr lang="en-US" sz="4000" dirty="0"/>
            </a:br>
            <a:br>
              <a:rPr lang="en-US" sz="4000" dirty="0"/>
            </a:br>
            <a:r>
              <a:rPr lang="en-US" sz="4000" dirty="0"/>
              <a:t>Components of Evolutionary Algorithms (EAs). The evolution from direct search to stochastic search.</a:t>
            </a:r>
            <a:br>
              <a:rPr lang="ro-RO" sz="4000" dirty="0"/>
            </a:br>
            <a:br>
              <a:rPr lang="en-US" sz="4000" dirty="0"/>
            </a:br>
            <a:br>
              <a:rPr lang="it-IT" sz="2000" dirty="0"/>
            </a:b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diamond(in)">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I.</a:t>
            </a:r>
            <a:r>
              <a:rPr lang="en-US" altLang="en-US" sz="2600" b="1" dirty="0">
                <a:solidFill>
                  <a:schemeClr val="bg2"/>
                </a:solidFill>
              </a:rPr>
              <a:t> </a:t>
            </a:r>
            <a:r>
              <a:rPr lang="ro-RO" altLang="en-US" sz="2600" b="1" dirty="0">
                <a:solidFill>
                  <a:schemeClr val="bg2"/>
                </a:solidFill>
              </a:rPr>
              <a:t>EA</a:t>
            </a:r>
            <a:r>
              <a:rPr lang="en-US" altLang="en-US" sz="2600" b="1" dirty="0">
                <a:solidFill>
                  <a:schemeClr val="bg2"/>
                </a:solidFill>
              </a:rPr>
              <a:t> Components</a:t>
            </a:r>
            <a:r>
              <a:rPr lang="ro-RO" altLang="en-US" sz="2600" b="1" dirty="0">
                <a:solidFill>
                  <a:schemeClr val="bg2"/>
                </a:solidFill>
              </a:rPr>
              <a:t> (Evolutionary Algorithms)</a:t>
            </a:r>
          </a:p>
        </p:txBody>
      </p:sp>
      <p:sp>
        <p:nvSpPr>
          <p:cNvPr id="6147" name="Rectangle 3"/>
          <p:cNvSpPr>
            <a:spLocks noGrp="1" noChangeArrowheads="1"/>
          </p:cNvSpPr>
          <p:nvPr>
            <p:ph type="body" sz="half" idx="1"/>
          </p:nvPr>
        </p:nvSpPr>
        <p:spPr>
          <a:xfrm>
            <a:off x="457200" y="990600"/>
            <a:ext cx="8229600" cy="5211763"/>
          </a:xfrm>
        </p:spPr>
        <p:txBody>
          <a:bodyPr/>
          <a:lstStyle/>
          <a:p>
            <a:pPr>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Representation (definition of population members)</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Evaluation function (fitness)</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Population</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Parent selection mechanism</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Variation operators (recombination and mutation)</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Next-generation member selection mechanism</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Definition of the initialization module (determination of the initial population)</a:t>
            </a:r>
          </a:p>
          <a:p>
            <a:pPr eaLnBrk="1" hangingPunct="1">
              <a:buSzPct val="100000"/>
              <a:buFont typeface="Wingdings" pitchFamily="2" charset="2"/>
              <a:buChar char="q"/>
            </a:pPr>
            <a:endParaRPr lang="en-US" altLang="en-US" sz="1800" dirty="0"/>
          </a:p>
          <a:p>
            <a:pPr eaLnBrk="1" hangingPunct="1">
              <a:buSzPct val="100000"/>
              <a:buFont typeface="Wingdings" pitchFamily="2" charset="2"/>
              <a:buChar char="q"/>
            </a:pPr>
            <a:r>
              <a:rPr lang="en-US" altLang="en-US" sz="1800" dirty="0"/>
              <a:t>Definition of the termination condition</a:t>
            </a:r>
          </a:p>
          <a:p>
            <a:pPr eaLnBrk="1" hangingPunct="1">
              <a:buClr>
                <a:schemeClr val="tx1"/>
              </a:buClr>
              <a:buFont typeface="Wingdings" pitchFamily="2" charset="2"/>
              <a:buNone/>
            </a:pPr>
            <a:endParaRPr lang="en-US" altLang="en-US" sz="1800" dirty="0"/>
          </a:p>
        </p:txBody>
      </p:sp>
      <p:sp>
        <p:nvSpPr>
          <p:cNvPr id="6148"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49"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0"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1"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2"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3"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4"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5"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6"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7"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8"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59"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0"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1"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2"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3"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4"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5"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6166"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II.</a:t>
            </a:r>
            <a:r>
              <a:rPr lang="en-US" altLang="en-US" sz="2600" b="1" dirty="0">
                <a:solidFill>
                  <a:schemeClr val="bg2"/>
                </a:solidFill>
              </a:rPr>
              <a:t> EA Components</a:t>
            </a:r>
            <a:r>
              <a:rPr lang="ro-RO" altLang="en-US" sz="2600" b="1" dirty="0">
                <a:solidFill>
                  <a:schemeClr val="bg2"/>
                </a:solidFill>
              </a:rPr>
              <a:t>. Repr</a:t>
            </a:r>
            <a:r>
              <a:rPr lang="en-US" altLang="en-US" sz="2600" b="1" dirty="0" err="1">
                <a:solidFill>
                  <a:schemeClr val="bg2"/>
                </a:solidFill>
              </a:rPr>
              <a:t>esentation</a:t>
            </a:r>
            <a:endParaRPr lang="en-US" altLang="en-US" sz="2600" b="1" dirty="0">
              <a:solidFill>
                <a:schemeClr val="bg2"/>
              </a:solidFill>
            </a:endParaRPr>
          </a:p>
        </p:txBody>
      </p:sp>
      <mc:AlternateContent xmlns:mc="http://schemas.openxmlformats.org/markup-compatibility/2006">
        <mc:Choice xmlns:a14="http://schemas.microsoft.com/office/drawing/2010/main" Requires="a14">
          <p:sp>
            <p:nvSpPr>
              <p:cNvPr id="6147" name="Rectangle 3"/>
              <p:cNvSpPr>
                <a:spLocks noGrp="1" noChangeArrowheads="1"/>
              </p:cNvSpPr>
              <p:nvPr>
                <p:ph type="body" sz="half" idx="1"/>
              </p:nvPr>
            </p:nvSpPr>
            <p:spPr>
              <a:xfrm>
                <a:off x="457200" y="1219200"/>
                <a:ext cx="8229600" cy="5211763"/>
              </a:xfrm>
            </p:spPr>
            <p:txBody>
              <a:bodyPr/>
              <a:lstStyle/>
              <a:p>
                <a:pPr algn="just">
                  <a:buFont typeface="Wingdings" pitchFamily="2" charset="2"/>
                  <a:buChar char="q"/>
                  <a:defRPr/>
                </a:pPr>
                <a:r>
                  <a:rPr lang="en-US" sz="1800" b="1" dirty="0"/>
                  <a:t>Representation – </a:t>
                </a:r>
                <a:r>
                  <a:rPr lang="en-US" sz="1800" dirty="0"/>
                  <a:t>establishing a connection between the context of the particular problem to be solved and the space in which the considered PS technique evolves.</a:t>
                </a:r>
              </a:p>
              <a:p>
                <a:pPr algn="just">
                  <a:buFont typeface="Wingdings" pitchFamily="2" charset="2"/>
                  <a:buChar char="q"/>
                  <a:defRPr/>
                </a:pPr>
                <a:endParaRPr lang="en-US" sz="1800" b="1" dirty="0"/>
              </a:p>
              <a:p>
                <a:pPr algn="just">
                  <a:buFont typeface="Wingdings" pitchFamily="2" charset="2"/>
                  <a:buChar char="q"/>
                  <a:defRPr/>
                </a:pPr>
                <a:r>
                  <a:rPr lang="en-US" sz="1800" b="1" dirty="0"/>
                  <a:t>Phenotypes: </a:t>
                </a:r>
                <a:r>
                  <a:rPr lang="en-US" sz="1800" dirty="0"/>
                  <a:t>possible solutions within the problem context.</a:t>
                </a:r>
              </a:p>
              <a:p>
                <a:pPr algn="just">
                  <a:buFont typeface="Wingdings" pitchFamily="2" charset="2"/>
                  <a:buChar char="q"/>
                  <a:defRPr/>
                </a:pPr>
                <a:endParaRPr lang="en-US" sz="1800" b="1" dirty="0"/>
              </a:p>
              <a:p>
                <a:pPr algn="just">
                  <a:buFont typeface="Wingdings" pitchFamily="2" charset="2"/>
                  <a:buChar char="q"/>
                  <a:defRPr/>
                </a:pPr>
                <a:r>
                  <a:rPr lang="en-US" sz="1800" b="1" dirty="0"/>
                  <a:t>Genotypes (chromosomes): </a:t>
                </a:r>
                <a:r>
                  <a:rPr lang="en-US" sz="1800" dirty="0"/>
                  <a:t>the representation of phenotypes in the EA context; a genotype contains values (alleles) placed in positions called variables or genes.</a:t>
                </a:r>
              </a:p>
              <a:p>
                <a:pPr algn="just">
                  <a:buFont typeface="Wingdings" pitchFamily="2" charset="2"/>
                  <a:buChar char="q"/>
                  <a:defRPr/>
                </a:pPr>
                <a:endParaRPr lang="en-US" sz="1800" b="1" dirty="0"/>
              </a:p>
              <a:p>
                <a:pPr algn="just">
                  <a:buFont typeface="Wingdings" pitchFamily="2" charset="2"/>
                  <a:buChar char="q"/>
                  <a:defRPr/>
                </a:pPr>
                <a:r>
                  <a:rPr lang="en-US" sz="1800" b="1" dirty="0"/>
                  <a:t>Goal: </a:t>
                </a:r>
                <a:r>
                  <a:rPr lang="en-US" sz="1800" dirty="0"/>
                  <a:t>establishing the phenotype–genotype correspondence.</a:t>
                </a:r>
                <a:endParaRPr lang="ro-RO" sz="1800" i="1" dirty="0">
                  <a:latin typeface="Cambria Math"/>
                  <a:sym typeface="Wingdings" panose="05000000000000000000" pitchFamily="2" charset="2"/>
                </a:endParaRPr>
              </a:p>
              <a:p>
                <a:pPr marL="0" indent="0" algn="just">
                  <a:buNone/>
                  <a:defRPr/>
                </a:pPr>
                <a:r>
                  <a:rPr lang="ro-RO" sz="1800" i="1" dirty="0">
                    <a:latin typeface="Cambria Math"/>
                    <a:sym typeface="Wingdings" panose="05000000000000000000" pitchFamily="2" charset="2"/>
                  </a:rPr>
                  <a:t>	</a:t>
                </a:r>
                <a:r>
                  <a:rPr lang="en-US" sz="1800" i="1" dirty="0">
                    <a:latin typeface="Cambria Math"/>
                    <a:sym typeface="Wingdings" panose="05000000000000000000" pitchFamily="2" charset="2"/>
                  </a:rPr>
                  <a:t>phenotype</a:t>
                </a:r>
                <a14:m>
                  <m:oMath xmlns:m="http://schemas.openxmlformats.org/officeDocument/2006/math">
                    <m:r>
                      <a:rPr lang="ro-RO" sz="1800" i="1" smtClean="0">
                        <a:latin typeface="Cambria Math"/>
                        <a:sym typeface="Wingdings" panose="05000000000000000000" pitchFamily="2" charset="2"/>
                      </a:rPr>
                      <m:t> </m:t>
                    </m:r>
                    <m:groupChr>
                      <m:groupChrPr>
                        <m:chr m:val="→"/>
                        <m:vertJc m:val="bot"/>
                        <m:ctrlPr>
                          <a:rPr lang="ro-RO" sz="1800" i="1">
                            <a:latin typeface="Cambria Math" panose="02040503050406030204" pitchFamily="18" charset="0"/>
                            <a:sym typeface="Wingdings" panose="05000000000000000000" pitchFamily="2" charset="2"/>
                          </a:rPr>
                        </m:ctrlPr>
                      </m:groupChrPr>
                      <m:e>
                        <m:r>
                          <m:rPr>
                            <m:brk m:alnAt="2"/>
                          </m:rPr>
                          <a:rPr lang="en-US" sz="1800" b="0" i="1" smtClean="0">
                            <a:latin typeface="Cambria Math" panose="02040503050406030204" pitchFamily="18" charset="0"/>
                            <a:sym typeface="Wingdings" panose="05000000000000000000" pitchFamily="2" charset="2"/>
                          </a:rPr>
                          <m:t>𝑒𝑛𝑐𝑜𝑑𝑖𝑛𝑔</m:t>
                        </m:r>
                      </m:e>
                    </m:groupChr>
                    <m:r>
                      <a:rPr lang="ro-RO" sz="1800" i="1">
                        <a:latin typeface="Cambria Math"/>
                        <a:sym typeface="Wingdings" panose="05000000000000000000" pitchFamily="2" charset="2"/>
                      </a:rPr>
                      <m:t> </m:t>
                    </m:r>
                    <m:r>
                      <a:rPr lang="ro-RO" sz="1800" i="1">
                        <a:latin typeface="Cambria Math"/>
                        <a:sym typeface="Wingdings" panose="05000000000000000000" pitchFamily="2" charset="2"/>
                      </a:rPr>
                      <m:t>𝑔𝑒𝑛𝑜𝑡𝑦</m:t>
                    </m:r>
                    <m:r>
                      <a:rPr lang="en-US" sz="1800" b="0" i="1" smtClean="0">
                        <a:latin typeface="Cambria Math" panose="02040503050406030204" pitchFamily="18" charset="0"/>
                        <a:sym typeface="Wingdings" panose="05000000000000000000" pitchFamily="2" charset="2"/>
                      </a:rPr>
                      <m:t>𝑝𝑒</m:t>
                    </m:r>
                  </m:oMath>
                </a14:m>
                <a:r>
                  <a:rPr lang="ro-RO" sz="1800" dirty="0">
                    <a:latin typeface="Arial" charset="0"/>
                    <a:sym typeface="Wingdings" panose="05000000000000000000" pitchFamily="2" charset="2"/>
                  </a:rPr>
                  <a:t>   	 </a:t>
                </a:r>
                <a14:m>
                  <m:oMath xmlns:m="http://schemas.openxmlformats.org/officeDocument/2006/math">
                    <m:r>
                      <a:rPr lang="ro-RO" sz="1800" i="1">
                        <a:latin typeface="Cambria Math"/>
                        <a:sym typeface="Wingdings" panose="05000000000000000000" pitchFamily="2" charset="2"/>
                      </a:rPr>
                      <m:t>𝑔𝑒𝑛𝑜</m:t>
                    </m:r>
                    <m:r>
                      <a:rPr lang="en-US" sz="1800" b="0" i="1" smtClean="0">
                        <a:latin typeface="Cambria Math" panose="02040503050406030204" pitchFamily="18" charset="0"/>
                        <a:sym typeface="Wingdings" panose="05000000000000000000" pitchFamily="2" charset="2"/>
                      </a:rPr>
                      <m:t>𝑡𝑦𝑝𝑒</m:t>
                    </m:r>
                    <m:r>
                      <a:rPr lang="ro-RO" sz="1800" i="1">
                        <a:latin typeface="Cambria Math"/>
                        <a:sym typeface="Wingdings" panose="05000000000000000000" pitchFamily="2" charset="2"/>
                      </a:rPr>
                      <m:t> </m:t>
                    </m:r>
                    <m:groupChr>
                      <m:groupChrPr>
                        <m:chr m:val="→"/>
                        <m:vertJc m:val="bot"/>
                        <m:ctrlPr>
                          <a:rPr lang="ro-RO" sz="1800" i="1">
                            <a:latin typeface="Cambria Math" panose="02040503050406030204" pitchFamily="18" charset="0"/>
                            <a:sym typeface="Wingdings" panose="05000000000000000000" pitchFamily="2" charset="2"/>
                          </a:rPr>
                        </m:ctrlPr>
                      </m:groupChrPr>
                      <m:e>
                        <m:r>
                          <m:rPr>
                            <m:brk m:alnAt="2"/>
                          </m:rPr>
                          <a:rPr lang="ro-RO" sz="1800" i="1">
                            <a:latin typeface="Cambria Math"/>
                            <a:sym typeface="Wingdings" panose="05000000000000000000" pitchFamily="2" charset="2"/>
                          </a:rPr>
                          <m:t>𝑑</m:t>
                        </m:r>
                        <m:r>
                          <a:rPr lang="ro-RO" sz="1800" i="1">
                            <a:latin typeface="Cambria Math"/>
                            <a:sym typeface="Wingdings" panose="05000000000000000000" pitchFamily="2" charset="2"/>
                          </a:rPr>
                          <m:t>𝑒𝑐𝑜𝑑𝑖</m:t>
                        </m:r>
                        <m:r>
                          <a:rPr lang="en-US" sz="1800" b="0" i="1" smtClean="0">
                            <a:latin typeface="Cambria Math" panose="02040503050406030204" pitchFamily="18" charset="0"/>
                            <a:sym typeface="Wingdings" panose="05000000000000000000" pitchFamily="2" charset="2"/>
                          </a:rPr>
                          <m:t>𝑛𝑔</m:t>
                        </m:r>
                      </m:e>
                    </m:groupChr>
                    <m:r>
                      <a:rPr lang="en-US" sz="1800" b="0" i="1" smtClean="0">
                        <a:latin typeface="Cambria Math" panose="02040503050406030204" pitchFamily="18" charset="0"/>
                        <a:sym typeface="Wingdings" panose="05000000000000000000" pitchFamily="2" charset="2"/>
                      </a:rPr>
                      <m:t>𝑝</m:t>
                    </m:r>
                    <m:r>
                      <a:rPr lang="en-US" sz="1800" b="0" i="1" smtClean="0">
                        <a:latin typeface="Cambria Math" panose="02040503050406030204" pitchFamily="18" charset="0"/>
                        <a:sym typeface="Wingdings" panose="05000000000000000000" pitchFamily="2" charset="2"/>
                      </a:rPr>
                      <m:t>h</m:t>
                    </m:r>
                    <m:r>
                      <a:rPr lang="en-US" sz="1800" b="0" i="1" smtClean="0">
                        <a:latin typeface="Cambria Math" panose="02040503050406030204" pitchFamily="18" charset="0"/>
                        <a:sym typeface="Wingdings" panose="05000000000000000000" pitchFamily="2" charset="2"/>
                      </a:rPr>
                      <m:t>𝑒𝑛𝑜𝑡𝑦𝑝𝑒</m:t>
                    </m:r>
                  </m:oMath>
                </a14:m>
                <a:endParaRPr lang="ro-RO" sz="1800" dirty="0">
                  <a:latin typeface="Arial" charset="0"/>
                  <a:sym typeface="Wingdings" panose="05000000000000000000" pitchFamily="2" charset="2"/>
                </a:endParaRPr>
              </a:p>
              <a:p>
                <a:pPr marL="0" indent="0" algn="just">
                  <a:buNone/>
                  <a:defRPr/>
                </a:pPr>
                <a:endParaRPr lang="ro-RO" sz="1800" dirty="0"/>
              </a:p>
              <a:p>
                <a:pPr>
                  <a:buFont typeface="Wingdings" pitchFamily="2" charset="2"/>
                  <a:buChar char="q"/>
                  <a:defRPr/>
                </a:pPr>
                <a:r>
                  <a:rPr lang="en-US" sz="1800" dirty="0"/>
                  <a:t>Representation refers to:</a:t>
                </a:r>
                <a:endParaRPr lang="ro-RO" sz="1800" dirty="0"/>
              </a:p>
              <a:p>
                <a:pPr lvl="1">
                  <a:buFont typeface="Wingdings" pitchFamily="2" charset="2"/>
                  <a:buChar char="q"/>
                  <a:defRPr/>
                </a:pPr>
                <a:r>
                  <a:rPr lang="en-US" sz="1800" i="1" dirty="0"/>
                  <a:t>Encoding/decoding </a:t>
                </a:r>
                <a:endParaRPr lang="ro-RO" sz="1800" i="1" dirty="0"/>
              </a:p>
              <a:p>
                <a:pPr lvl="1">
                  <a:buFont typeface="Wingdings" pitchFamily="2" charset="2"/>
                  <a:buChar char="q"/>
                  <a:defRPr/>
                </a:pPr>
                <a:r>
                  <a:rPr lang="en-US" sz="1800" dirty="0"/>
                  <a:t>The data structure used to define to genotype space</a:t>
                </a:r>
                <a:endParaRPr lang="ro-RO" sz="1800" dirty="0"/>
              </a:p>
              <a:p>
                <a:pPr marL="0" indent="0">
                  <a:buFont typeface="Wingdings" pitchFamily="2" charset="2"/>
                  <a:buNone/>
                  <a:defRPr/>
                </a:pPr>
                <a:endParaRPr lang="ro-RO" altLang="en-US" sz="1800" dirty="0"/>
              </a:p>
              <a:p>
                <a:pPr marL="0" indent="0" algn="just">
                  <a:buFont typeface="Wingdings" pitchFamily="2" charset="2"/>
                  <a:buNone/>
                  <a:defRPr/>
                </a:pPr>
                <a:r>
                  <a:rPr lang="ro-RO" sz="1800" dirty="0"/>
                  <a:t> </a:t>
                </a:r>
                <a:endParaRPr lang="en-US" sz="1800" dirty="0"/>
              </a:p>
              <a:p>
                <a:pPr marL="0" indent="0" eaLnBrk="1" hangingPunct="1">
                  <a:buSzPct val="100000"/>
                  <a:buFont typeface="Wingdings" pitchFamily="2" charset="2"/>
                  <a:buNone/>
                  <a:defRPr/>
                </a:pPr>
                <a:endParaRPr lang="en-US" altLang="en-US" sz="1800" dirty="0"/>
              </a:p>
              <a:p>
                <a:pPr eaLnBrk="1" hangingPunct="1">
                  <a:buClr>
                    <a:schemeClr val="tx1"/>
                  </a:buClr>
                  <a:buFont typeface="Wingdings" pitchFamily="2" charset="2"/>
                  <a:buNone/>
                  <a:defRPr/>
                </a:pPr>
                <a:endParaRPr lang="en-US" altLang="en-US" sz="1800" dirty="0"/>
              </a:p>
            </p:txBody>
          </p:sp>
        </mc:Choice>
        <mc:Fallback>
          <p:sp>
            <p:nvSpPr>
              <p:cNvPr id="6147" name="Rectangle 3"/>
              <p:cNvSpPr>
                <a:spLocks noGrp="1" noRot="1" noChangeAspect="1" noMove="1" noResize="1" noEditPoints="1" noAdjustHandles="1" noChangeArrowheads="1" noChangeShapeType="1" noTextEdit="1"/>
              </p:cNvSpPr>
              <p:nvPr>
                <p:ph type="body" sz="half" idx="1"/>
              </p:nvPr>
            </p:nvSpPr>
            <p:spPr>
              <a:xfrm>
                <a:off x="457200" y="1219200"/>
                <a:ext cx="8229600" cy="5211763"/>
              </a:xfrm>
              <a:blipFill>
                <a:blip r:embed="rId2"/>
                <a:stretch>
                  <a:fillRect l="-74" t="-585" r="-593" b="-1871"/>
                </a:stretch>
              </a:blipFill>
            </p:spPr>
            <p:txBody>
              <a:bodyPr/>
              <a:lstStyle/>
              <a:p>
                <a:r>
                  <a:rPr lang="en-US">
                    <a:noFill/>
                  </a:rPr>
                  <a:t> </a:t>
                </a:r>
              </a:p>
            </p:txBody>
          </p:sp>
        </mc:Fallback>
      </mc:AlternateContent>
      <p:sp>
        <p:nvSpPr>
          <p:cNvPr id="717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7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8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719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42900" y="304800"/>
            <a:ext cx="8458200" cy="1181100"/>
          </a:xfrm>
        </p:spPr>
        <p:txBody>
          <a:bodyPr/>
          <a:lstStyle/>
          <a:p>
            <a:pPr eaLnBrk="1" hangingPunct="1"/>
            <a:r>
              <a:rPr lang="en-US" altLang="en-US" sz="2600" b="1" dirty="0">
                <a:solidFill>
                  <a:schemeClr val="bg2"/>
                </a:solidFill>
              </a:rPr>
              <a:t>Example of representation using permutations</a:t>
            </a:r>
            <a:endParaRPr lang="ro-RO" altLang="en-US" sz="2600" b="1" dirty="0">
              <a:solidFill>
                <a:schemeClr val="bg2"/>
              </a:solidFill>
            </a:endParaRPr>
          </a:p>
        </p:txBody>
      </p:sp>
      <p:sp>
        <p:nvSpPr>
          <p:cNvPr id="819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197"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198"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199"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0"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1"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2"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3"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4"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5"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6"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7"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8"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09"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10"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11"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12"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13"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8214"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931268925"/>
              </p:ext>
            </p:extLst>
          </p:nvPr>
        </p:nvGraphicFramePr>
        <p:xfrm>
          <a:off x="2667000" y="1509511"/>
          <a:ext cx="2968625" cy="2971800"/>
        </p:xfrm>
        <a:graphic>
          <a:graphicData uri="http://schemas.openxmlformats.org/presentationml/2006/ole">
            <mc:AlternateContent xmlns:mc="http://schemas.openxmlformats.org/markup-compatibility/2006">
              <mc:Choice xmlns:v="urn:schemas-microsoft-com:vml" Requires="v">
                <p:oleObj name="Visio" r:id="rId2" imgW="7253340" imgH="7261157" progId="Visio.Drawing.11">
                  <p:embed/>
                </p:oleObj>
              </mc:Choice>
              <mc:Fallback>
                <p:oleObj name="Visio" r:id="rId2" imgW="7253340" imgH="7261157" progId="Visio.Drawing.11">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509511"/>
                        <a:ext cx="296862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Text Placeholder 4"/>
              <p:cNvSpPr>
                <a:spLocks noGrp="1"/>
              </p:cNvSpPr>
              <p:nvPr>
                <p:ph type="body" sz="half" idx="1"/>
              </p:nvPr>
            </p:nvSpPr>
            <p:spPr>
              <a:xfrm>
                <a:off x="457200" y="1066800"/>
                <a:ext cx="7010400" cy="480060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2, 7, 5, 8, 1, 4, 6, 3</m:t>
                          </m:r>
                        </m:e>
                      </m:d>
                    </m:oMath>
                  </m:oMathPara>
                </a14:m>
                <a:endParaRPr lang="en-US" dirty="0"/>
              </a:p>
            </p:txBody>
          </p:sp>
        </mc:Choice>
        <mc:Fallback xmlns="">
          <p:sp>
            <p:nvSpPr>
              <p:cNvPr id="5" name="Text Placeholder 4"/>
              <p:cNvSpPr>
                <a:spLocks noGrp="1" noRot="1" noChangeAspect="1" noMove="1" noResize="1" noEditPoints="1" noAdjustHandles="1" noChangeArrowheads="1" noChangeShapeType="1" noTextEdit="1"/>
              </p:cNvSpPr>
              <p:nvPr>
                <p:ph type="body" sz="half" idx="1"/>
              </p:nvPr>
            </p:nvSpPr>
            <p:spPr>
              <a:xfrm>
                <a:off x="457200" y="1066800"/>
                <a:ext cx="7010400" cy="4800600"/>
              </a:xfrm>
              <a:blipFill rotWithShape="1">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1B73E0-F9FC-1365-0F08-85140BDDEC50}"/>
              </a:ext>
            </a:extLst>
          </p:cNvPr>
          <p:cNvPicPr>
            <a:picLocks noChangeAspect="1"/>
          </p:cNvPicPr>
          <p:nvPr/>
        </p:nvPicPr>
        <p:blipFill rotWithShape="1">
          <a:blip r:embed="rId3">
            <a:extLst>
              <a:ext uri="{28A0092B-C50C-407E-A947-70E740481C1C}">
                <a14:useLocalDpi xmlns:a14="http://schemas.microsoft.com/office/drawing/2010/main" val="0"/>
              </a:ext>
            </a:extLst>
          </a:blip>
          <a:srcRect l="4725" t="10233" r="7873" b="4726"/>
          <a:stretch/>
        </p:blipFill>
        <p:spPr>
          <a:xfrm>
            <a:off x="381000" y="3052802"/>
            <a:ext cx="3996000" cy="2916000"/>
          </a:xfrm>
          <a:prstGeom prst="rect">
            <a:avLst/>
          </a:prstGeom>
        </p:spPr>
      </p:pic>
      <p:pic>
        <p:nvPicPr>
          <p:cNvPr id="4" name="Picture 3">
            <a:extLst>
              <a:ext uri="{FF2B5EF4-FFF2-40B4-BE49-F238E27FC236}">
                <a16:creationId xmlns:a16="http://schemas.microsoft.com/office/drawing/2014/main" id="{51495C61-1981-D06A-1899-22882C868531}"/>
              </a:ext>
            </a:extLst>
          </p:cNvPr>
          <p:cNvPicPr>
            <a:picLocks noChangeAspect="1"/>
          </p:cNvPicPr>
          <p:nvPr/>
        </p:nvPicPr>
        <p:blipFill rotWithShape="1">
          <a:blip r:embed="rId4">
            <a:extLst>
              <a:ext uri="{28A0092B-C50C-407E-A947-70E740481C1C}">
                <a14:useLocalDpi xmlns:a14="http://schemas.microsoft.com/office/drawing/2010/main" val="0"/>
              </a:ext>
            </a:extLst>
          </a:blip>
          <a:srcRect l="4725" t="11023" r="7873" b="4724"/>
          <a:stretch/>
        </p:blipFill>
        <p:spPr>
          <a:xfrm>
            <a:off x="4724400" y="3111750"/>
            <a:ext cx="3996000" cy="2889000"/>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A679F4C-BDC7-6E0C-F3CF-5BEA5DAC2365}"/>
                  </a:ext>
                </a:extLst>
              </p:cNvPr>
              <p:cNvSpPr txBox="1"/>
              <p:nvPr/>
            </p:nvSpPr>
            <p:spPr>
              <a:xfrm>
                <a:off x="914400" y="2188596"/>
                <a:ext cx="2895600" cy="369332"/>
              </a:xfrm>
              <a:prstGeom prst="rect">
                <a:avLst/>
              </a:prstGeom>
              <a:noFill/>
            </p:spPr>
            <p:txBody>
              <a:bodyPr wrap="square" rtlCol="0">
                <a:spAutoFit/>
              </a:bodyPr>
              <a:lstStyle/>
              <a:p>
                <a:r>
                  <a:rPr lang="ro-RO" dirty="0"/>
                  <a:t>S</a:t>
                </a:r>
                <a:r>
                  <a:rPr lang="en-US" dirty="0" err="1"/>
                  <a:t>olution</a:t>
                </a:r>
                <a:r>
                  <a:rPr lang="en-US" dirty="0"/>
                  <a:t> space</a:t>
                </a:r>
                <a:r>
                  <a:rPr lang="ro-RO" dirty="0"/>
                  <a: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3, 10</m:t>
                        </m:r>
                      </m:e>
                    </m:d>
                  </m:oMath>
                </a14:m>
                <a:endParaRPr lang="en-US" dirty="0"/>
              </a:p>
            </p:txBody>
          </p:sp>
        </mc:Choice>
        <mc:Fallback>
          <p:sp>
            <p:nvSpPr>
              <p:cNvPr id="5" name="TextBox 4">
                <a:extLst>
                  <a:ext uri="{FF2B5EF4-FFF2-40B4-BE49-F238E27FC236}">
                    <a16:creationId xmlns:a16="http://schemas.microsoft.com/office/drawing/2014/main" id="{7A679F4C-BDC7-6E0C-F3CF-5BEA5DAC2365}"/>
                  </a:ext>
                </a:extLst>
              </p:cNvPr>
              <p:cNvSpPr txBox="1">
                <a:spLocks noRot="1" noChangeAspect="1" noMove="1" noResize="1" noEditPoints="1" noAdjustHandles="1" noChangeArrowheads="1" noChangeShapeType="1" noTextEdit="1"/>
              </p:cNvSpPr>
              <p:nvPr/>
            </p:nvSpPr>
            <p:spPr>
              <a:xfrm>
                <a:off x="914400" y="2188596"/>
                <a:ext cx="2895600" cy="369332"/>
              </a:xfrm>
              <a:prstGeom prst="rect">
                <a:avLst/>
              </a:prstGeom>
              <a:blipFill>
                <a:blip r:embed="rId5"/>
                <a:stretch>
                  <a:fillRect l="-1684"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F54316-D3E4-C375-C1B4-9E0254F2CE0F}"/>
                  </a:ext>
                </a:extLst>
              </p:cNvPr>
              <p:cNvSpPr txBox="1"/>
              <p:nvPr/>
            </p:nvSpPr>
            <p:spPr>
              <a:xfrm>
                <a:off x="762000" y="1604626"/>
                <a:ext cx="7467600" cy="5821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s-E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𝑠𝑖𝑛</m:t>
                      </m:r>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𝑥</m:t>
                              </m:r>
                            </m:num>
                            <m:den>
                              <m:r>
                                <a:rPr lang="es-ES" i="1">
                                  <a:latin typeface="Cambria Math" panose="02040503050406030204" pitchFamily="18" charset="0"/>
                                </a:rPr>
                                <m:t>3</m:t>
                              </m:r>
                            </m:den>
                          </m:f>
                        </m:e>
                      </m:d>
                      <m:r>
                        <a:rPr lang="en-US" b="0" i="1" smtClean="0">
                          <a:latin typeface="Cambria Math" panose="02040503050406030204" pitchFamily="18" charset="0"/>
                        </a:rPr>
                        <m:t>+</m:t>
                      </m:r>
                      <m:sSup>
                        <m:sSupPr>
                          <m:ctrlPr>
                            <a:rPr lang="es-E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3</m:t>
                          </m:r>
                        </m:sup>
                      </m:sSup>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𝑐𝑜𝑠</m:t>
                      </m:r>
                      <m:d>
                        <m:dPr>
                          <m:ctrlPr>
                            <a:rPr lang="es-ES" i="1">
                              <a:latin typeface="Cambria Math" panose="02040503050406030204" pitchFamily="18" charset="0"/>
                            </a:rPr>
                          </m:ctrlPr>
                        </m:dPr>
                        <m:e>
                          <m:r>
                            <a:rPr lang="es-ES" i="1">
                              <a:latin typeface="Cambria Math" panose="02040503050406030204" pitchFamily="18" charset="0"/>
                            </a:rPr>
                            <m:t>2∗</m:t>
                          </m:r>
                          <m:r>
                            <a:rPr lang="es-ES" i="1">
                              <a:latin typeface="Cambria Math" panose="02040503050406030204" pitchFamily="18" charset="0"/>
                            </a:rPr>
                            <m:t>𝑥</m:t>
                          </m:r>
                        </m:e>
                      </m:d>
                      <m:r>
                        <a:rPr lang="en-US" b="0" i="1" smtClean="0">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𝑠𝑖𝑛</m:t>
                      </m:r>
                      <m:r>
                        <a:rPr lang="es-ES" i="1">
                          <a:latin typeface="Cambria Math" panose="02040503050406030204" pitchFamily="18" charset="0"/>
                        </a:rPr>
                        <m:t>(3∙</m:t>
                      </m:r>
                      <m:r>
                        <a:rPr lang="es-ES" i="1">
                          <a:latin typeface="Cambria Math" panose="02040503050406030204" pitchFamily="18" charset="0"/>
                        </a:rPr>
                        <m:t>𝑥</m:t>
                      </m:r>
                      <m:r>
                        <a:rPr lang="es-ES" i="1">
                          <a:latin typeface="Cambria Math" panose="02040503050406030204" pitchFamily="18" charset="0"/>
                        </a:rPr>
                        <m:t>) + </m:t>
                      </m:r>
                      <m:r>
                        <a:rPr lang="es-ES" i="1">
                          <a:latin typeface="Cambria Math" panose="02040503050406030204" pitchFamily="18" charset="0"/>
                        </a:rPr>
                        <m:t>𝑥</m:t>
                      </m:r>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𝑐𝑜𝑠</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B1F54316-D3E4-C375-C1B4-9E0254F2CE0F}"/>
                  </a:ext>
                </a:extLst>
              </p:cNvPr>
              <p:cNvSpPr txBox="1">
                <a:spLocks noRot="1" noChangeAspect="1" noMove="1" noResize="1" noEditPoints="1" noAdjustHandles="1" noChangeArrowheads="1" noChangeShapeType="1" noTextEdit="1"/>
              </p:cNvSpPr>
              <p:nvPr/>
            </p:nvSpPr>
            <p:spPr>
              <a:xfrm>
                <a:off x="762000" y="1604626"/>
                <a:ext cx="7467600" cy="58214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CB4ABC9-87CF-C6B0-13A1-8291FCA406B5}"/>
                  </a:ext>
                </a:extLst>
              </p:cNvPr>
              <p:cNvSpPr txBox="1"/>
              <p:nvPr/>
            </p:nvSpPr>
            <p:spPr>
              <a:xfrm>
                <a:off x="857250" y="1066800"/>
                <a:ext cx="1962149"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:[3, 10]→</m:t>
                      </m:r>
                      <m:r>
                        <a:rPr lang="en-US" b="0" i="1" smtClean="0">
                          <a:latin typeface="Cambria Math" panose="02040503050406030204" pitchFamily="18" charset="0"/>
                          <a:ea typeface="Cambria Math" panose="02040503050406030204" pitchFamily="18" charset="0"/>
                        </a:rPr>
                        <m:t>ℝ</m:t>
                      </m:r>
                    </m:oMath>
                  </m:oMathPara>
                </a14:m>
                <a:endParaRPr lang="en-US" dirty="0"/>
              </a:p>
            </p:txBody>
          </p:sp>
        </mc:Choice>
        <mc:Fallback xmlns="">
          <p:sp>
            <p:nvSpPr>
              <p:cNvPr id="7" name="TextBox 6">
                <a:extLst>
                  <a:ext uri="{FF2B5EF4-FFF2-40B4-BE49-F238E27FC236}">
                    <a16:creationId xmlns:a16="http://schemas.microsoft.com/office/drawing/2014/main" id="{8CB4ABC9-87CF-C6B0-13A1-8291FCA406B5}"/>
                  </a:ext>
                </a:extLst>
              </p:cNvPr>
              <p:cNvSpPr txBox="1">
                <a:spLocks noRot="1" noChangeAspect="1" noMove="1" noResize="1" noEditPoints="1" noAdjustHandles="1" noChangeArrowheads="1" noChangeShapeType="1" noTextEdit="1"/>
              </p:cNvSpPr>
              <p:nvPr/>
            </p:nvSpPr>
            <p:spPr>
              <a:xfrm>
                <a:off x="857250" y="1066800"/>
                <a:ext cx="1962149" cy="369332"/>
              </a:xfrm>
              <a:prstGeom prst="rect">
                <a:avLst/>
              </a:prstGeom>
              <a:blipFill>
                <a:blip r:embed="rId7"/>
                <a:stretch>
                  <a:fillRect l="-935" b="-147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16666B7-DA04-C1D1-85E2-0E27A574DE11}"/>
                  </a:ext>
                </a:extLst>
              </p:cNvPr>
              <p:cNvSpPr txBox="1"/>
              <p:nvPr/>
            </p:nvSpPr>
            <p:spPr>
              <a:xfrm>
                <a:off x="3810000" y="2211247"/>
                <a:ext cx="4078142" cy="553998"/>
              </a:xfrm>
              <a:prstGeom prst="rect">
                <a:avLst/>
              </a:prstGeom>
              <a:noFill/>
            </p:spPr>
            <p:txBody>
              <a:bodyPr wrap="square" lIns="0" tIns="0" rIns="0" bIns="0" rtlCol="0">
                <a:spAutoFit/>
              </a:bodyPr>
              <a:lstStyle/>
              <a:p>
                <a:pPr algn="ctr"/>
                <a14:m>
                  <m:oMath xmlns:m="http://schemas.openxmlformats.org/officeDocument/2006/math">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r>
                      <m:rPr>
                        <m:sty m:val="p"/>
                      </m:rPr>
                      <a:rPr lang="en-US" b="0" i="0" dirty="0" smtClean="0">
                        <a:latin typeface="Cambria Math" panose="02040503050406030204" pitchFamily="18" charset="0"/>
                      </a:rPr>
                      <m:t>S</m:t>
                    </m:r>
                    <m:r>
                      <a:rPr lang="en-US" i="1" dirty="0" smtClean="0">
                        <a:latin typeface="Cambria Math" panose="02040503050406030204" pitchFamily="18" charset="0"/>
                        <a:ea typeface="Cambria Math" panose="02040503050406030204" pitchFamily="18" charset="0"/>
                      </a:rPr>
                      <m:t>↔</m:t>
                    </m:r>
                  </m:oMath>
                </a14:m>
                <a:r>
                  <a:rPr lang="en-US" dirty="0"/>
                  <a:t> </a:t>
                </a:r>
                <a:r>
                  <a:rPr lang="ro-RO" dirty="0"/>
                  <a:t>Individ</a:t>
                </a:r>
                <a:r>
                  <a:rPr lang="en-US" dirty="0" err="1"/>
                  <a:t>ual</a:t>
                </a:r>
                <a:r>
                  <a:rPr lang="ro-RO" dirty="0"/>
                  <a:t> (c</a:t>
                </a:r>
                <a:r>
                  <a:rPr lang="en-US" dirty="0" err="1"/>
                  <a:t>hromosome</a:t>
                </a:r>
                <a:r>
                  <a:rPr lang="en-US" dirty="0"/>
                  <a:t>, candidate, phenotype</a:t>
                </a:r>
                <a:r>
                  <a:rPr lang="ro-RO" dirty="0"/>
                  <a:t>)</a:t>
                </a:r>
              </a:p>
            </p:txBody>
          </p:sp>
        </mc:Choice>
        <mc:Fallback>
          <p:sp>
            <p:nvSpPr>
              <p:cNvPr id="8" name="TextBox 7">
                <a:extLst>
                  <a:ext uri="{FF2B5EF4-FFF2-40B4-BE49-F238E27FC236}">
                    <a16:creationId xmlns:a16="http://schemas.microsoft.com/office/drawing/2014/main" id="{116666B7-DA04-C1D1-85E2-0E27A574DE11}"/>
                  </a:ext>
                </a:extLst>
              </p:cNvPr>
              <p:cNvSpPr txBox="1">
                <a:spLocks noRot="1" noChangeAspect="1" noMove="1" noResize="1" noEditPoints="1" noAdjustHandles="1" noChangeArrowheads="1" noChangeShapeType="1" noTextEdit="1"/>
              </p:cNvSpPr>
              <p:nvPr/>
            </p:nvSpPr>
            <p:spPr>
              <a:xfrm>
                <a:off x="3810000" y="2211247"/>
                <a:ext cx="4078142" cy="553998"/>
              </a:xfrm>
              <a:prstGeom prst="rect">
                <a:avLst/>
              </a:prstGeom>
              <a:blipFill>
                <a:blip r:embed="rId8"/>
                <a:stretch>
                  <a:fillRect l="-897" t="-13187" r="-4185" b="-24176"/>
                </a:stretch>
              </a:blipFill>
            </p:spPr>
            <p:txBody>
              <a:bodyPr/>
              <a:lstStyle/>
              <a:p>
                <a:r>
                  <a:rPr lang="en-US">
                    <a:noFill/>
                  </a:rPr>
                  <a:t> </a:t>
                </a:r>
              </a:p>
            </p:txBody>
          </p:sp>
        </mc:Fallback>
      </mc:AlternateContent>
      <p:sp>
        <p:nvSpPr>
          <p:cNvPr id="10" name="Rectangle 2">
            <a:extLst>
              <a:ext uri="{FF2B5EF4-FFF2-40B4-BE49-F238E27FC236}">
                <a16:creationId xmlns:a16="http://schemas.microsoft.com/office/drawing/2014/main" id="{669AF184-CCE6-4907-CAAF-EBC630C9F821}"/>
              </a:ext>
            </a:extLst>
          </p:cNvPr>
          <p:cNvSpPr txBox="1">
            <a:spLocks noChangeArrowheads="1"/>
          </p:cNvSpPr>
          <p:nvPr/>
        </p:nvSpPr>
        <p:spPr>
          <a:xfrm>
            <a:off x="342900" y="304800"/>
            <a:ext cx="8458200" cy="737526"/>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en-US" altLang="en-US" sz="2400" b="1" kern="0" dirty="0">
                <a:solidFill>
                  <a:schemeClr val="bg2"/>
                </a:solidFill>
              </a:rPr>
              <a:t>Example of representation. The case where phenotype = genotype</a:t>
            </a:r>
            <a:endParaRPr lang="ro-RO" altLang="en-US" sz="2400" b="1" kern="0" dirty="0">
              <a:solidFill>
                <a:schemeClr val="bg2"/>
              </a:solidFill>
            </a:endParaRPr>
          </a:p>
        </p:txBody>
      </p:sp>
    </p:spTree>
    <p:extLst>
      <p:ext uri="{BB962C8B-B14F-4D97-AF65-F5344CB8AC3E}">
        <p14:creationId xmlns:p14="http://schemas.microsoft.com/office/powerpoint/2010/main" val="1584921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242"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III.</a:t>
                </a:r>
                <a:r>
                  <a:rPr lang="en-US" altLang="en-US" sz="2600" b="1" dirty="0">
                    <a:solidFill>
                      <a:schemeClr val="bg2"/>
                    </a:solidFill>
                  </a:rPr>
                  <a:t> </a:t>
                </a:r>
                <a:r>
                  <a:rPr lang="ro-RO" altLang="en-US" sz="2600" b="1" dirty="0">
                    <a:solidFill>
                      <a:schemeClr val="bg2"/>
                    </a:solidFill>
                  </a:rPr>
                  <a:t>EA</a:t>
                </a:r>
                <a:r>
                  <a:rPr lang="en-US" altLang="en-US" sz="2600" b="1" dirty="0">
                    <a:solidFill>
                      <a:schemeClr val="bg2"/>
                    </a:solidFill>
                  </a:rPr>
                  <a:t> Components</a:t>
                </a:r>
                <a:r>
                  <a:rPr lang="ro-RO" altLang="en-US" sz="2600" b="1" dirty="0">
                    <a:solidFill>
                      <a:schemeClr val="bg2"/>
                    </a:solidFill>
                  </a:rPr>
                  <a:t>. </a:t>
                </a:r>
                <a:r>
                  <a:rPr lang="en-US" altLang="en-US" sz="2600" b="1" dirty="0">
                    <a:solidFill>
                      <a:schemeClr val="bg2"/>
                    </a:solidFill>
                  </a:rPr>
                  <a:t>Evaluation function</a:t>
                </a:r>
                <a:r>
                  <a:rPr lang="ro-RO" altLang="en-US" sz="2600" b="1" dirty="0">
                    <a:solidFill>
                      <a:schemeClr val="bg2"/>
                    </a:solidFill>
                  </a:rPr>
                  <a:t> </a:t>
                </a:r>
                <a14:m>
                  <m:oMath xmlns:m="http://schemas.openxmlformats.org/officeDocument/2006/math">
                    <m:r>
                      <a:rPr lang="ro-RO" altLang="en-US" sz="2600" b="1" i="1" smtClean="0">
                        <a:solidFill>
                          <a:schemeClr val="bg2"/>
                        </a:solidFill>
                        <a:latin typeface="Cambria Math"/>
                      </a:rPr>
                      <m:t>𝒇</m:t>
                    </m:r>
                  </m:oMath>
                </a14:m>
                <a:endParaRPr lang="ro-RO" altLang="en-US" sz="2600" b="1" i="1" dirty="0">
                  <a:solidFill>
                    <a:schemeClr val="bg2"/>
                  </a:solidFill>
                </a:endParaRPr>
              </a:p>
            </p:txBody>
          </p:sp>
        </mc:Choice>
        <mc:Fallback>
          <p:sp>
            <p:nvSpPr>
              <p:cNvPr id="10242" name="Rectangle 2"/>
              <p:cNvSpPr>
                <a:spLocks noGrp="1" noRot="1" noChangeAspect="1" noMove="1" noResize="1" noEditPoints="1" noAdjustHandles="1" noChangeArrowheads="1" noChangeShapeType="1" noTextEdit="1"/>
              </p:cNvSpPr>
              <p:nvPr>
                <p:ph type="title"/>
              </p:nvPr>
            </p:nvSpPr>
            <p:spPr>
              <a:xfrm>
                <a:off x="342900" y="304800"/>
                <a:ext cx="8458200" cy="858838"/>
              </a:xfrm>
              <a:blipFill>
                <a:blip r:embed="rId3"/>
                <a:stretch>
                  <a:fillRect l="-1297"/>
                </a:stretch>
              </a:blipFill>
            </p:spPr>
            <p:txBody>
              <a:bodyPr/>
              <a:lstStyle/>
              <a:p>
                <a:r>
                  <a:rPr lang="en-US">
                    <a:noFill/>
                  </a:rPr>
                  <a:t> </a:t>
                </a:r>
              </a:p>
            </p:txBody>
          </p:sp>
        </mc:Fallback>
      </mc:AlternateContent>
      <p:sp>
        <p:nvSpPr>
          <p:cNvPr id="1024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47"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48"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49"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0"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1"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2"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3"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4"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5"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6"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7"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8"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59"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60"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61"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62"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63"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0264"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mc:AlternateContent xmlns:mc="http://schemas.openxmlformats.org/markup-compatibility/2006">
        <mc:Choice xmlns:a14="http://schemas.microsoft.com/office/drawing/2010/main" Requires="a14">
          <p:sp>
            <p:nvSpPr>
              <p:cNvPr id="23" name="Text Placeholder 1"/>
              <p:cNvSpPr>
                <a:spLocks noGrp="1"/>
              </p:cNvSpPr>
              <p:nvPr>
                <p:ph type="body" sz="half" idx="1"/>
              </p:nvPr>
            </p:nvSpPr>
            <p:spPr>
              <a:xfrm>
                <a:off x="457200" y="990600"/>
                <a:ext cx="8229600" cy="5562600"/>
              </a:xfrm>
            </p:spPr>
            <p:txBody>
              <a:bodyPr/>
              <a:lstStyle/>
              <a:p>
                <a:pPr>
                  <a:buFont typeface="Wingdings" panose="05000000000000000000" pitchFamily="2" charset="2"/>
                  <a:buChar char="q"/>
                </a:pPr>
                <a:endParaRPr lang="en-US" sz="1800" dirty="0">
                  <a:latin typeface="+mj-lt"/>
                  <a:ea typeface="Cambria Math"/>
                </a:endParaRPr>
              </a:p>
              <a:p>
                <a:pPr>
                  <a:buFont typeface="Wingdings" panose="05000000000000000000" pitchFamily="2" charset="2"/>
                  <a:buChar char="q"/>
                </a:pPr>
                <a:r>
                  <a:rPr lang="en-US" sz="1800" dirty="0">
                    <a:ea typeface="Cambria Math"/>
                  </a:rPr>
                  <a:t>Role - </a:t>
                </a:r>
                <a:r>
                  <a:rPr lang="en-US" sz="1800" dirty="0"/>
                  <a:t>measure of the adaptability level of each individual to the environment: the quality of the individual measured in the genotype space (EA)</a:t>
                </a:r>
                <a:endParaRPr lang="ro-RO" sz="1800" dirty="0">
                  <a:ea typeface="Cambria Math"/>
                </a:endParaRPr>
              </a:p>
              <a:p>
                <a:pPr>
                  <a:buFont typeface="Wingdings" panose="05000000000000000000" pitchFamily="2" charset="2"/>
                  <a:buChar char="q"/>
                </a:pPr>
                <a:endParaRPr lang="ro-RO" sz="1800" dirty="0">
                  <a:ea typeface="Cambria Math"/>
                </a:endParaRPr>
              </a:p>
              <a:p>
                <a:pPr>
                  <a:buFont typeface="Wingdings" panose="05000000000000000000" pitchFamily="2" charset="2"/>
                  <a:buChar char="q"/>
                </a:pPr>
                <a:r>
                  <a:rPr lang="en-US" sz="1800" dirty="0"/>
                  <a:t>Main property – forms the basis of the selection processes</a:t>
                </a:r>
                <a:endParaRPr lang="ro-RO" sz="1800" dirty="0">
                  <a:ea typeface="Cambria Math"/>
                </a:endParaRPr>
              </a:p>
              <a:p>
                <a:pPr>
                  <a:buFont typeface="Wingdings" panose="05000000000000000000" pitchFamily="2" charset="2"/>
                  <a:buChar char="q"/>
                </a:pPr>
                <a:endParaRPr lang="ro-RO" sz="1800" dirty="0">
                  <a:ea typeface="Cambria Math"/>
                </a:endParaRPr>
              </a:p>
              <a:p>
                <a:pPr>
                  <a:buFont typeface="Wingdings" panose="05000000000000000000" pitchFamily="2" charset="2"/>
                  <a:buChar char="q"/>
                </a:pPr>
                <a:r>
                  <a:rPr lang="en-US" sz="1800" dirty="0">
                    <a:ea typeface="Cambria Math"/>
                  </a:rPr>
                  <a:t>Remark</a:t>
                </a:r>
                <a:r>
                  <a:rPr lang="ro-RO" sz="1800" dirty="0">
                    <a:ea typeface="Cambria Math"/>
                  </a:rPr>
                  <a:t> – </a:t>
                </a:r>
                <a:r>
                  <a:rPr lang="en-US" sz="1800" dirty="0">
                    <a:ea typeface="Cambria Math"/>
                  </a:rPr>
                  <a:t>if</a:t>
                </a:r>
                <a:r>
                  <a:rPr lang="ro-RO" sz="1800" dirty="0">
                    <a:ea typeface="Cambria Math"/>
                  </a:rPr>
                  <a:t> </a:t>
                </a:r>
                <a14:m>
                  <m:oMath xmlns:m="http://schemas.openxmlformats.org/officeDocument/2006/math">
                    <m:r>
                      <a:rPr lang="ro-RO" sz="1800" b="0" i="1" smtClean="0">
                        <a:latin typeface="Cambria Math"/>
                        <a:ea typeface="Cambria Math"/>
                      </a:rPr>
                      <m:t>𝑓</m:t>
                    </m:r>
                  </m:oMath>
                </a14:m>
                <a:r>
                  <a:rPr lang="ro-RO" sz="1800" dirty="0">
                    <a:ea typeface="Cambria Math"/>
                  </a:rPr>
                  <a:t> </a:t>
                </a:r>
                <a:r>
                  <a:rPr lang="en-US" sz="1800" dirty="0">
                    <a:ea typeface="Cambria Math"/>
                  </a:rPr>
                  <a:t>must be minimized (the optimum is a minim), the maximum of the function </a:t>
                </a:r>
                <a14:m>
                  <m:oMath xmlns:m="http://schemas.openxmlformats.org/officeDocument/2006/math">
                    <m:r>
                      <a:rPr lang="ro-RO" sz="1800" b="0" i="1" smtClean="0">
                        <a:latin typeface="Cambria Math"/>
                        <a:ea typeface="Cambria Math"/>
                      </a:rPr>
                      <m:t>−</m:t>
                    </m:r>
                    <m:r>
                      <a:rPr lang="ro-RO" sz="1800" b="0" i="1" smtClean="0">
                        <a:latin typeface="Cambria Math"/>
                        <a:ea typeface="Cambria Math"/>
                      </a:rPr>
                      <m:t>𝑓</m:t>
                    </m:r>
                  </m:oMath>
                </a14:m>
                <a:r>
                  <a:rPr lang="ro-RO" sz="1800" dirty="0">
                    <a:ea typeface="Cambria Math"/>
                  </a:rPr>
                  <a:t> </a:t>
                </a:r>
                <a:r>
                  <a:rPr lang="en-US" sz="1800" dirty="0">
                    <a:ea typeface="Cambria Math"/>
                  </a:rPr>
                  <a:t>is computed </a:t>
                </a:r>
                <a:r>
                  <a:rPr lang="ro-RO" sz="1800" dirty="0">
                    <a:ea typeface="Cambria Math"/>
                  </a:rPr>
                  <a:t>(</a:t>
                </a:r>
                <a:r>
                  <a:rPr lang="en-US" sz="1800" dirty="0">
                    <a:ea typeface="Cambria Math"/>
                  </a:rPr>
                  <a:t>or, where possible, the maximum of</a:t>
                </a:r>
                <a:r>
                  <a:rPr lang="ro-RO" sz="1800" dirty="0">
                    <a:ea typeface="Cambria Math"/>
                  </a:rPr>
                  <a:t> </a:t>
                </a:r>
                <a14:m>
                  <m:oMath xmlns:m="http://schemas.openxmlformats.org/officeDocument/2006/math">
                    <m:f>
                      <m:fPr>
                        <m:ctrlPr>
                          <a:rPr lang="ro-RO" sz="1800" i="1" smtClean="0">
                            <a:latin typeface="Cambria Math" panose="02040503050406030204" pitchFamily="18" charset="0"/>
                            <a:ea typeface="Cambria Math"/>
                          </a:rPr>
                        </m:ctrlPr>
                      </m:fPr>
                      <m:num>
                        <m:r>
                          <a:rPr lang="ro-RO" sz="1800" b="0" i="1" smtClean="0">
                            <a:latin typeface="Cambria Math"/>
                            <a:ea typeface="Cambria Math"/>
                          </a:rPr>
                          <m:t>1</m:t>
                        </m:r>
                      </m:num>
                      <m:den>
                        <m:r>
                          <a:rPr lang="ro-RO" sz="1800" b="0" i="1" smtClean="0">
                            <a:latin typeface="Cambria Math"/>
                            <a:ea typeface="Cambria Math"/>
                          </a:rPr>
                          <m:t>𝑓</m:t>
                        </m:r>
                      </m:den>
                    </m:f>
                  </m:oMath>
                </a14:m>
                <a:r>
                  <a:rPr lang="ro-RO" sz="1800" dirty="0">
                    <a:ea typeface="Cambria Math"/>
                  </a:rPr>
                  <a:t> )</a:t>
                </a:r>
              </a:p>
              <a:p>
                <a:pPr marL="0" lvl="1" indent="0" algn="ctr">
                  <a:buNone/>
                </a:pPr>
                <a:endParaRPr lang="ro-RO" sz="1800" dirty="0">
                  <a:latin typeface="Arial" panose="020B0604020202020204" pitchFamily="34" charset="0"/>
                  <a:cs typeface="Arial" panose="020B0604020202020204" pitchFamily="34" charset="0"/>
                </a:endParaRPr>
              </a:p>
              <a:p>
                <a:pPr marL="0" lvl="1" indent="0" algn="ctr">
                  <a:buNone/>
                </a:pPr>
                <a:r>
                  <a:rPr lang="en-US" sz="1800" dirty="0"/>
                  <a:t>Evaluation function defined in the phenotype space</a:t>
                </a:r>
                <a:br>
                  <a:rPr lang="en-US" sz="1800" dirty="0"/>
                </a:br>
                <a:endParaRPr lang="ro-RO" sz="1800" dirty="0">
                  <a:latin typeface="Arial" panose="020B0604020202020204" pitchFamily="34" charset="0"/>
                  <a:cs typeface="Arial" panose="020B0604020202020204" pitchFamily="34" charset="0"/>
                </a:endParaRPr>
              </a:p>
              <a:p>
                <a:pPr marL="0" lvl="1" indent="0" algn="ctr">
                  <a:buNone/>
                </a:pPr>
                <a:r>
                  <a:rPr lang="en-US" sz="1800" dirty="0">
                    <a:latin typeface="Arial" panose="020B0604020202020204" pitchFamily="34" charset="0"/>
                    <a:cs typeface="Arial" panose="020B0604020202020204" pitchFamily="34" charset="0"/>
                  </a:rPr>
                  <a:t>Evaluation function defined in the genotype space</a:t>
                </a:r>
                <a:endParaRPr lang="ro-RO" sz="1800" dirty="0">
                  <a:latin typeface="Arial" panose="020B0604020202020204" pitchFamily="34" charset="0"/>
                  <a:cs typeface="Arial" panose="020B0604020202020204" pitchFamily="34" charset="0"/>
                </a:endParaRPr>
              </a:p>
              <a:p>
                <a:pPr marL="0" lvl="1" indent="0" algn="ctr">
                  <a:buNone/>
                </a:pPr>
                <a:endParaRPr lang="ro-RO" sz="1800" dirty="0">
                  <a:latin typeface="Arial" panose="020B0604020202020204" pitchFamily="34" charset="0"/>
                  <a:cs typeface="Arial" panose="020B0604020202020204" pitchFamily="34" charset="0"/>
                </a:endParaRPr>
              </a:p>
              <a:p>
                <a:pPr marL="0" lvl="1" indent="0" algn="ctr">
                  <a:buNone/>
                </a:pPr>
                <a:r>
                  <a:rPr lang="en-US" sz="1800" dirty="0">
                    <a:latin typeface="Arial" panose="020B0604020202020204" pitchFamily="34" charset="0"/>
                    <a:cs typeface="Arial" panose="020B0604020202020204" pitchFamily="34" charset="0"/>
                  </a:rPr>
                  <a:t>Quality</a:t>
                </a:r>
                <a:r>
                  <a:rPr lang="ro-RO" sz="1800" dirty="0">
                    <a:latin typeface="Arial" panose="020B0604020202020204" pitchFamily="34" charset="0"/>
                    <a:cs typeface="Arial" panose="020B0604020202020204" pitchFamily="34" charset="0"/>
                  </a:rPr>
                  <a:t> </a:t>
                </a:r>
              </a:p>
              <a:p>
                <a:pPr>
                  <a:buFont typeface="Wingdings" panose="05000000000000000000" pitchFamily="2" charset="2"/>
                  <a:buChar char="q"/>
                </a:pPr>
                <a:endParaRPr lang="ro-RO" sz="1800" dirty="0">
                  <a:ea typeface="Cambria Math"/>
                </a:endParaRPr>
              </a:p>
            </p:txBody>
          </p:sp>
        </mc:Choice>
        <mc:Fallback>
          <p:sp>
            <p:nvSpPr>
              <p:cNvPr id="23" name="Text Placeholder 1"/>
              <p:cNvSpPr>
                <a:spLocks noGrp="1" noRot="1" noChangeAspect="1" noMove="1" noResize="1" noEditPoints="1" noAdjustHandles="1" noChangeArrowheads="1" noChangeShapeType="1" noTextEdit="1"/>
              </p:cNvSpPr>
              <p:nvPr>
                <p:ph type="body" sz="half" idx="1"/>
              </p:nvPr>
            </p:nvSpPr>
            <p:spPr>
              <a:xfrm>
                <a:off x="457200" y="990600"/>
                <a:ext cx="8229600" cy="5562600"/>
              </a:xfrm>
              <a:blipFill>
                <a:blip r:embed="rId4"/>
                <a:stretch>
                  <a:fillRect l="-74" r="-741"/>
                </a:stretch>
              </a:blipFill>
            </p:spPr>
            <p:txBody>
              <a:bodyPr/>
              <a:lstStyle/>
              <a:p>
                <a:r>
                  <a:rPr lang="en-US">
                    <a:noFill/>
                  </a:rPr>
                  <a:t> </a:t>
                </a:r>
              </a:p>
            </p:txBody>
          </p:sp>
        </mc:Fallback>
      </mc:AlternateContent>
      <p:sp>
        <p:nvSpPr>
          <p:cNvPr id="2" name="Arrow: Down 1">
            <a:extLst>
              <a:ext uri="{FF2B5EF4-FFF2-40B4-BE49-F238E27FC236}">
                <a16:creationId xmlns:a16="http://schemas.microsoft.com/office/drawing/2014/main" id="{346CE5A7-B720-D41C-CAE3-355E235E2884}"/>
              </a:ext>
            </a:extLst>
          </p:cNvPr>
          <p:cNvSpPr/>
          <p:nvPr/>
        </p:nvSpPr>
        <p:spPr bwMode="auto">
          <a:xfrm>
            <a:off x="4215849" y="4572004"/>
            <a:ext cx="533400" cy="304797"/>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aramond" pitchFamily="18" charset="0"/>
            </a:endParaRPr>
          </a:p>
        </p:txBody>
      </p:sp>
      <p:sp>
        <p:nvSpPr>
          <p:cNvPr id="3" name="Arrow: Down 2">
            <a:extLst>
              <a:ext uri="{FF2B5EF4-FFF2-40B4-BE49-F238E27FC236}">
                <a16:creationId xmlns:a16="http://schemas.microsoft.com/office/drawing/2014/main" id="{E17A2439-76B8-BAC4-6B83-EFF5EBBB16A8}"/>
              </a:ext>
            </a:extLst>
          </p:cNvPr>
          <p:cNvSpPr/>
          <p:nvPr/>
        </p:nvSpPr>
        <p:spPr bwMode="auto">
          <a:xfrm>
            <a:off x="4234070" y="5219701"/>
            <a:ext cx="533400" cy="304797"/>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1" end="1"/>
                                            </p:txEl>
                                          </p:spTgt>
                                        </p:tgtEl>
                                        <p:attrNameLst>
                                          <p:attrName>style.visibility</p:attrName>
                                        </p:attrNameLst>
                                      </p:cBhvr>
                                      <p:to>
                                        <p:strVal val="visible"/>
                                      </p:to>
                                    </p:set>
                                    <p:animEffect transition="in" filter="fade">
                                      <p:cBhvr>
                                        <p:cTn id="7" dur="500"/>
                                        <p:tgtEl>
                                          <p:spTgt spid="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xEl>
                                              <p:pRg st="3" end="3"/>
                                            </p:txEl>
                                          </p:spTgt>
                                        </p:tgtEl>
                                        <p:attrNameLst>
                                          <p:attrName>style.visibility</p:attrName>
                                        </p:attrNameLst>
                                      </p:cBhvr>
                                      <p:to>
                                        <p:strVal val="visible"/>
                                      </p:to>
                                    </p:set>
                                    <p:animEffect transition="in" filter="fade">
                                      <p:cBhvr>
                                        <p:cTn id="12" dur="500"/>
                                        <p:tgtEl>
                                          <p:spTgt spid="2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xEl>
                                              <p:pRg st="5" end="5"/>
                                            </p:txEl>
                                          </p:spTgt>
                                        </p:tgtEl>
                                        <p:attrNameLst>
                                          <p:attrName>style.visibility</p:attrName>
                                        </p:attrNameLst>
                                      </p:cBhvr>
                                      <p:to>
                                        <p:strVal val="visible"/>
                                      </p:to>
                                    </p:set>
                                    <p:animEffect transition="in" filter="fade">
                                      <p:cBhvr>
                                        <p:cTn id="17" dur="500"/>
                                        <p:tgtEl>
                                          <p:spTgt spid="23">
                                            <p:txEl>
                                              <p:pRg st="5" end="5"/>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3">
                                            <p:txEl>
                                              <p:pRg st="10" end="10"/>
                                            </p:txEl>
                                          </p:spTgt>
                                        </p:tgtEl>
                                        <p:attrNameLst>
                                          <p:attrName>style.visibility</p:attrName>
                                        </p:attrNameLst>
                                      </p:cBhvr>
                                      <p:to>
                                        <p:strVal val="visible"/>
                                      </p:to>
                                    </p:set>
                                    <p:animEffect transition="in" filter="fade">
                                      <p:cBhvr>
                                        <p:cTn id="20" dur="500"/>
                                        <p:tgtEl>
                                          <p:spTgt spid="23">
                                            <p:txEl>
                                              <p:pRg st="10" end="1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IV.</a:t>
            </a:r>
            <a:r>
              <a:rPr lang="en-US" altLang="en-US" sz="2600" b="1" dirty="0">
                <a:solidFill>
                  <a:schemeClr val="bg2"/>
                </a:solidFill>
              </a:rPr>
              <a:t> EA Components</a:t>
            </a:r>
            <a:r>
              <a:rPr lang="ro-RO" altLang="en-US" sz="2600" b="1" dirty="0">
                <a:solidFill>
                  <a:schemeClr val="bg2"/>
                </a:solidFill>
              </a:rPr>
              <a:t>. Popula</a:t>
            </a:r>
            <a:r>
              <a:rPr lang="en-US" altLang="en-US" sz="2600" b="1" dirty="0" err="1">
                <a:solidFill>
                  <a:schemeClr val="bg2"/>
                </a:solidFill>
              </a:rPr>
              <a:t>tion</a:t>
            </a:r>
            <a:endParaRPr lang="en-US" altLang="en-US" sz="2600" b="1" dirty="0">
              <a:solidFill>
                <a:schemeClr val="bg2"/>
              </a:solidFill>
            </a:endParaRPr>
          </a:p>
        </p:txBody>
      </p:sp>
      <p:sp>
        <p:nvSpPr>
          <p:cNvPr id="11270"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1"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2"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3"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4"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6"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7"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8"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79"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0"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1"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2"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3"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4"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5"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6"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7"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1288"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25" name="Rectangle 3"/>
          <p:cNvSpPr>
            <a:spLocks noGrp="1" noChangeArrowheads="1"/>
          </p:cNvSpPr>
          <p:nvPr>
            <p:ph type="body" sz="half" idx="1"/>
          </p:nvPr>
        </p:nvSpPr>
        <p:spPr>
          <a:xfrm>
            <a:off x="457200" y="1143000"/>
            <a:ext cx="8229600" cy="5211763"/>
          </a:xfrm>
        </p:spPr>
        <p:txBody>
          <a:bodyPr/>
          <a:lstStyle/>
          <a:p>
            <a:pPr algn="just">
              <a:buFont typeface="Wingdings" panose="05000000000000000000" pitchFamily="2" charset="2"/>
              <a:buChar char="q"/>
            </a:pPr>
            <a:r>
              <a:rPr lang="ro-RO" altLang="en-US" sz="1800" dirty="0"/>
              <a:t>Popula</a:t>
            </a:r>
            <a:r>
              <a:rPr lang="en-US" altLang="en-US" sz="1800" dirty="0" err="1"/>
              <a:t>tion</a:t>
            </a:r>
            <a:r>
              <a:rPr lang="ro-RO" altLang="en-US" sz="1800" dirty="0"/>
              <a:t> – multiset de genot</a:t>
            </a:r>
            <a:r>
              <a:rPr lang="en-US" altLang="en-US" sz="1800" dirty="0" err="1"/>
              <a:t>ypes</a:t>
            </a:r>
            <a:r>
              <a:rPr lang="ro-RO" sz="1800" dirty="0">
                <a:latin typeface="Arial" panose="020B0604020202020204" pitchFamily="34" charset="0"/>
                <a:cs typeface="Arial" panose="020B0604020202020204" pitchFamily="34" charset="0"/>
              </a:rPr>
              <a:t> – </a:t>
            </a:r>
            <a:r>
              <a:rPr lang="ro-RO" sz="1800" b="1" i="1" dirty="0">
                <a:latin typeface="Arial" panose="020B0604020202020204" pitchFamily="34" charset="0"/>
                <a:cs typeface="Arial" panose="020B0604020202020204" pitchFamily="34" charset="0"/>
              </a:rPr>
              <a:t>uni</a:t>
            </a:r>
            <a:r>
              <a:rPr lang="en-US" sz="1800" b="1" i="1" dirty="0">
                <a:latin typeface="Arial" panose="020B0604020202020204" pitchFamily="34" charset="0"/>
                <a:cs typeface="Arial" panose="020B0604020202020204" pitchFamily="34" charset="0"/>
              </a:rPr>
              <a:t>t of evolution</a:t>
            </a:r>
            <a:endParaRPr lang="ro-RO" sz="1800" b="1" i="1" dirty="0">
              <a:latin typeface="Arial" panose="020B0604020202020204" pitchFamily="34" charset="0"/>
              <a:cs typeface="Arial" panose="020B0604020202020204" pitchFamily="34" charset="0"/>
            </a:endParaRPr>
          </a:p>
          <a:p>
            <a:pPr lvl="2">
              <a:buFont typeface="Wingdings" panose="05000000000000000000" pitchFamily="2" charset="2"/>
              <a:buChar char="q"/>
            </a:pPr>
            <a:r>
              <a:rPr lang="ro-RO" sz="1800" dirty="0">
                <a:latin typeface="Arial" panose="020B0604020202020204" pitchFamily="34" charset="0"/>
                <a:cs typeface="Arial" panose="020B0604020202020204" pitchFamily="34" charset="0"/>
              </a:rPr>
              <a:t>Individ</a:t>
            </a:r>
            <a:r>
              <a:rPr lang="en-US" sz="1800" dirty="0" err="1">
                <a:latin typeface="Arial" panose="020B0604020202020204" pitchFamily="34" charset="0"/>
                <a:cs typeface="Arial" panose="020B0604020202020204" pitchFamily="34" charset="0"/>
              </a:rPr>
              <a:t>ual</a:t>
            </a:r>
            <a:r>
              <a:rPr lang="ro-RO" sz="1800" dirty="0">
                <a:latin typeface="Arial" panose="020B0604020202020204" pitchFamily="34" charset="0"/>
                <a:cs typeface="Arial" panose="020B0604020202020204" pitchFamily="34" charset="0"/>
              </a:rPr>
              <a:t>       =   static, </a:t>
            </a:r>
            <a:r>
              <a:rPr lang="en-US" sz="1800" dirty="0">
                <a:latin typeface="Arial" panose="020B0604020202020204" pitchFamily="34" charset="0"/>
                <a:cs typeface="Arial" panose="020B0604020202020204" pitchFamily="34" charset="0"/>
              </a:rPr>
              <a:t>does not evolve, does not adapt </a:t>
            </a:r>
            <a:endParaRPr lang="ro-RO" sz="1800" dirty="0">
              <a:latin typeface="Arial" panose="020B0604020202020204" pitchFamily="34" charset="0"/>
              <a:cs typeface="Arial" panose="020B0604020202020204" pitchFamily="34" charset="0"/>
            </a:endParaRPr>
          </a:p>
          <a:p>
            <a:pPr lvl="2">
              <a:buFont typeface="Wingdings" panose="05000000000000000000" pitchFamily="2" charset="2"/>
              <a:buChar char="q"/>
            </a:pPr>
            <a:r>
              <a:rPr lang="ro-RO" sz="1800" dirty="0">
                <a:latin typeface="Arial" panose="020B0604020202020204" pitchFamily="34" charset="0"/>
                <a:cs typeface="Arial" panose="020B0604020202020204" pitchFamily="34" charset="0"/>
              </a:rPr>
              <a:t>Popul</a:t>
            </a:r>
            <a:r>
              <a:rPr lang="en-US" sz="1800" dirty="0" err="1">
                <a:latin typeface="Arial" panose="020B0604020202020204" pitchFamily="34" charset="0"/>
                <a:cs typeface="Arial" panose="020B0604020202020204" pitchFamily="34" charset="0"/>
              </a:rPr>
              <a:t>ation</a:t>
            </a:r>
            <a:r>
              <a:rPr lang="ro-RO" sz="1800" dirty="0">
                <a:latin typeface="Arial" panose="020B0604020202020204" pitchFamily="34" charset="0"/>
                <a:cs typeface="Arial" panose="020B0604020202020204" pitchFamily="34" charset="0"/>
              </a:rPr>
              <a:t>  =   d</a:t>
            </a:r>
            <a:r>
              <a:rPr lang="en-US" sz="1800" dirty="0" err="1">
                <a:latin typeface="Arial" panose="020B0604020202020204" pitchFamily="34" charset="0"/>
                <a:cs typeface="Arial" panose="020B0604020202020204" pitchFamily="34" charset="0"/>
              </a:rPr>
              <a:t>ynamic</a:t>
            </a:r>
            <a:r>
              <a:rPr lang="en-US" sz="1800" dirty="0">
                <a:latin typeface="Arial" panose="020B0604020202020204" pitchFamily="34" charset="0"/>
                <a:cs typeface="Arial" panose="020B0604020202020204" pitchFamily="34" charset="0"/>
              </a:rPr>
              <a:t>, evolves, adapts</a:t>
            </a:r>
            <a:endParaRPr lang="ro-RO" sz="1800" dirty="0">
              <a:latin typeface="Arial" panose="020B0604020202020204" pitchFamily="34" charset="0"/>
              <a:cs typeface="Arial" panose="020B0604020202020204" pitchFamily="34" charset="0"/>
            </a:endParaRPr>
          </a:p>
          <a:p>
            <a:pPr algn="just">
              <a:buFont typeface="Wingdings" pitchFamily="2" charset="2"/>
              <a:buChar char="q"/>
            </a:pPr>
            <a:endParaRPr lang="ro-RO" altLang="en-US" sz="1800" dirty="0"/>
          </a:p>
          <a:p>
            <a:pPr algn="just">
              <a:buFont typeface="Wingdings" pitchFamily="2" charset="2"/>
              <a:buChar char="q"/>
            </a:pPr>
            <a:r>
              <a:rPr lang="en-US" sz="1800" b="1" dirty="0"/>
              <a:t>Role</a:t>
            </a:r>
            <a:r>
              <a:rPr lang="en-US" sz="1800" dirty="0"/>
              <a:t> – maintains a collection of genotypes corresponding to candidate solutions</a:t>
            </a:r>
          </a:p>
          <a:p>
            <a:pPr marL="0" indent="0" algn="just">
              <a:buNone/>
            </a:pPr>
            <a:endParaRPr lang="ro-RO" altLang="en-US" sz="1800" dirty="0"/>
          </a:p>
          <a:p>
            <a:pPr algn="just">
              <a:buFont typeface="Wingdings" pitchFamily="2" charset="2"/>
              <a:buChar char="q"/>
            </a:pPr>
            <a:r>
              <a:rPr lang="en-US" sz="1800" dirty="0"/>
              <a:t>Genetic selection operators are defined at the population level</a:t>
            </a:r>
          </a:p>
          <a:p>
            <a:pPr algn="just">
              <a:buFont typeface="Wingdings" pitchFamily="2" charset="2"/>
              <a:buChar char="q"/>
            </a:pPr>
            <a:endParaRPr lang="ro-RO" altLang="en-US" sz="1800" dirty="0"/>
          </a:p>
          <a:p>
            <a:pPr>
              <a:buFont typeface="Wingdings" pitchFamily="2" charset="2"/>
              <a:buChar char="q"/>
            </a:pPr>
            <a:r>
              <a:rPr lang="en-US" sz="1800" b="1" dirty="0"/>
              <a:t>Types of populations</a:t>
            </a:r>
            <a:r>
              <a:rPr lang="en-US" sz="1800" dirty="0"/>
              <a:t> – fixed size throughout the EA (the simplest and most commonly used models) and variable size</a:t>
            </a:r>
          </a:p>
          <a:p>
            <a:pPr>
              <a:buFont typeface="Wingdings" pitchFamily="2" charset="2"/>
              <a:buChar char="q"/>
            </a:pPr>
            <a:endParaRPr lang="en-US" altLang="en-US" sz="1800" dirty="0"/>
          </a:p>
          <a:p>
            <a:pPr>
              <a:buFont typeface="Wingdings" pitchFamily="2" charset="2"/>
              <a:buChar char="q"/>
            </a:pPr>
            <a:r>
              <a:rPr lang="en-US" sz="1800" b="1" dirty="0"/>
              <a:t>Main characteristic: diversity</a:t>
            </a:r>
            <a:r>
              <a:rPr lang="en-US" sz="1800" dirty="0"/>
              <a:t>, defined by:</a:t>
            </a:r>
          </a:p>
          <a:p>
            <a:pPr lvl="1">
              <a:buFont typeface="Wingdings" pitchFamily="2" charset="2"/>
              <a:buChar char="q"/>
            </a:pPr>
            <a:r>
              <a:rPr lang="en-US" sz="1800" dirty="0"/>
              <a:t>Number of distinct phenotypes/genotypes</a:t>
            </a:r>
          </a:p>
          <a:p>
            <a:pPr lvl="1">
              <a:buFont typeface="Wingdings" pitchFamily="2" charset="2"/>
              <a:buChar char="q"/>
            </a:pPr>
            <a:r>
              <a:rPr lang="en-US" sz="1800" dirty="0"/>
              <a:t>Number of distinct values of the evaluation function (fitness)</a:t>
            </a:r>
          </a:p>
          <a:p>
            <a:pPr lvl="1">
              <a:buFont typeface="Wingdings" pitchFamily="2" charset="2"/>
              <a:buChar char="q"/>
            </a:pPr>
            <a:r>
              <a:rPr lang="en-US" sz="1800" dirty="0"/>
              <a:t>Entropy-based measures,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xEl>
                                              <p:pRg st="2" end="2"/>
                                            </p:txEl>
                                          </p:spTgt>
                                        </p:tgtEl>
                                        <p:attrNameLst>
                                          <p:attrName>style.visibility</p:attrName>
                                        </p:attrNameLst>
                                      </p:cBhvr>
                                      <p:to>
                                        <p:strVal val="visible"/>
                                      </p:to>
                                    </p:set>
                                    <p:animEffect transition="in" filter="fade">
                                      <p:cBhvr>
                                        <p:cTn id="13" dur="500"/>
                                        <p:tgtEl>
                                          <p:spTgt spid="2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xEl>
                                              <p:pRg st="10" end="10"/>
                                            </p:txEl>
                                          </p:spTgt>
                                        </p:tgtEl>
                                        <p:attrNameLst>
                                          <p:attrName>style.visibility</p:attrName>
                                        </p:attrNameLst>
                                      </p:cBhvr>
                                      <p:to>
                                        <p:strVal val="visible"/>
                                      </p:to>
                                    </p:set>
                                    <p:animEffect transition="in" filter="fade">
                                      <p:cBhvr>
                                        <p:cTn id="16" dur="500"/>
                                        <p:tgtEl>
                                          <p:spTgt spid="25">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xEl>
                                              <p:pRg st="13" end="13"/>
                                            </p:txEl>
                                          </p:spTgt>
                                        </p:tgtEl>
                                        <p:attrNameLst>
                                          <p:attrName>style.visibility</p:attrName>
                                        </p:attrNameLst>
                                      </p:cBhvr>
                                      <p:to>
                                        <p:strVal val="visible"/>
                                      </p:to>
                                    </p:set>
                                    <p:animEffect transition="in" filter="fade">
                                      <p:cBhvr>
                                        <p:cTn id="19" dur="500"/>
                                        <p:tgtEl>
                                          <p:spTgt spid="25">
                                            <p:txEl>
                                              <p:pRg st="13" end="1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xEl>
                                              <p:pRg st="11" end="11"/>
                                            </p:txEl>
                                          </p:spTgt>
                                        </p:tgtEl>
                                        <p:attrNameLst>
                                          <p:attrName>style.visibility</p:attrName>
                                        </p:attrNameLst>
                                      </p:cBhvr>
                                      <p:to>
                                        <p:strVal val="visible"/>
                                      </p:to>
                                    </p:set>
                                    <p:animEffect transition="in" filter="fade">
                                      <p:cBhvr>
                                        <p:cTn id="22" dur="500"/>
                                        <p:tgtEl>
                                          <p:spTgt spid="25">
                                            <p:txEl>
                                              <p:pRg st="11" end="1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xEl>
                                              <p:pRg st="12" end="12"/>
                                            </p:txEl>
                                          </p:spTgt>
                                        </p:tgtEl>
                                        <p:attrNameLst>
                                          <p:attrName>style.visibility</p:attrName>
                                        </p:attrNameLst>
                                      </p:cBhvr>
                                      <p:to>
                                        <p:strVal val="visible"/>
                                      </p:to>
                                    </p:set>
                                    <p:animEffect transition="in" filter="fade">
                                      <p:cBhvr>
                                        <p:cTn id="25" dur="500"/>
                                        <p:tgtEl>
                                          <p:spTgt spid="2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DC41AB-2190-F077-6775-ECE921949F29}"/>
              </a:ext>
            </a:extLst>
          </p:cNvPr>
          <p:cNvPicPr>
            <a:picLocks noChangeAspect="1"/>
          </p:cNvPicPr>
          <p:nvPr/>
        </p:nvPicPr>
        <p:blipFill rotWithShape="1">
          <a:blip r:embed="rId3">
            <a:extLst>
              <a:ext uri="{28A0092B-C50C-407E-A947-70E740481C1C}">
                <a14:useLocalDpi xmlns:a14="http://schemas.microsoft.com/office/drawing/2010/main" val="0"/>
              </a:ext>
            </a:extLst>
          </a:blip>
          <a:srcRect l="26457" t="11880" r="20629" b="11451"/>
          <a:stretch/>
        </p:blipFill>
        <p:spPr>
          <a:xfrm>
            <a:off x="4419600" y="2528820"/>
            <a:ext cx="3962400" cy="4018886"/>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452932B-9154-FD47-DB55-4E8803335EB3}"/>
                  </a:ext>
                </a:extLst>
              </p:cNvPr>
              <p:cNvSpPr txBox="1"/>
              <p:nvPr/>
            </p:nvSpPr>
            <p:spPr>
              <a:xfrm>
                <a:off x="103342" y="3264686"/>
                <a:ext cx="4033520" cy="369332"/>
              </a:xfrm>
              <a:prstGeom prst="rect">
                <a:avLst/>
              </a:prstGeom>
              <a:noFill/>
            </p:spPr>
            <p:txBody>
              <a:bodyPr wrap="square" rtlCol="0">
                <a:spAutoFit/>
              </a:bodyPr>
              <a:lstStyle/>
              <a:p>
                <a:r>
                  <a:rPr lang="ro-RO" dirty="0">
                    <a:sym typeface="Wingdings" panose="05000000000000000000" pitchFamily="2" charset="2"/>
                  </a:rPr>
                  <a:t></a:t>
                </a:r>
                <a:r>
                  <a:rPr lang="en-US" dirty="0">
                    <a:sym typeface="Wingdings" panose="05000000000000000000" pitchFamily="2" charset="2"/>
                  </a:rPr>
                  <a:t> Solution space</a:t>
                </a:r>
                <a:r>
                  <a:rPr lang="ro-RO" dirty="0"/>
                  <a:t>: </a:t>
                </a:r>
                <a14:m>
                  <m:oMath xmlns:m="http://schemas.openxmlformats.org/officeDocument/2006/math">
                    <m:r>
                      <a:rPr lang="en-US" i="1">
                        <a:latin typeface="Cambria Math" panose="02040503050406030204" pitchFamily="18" charset="0"/>
                      </a:rPr>
                      <m:t>𝑆</m:t>
                    </m:r>
                  </m:oMath>
                </a14:m>
                <a:r>
                  <a:rPr lang="en-US" dirty="0"/>
                  <a:t> </a:t>
                </a:r>
                <a14:m>
                  <m:oMath xmlns:m="http://schemas.openxmlformats.org/officeDocument/2006/math">
                    <m:r>
                      <a:rPr lang="ro-RO" b="0" i="1" smtClean="0">
                        <a:latin typeface="Cambria Math" panose="02040503050406030204" pitchFamily="18" charset="0"/>
                      </a:rPr>
                      <m:t>=</m:t>
                    </m:r>
                    <m:r>
                      <m:rPr>
                        <m:nor/>
                      </m:rPr>
                      <a:rPr lang="en-US" dirty="0"/>
                      <m:t>[−2, 2] </m:t>
                    </m:r>
                    <m:r>
                      <a:rPr lang="en-US" i="1" dirty="0">
                        <a:latin typeface="Cambria Math" panose="02040503050406030204" pitchFamily="18" charset="0"/>
                        <a:ea typeface="Cambria Math" panose="02040503050406030204" pitchFamily="18" charset="0"/>
                      </a:rPr>
                      <m:t>×</m:t>
                    </m:r>
                    <m:r>
                      <m:rPr>
                        <m:nor/>
                      </m:rPr>
                      <a:rPr lang="en-US" dirty="0"/>
                      <m:t> [−2, 2]</m:t>
                    </m:r>
                  </m:oMath>
                </a14:m>
                <a:endParaRPr lang="en-US" dirty="0"/>
              </a:p>
            </p:txBody>
          </p:sp>
        </mc:Choice>
        <mc:Fallback>
          <p:sp>
            <p:nvSpPr>
              <p:cNvPr id="11" name="TextBox 10">
                <a:extLst>
                  <a:ext uri="{FF2B5EF4-FFF2-40B4-BE49-F238E27FC236}">
                    <a16:creationId xmlns:a16="http://schemas.microsoft.com/office/drawing/2014/main" id="{7452932B-9154-FD47-DB55-4E8803335EB3}"/>
                  </a:ext>
                </a:extLst>
              </p:cNvPr>
              <p:cNvSpPr txBox="1">
                <a:spLocks noRot="1" noChangeAspect="1" noMove="1" noResize="1" noEditPoints="1" noAdjustHandles="1" noChangeArrowheads="1" noChangeShapeType="1" noTextEdit="1"/>
              </p:cNvSpPr>
              <p:nvPr/>
            </p:nvSpPr>
            <p:spPr>
              <a:xfrm>
                <a:off x="103342" y="3264686"/>
                <a:ext cx="4033520" cy="369332"/>
              </a:xfrm>
              <a:prstGeom prst="rect">
                <a:avLst/>
              </a:prstGeom>
              <a:blipFill>
                <a:blip r:embed="rId4"/>
                <a:stretch>
                  <a:fillRect l="-1360" t="-11667" b="-2833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7956943-2383-6F4B-17A6-DF26D955F703}"/>
              </a:ext>
            </a:extLst>
          </p:cNvPr>
          <p:cNvSpPr txBox="1"/>
          <p:nvPr/>
        </p:nvSpPr>
        <p:spPr>
          <a:xfrm>
            <a:off x="5257800" y="2498630"/>
            <a:ext cx="2133600" cy="369332"/>
          </a:xfrm>
          <a:prstGeom prst="rect">
            <a:avLst/>
          </a:prstGeom>
          <a:noFill/>
        </p:spPr>
        <p:txBody>
          <a:bodyPr wrap="square" rtlCol="0">
            <a:spAutoFit/>
          </a:bodyPr>
          <a:lstStyle/>
          <a:p>
            <a:r>
              <a:rPr lang="en-US" dirty="0">
                <a:latin typeface="+mn-lt"/>
              </a:rPr>
              <a:t>Random individual</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7899E83-D2C1-6403-3C5A-B103C0050683}"/>
                  </a:ext>
                </a:extLst>
              </p:cNvPr>
              <p:cNvSpPr txBox="1"/>
              <p:nvPr/>
            </p:nvSpPr>
            <p:spPr>
              <a:xfrm>
                <a:off x="228600" y="1215174"/>
                <a:ext cx="1817370" cy="27699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𝑛</m:t>
                          </m:r>
                        </m:sup>
                      </m:sSup>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m:t>
                          </m:r>
                        </m:sup>
                      </m:sSup>
                    </m:oMath>
                  </m:oMathPara>
                </a14:m>
                <a:endParaRPr lang="en-US" dirty="0"/>
              </a:p>
            </p:txBody>
          </p:sp>
        </mc:Choice>
        <mc:Fallback xmlns="">
          <p:sp>
            <p:nvSpPr>
              <p:cNvPr id="13" name="TextBox 12">
                <a:extLst>
                  <a:ext uri="{FF2B5EF4-FFF2-40B4-BE49-F238E27FC236}">
                    <a16:creationId xmlns:a16="http://schemas.microsoft.com/office/drawing/2014/main" id="{47899E83-D2C1-6403-3C5A-B103C0050683}"/>
                  </a:ext>
                </a:extLst>
              </p:cNvPr>
              <p:cNvSpPr txBox="1">
                <a:spLocks noRot="1" noChangeAspect="1" noMove="1" noResize="1" noEditPoints="1" noAdjustHandles="1" noChangeArrowheads="1" noChangeShapeType="1" noTextEdit="1"/>
              </p:cNvSpPr>
              <p:nvPr/>
            </p:nvSpPr>
            <p:spPr>
              <a:xfrm>
                <a:off x="228600" y="1215174"/>
                <a:ext cx="1817370" cy="276999"/>
              </a:xfrm>
              <a:prstGeom prst="rect">
                <a:avLst/>
              </a:prstGeom>
              <a:blipFill>
                <a:blip r:embed="rId5"/>
                <a:stretch>
                  <a:fillRect l="-6040" t="-2174"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8EEEAAE-5D87-7E71-46D8-8F1D66C36BE2}"/>
                  </a:ext>
                </a:extLst>
              </p:cNvPr>
              <p:cNvSpPr txBox="1"/>
              <p:nvPr/>
            </p:nvSpPr>
            <p:spPr>
              <a:xfrm>
                <a:off x="100997" y="1473022"/>
                <a:ext cx="7553217" cy="885563"/>
              </a:xfrm>
              <a:prstGeom prst="rect">
                <a:avLst/>
              </a:prstGeom>
              <a:noFill/>
            </p:spPr>
            <p:txBody>
              <a:bodyPr wrap="square">
                <a:spAutoFit/>
              </a:bodyPr>
              <a:lstStyle/>
              <a:p>
                <a:pPr algn="just">
                  <a:buNone/>
                </a:pPr>
                <a14:m>
                  <m:oMathPara xmlns:m="http://schemas.openxmlformats.org/officeDocument/2006/math">
                    <m:oMathParaPr>
                      <m:jc m:val="left"/>
                    </m:oMathParaPr>
                    <m:oMath xmlns:m="http://schemas.openxmlformats.org/officeDocument/2006/math">
                      <m:r>
                        <a:rPr lang="en-US" sz="1600" i="1">
                          <a:latin typeface="Cambria Math" panose="02040503050406030204" pitchFamily="18" charset="0"/>
                          <a:ea typeface="Cambria Math" panose="02040503050406030204" pitchFamily="18" charset="0"/>
                        </a:rPr>
                        <m:t>𝑓</m:t>
                      </m:r>
                      <m:d>
                        <m:dPr>
                          <m:ctrlPr>
                            <a:rPr lang="ro-RO"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𝑥</m:t>
                          </m:r>
                        </m:e>
                      </m:d>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0.2</m:t>
                          </m:r>
                          <m:r>
                            <a:rPr lang="en-US" sz="1600" i="1">
                              <a:latin typeface="Cambria Math" panose="02040503050406030204" pitchFamily="18" charset="0"/>
                              <a:ea typeface="Cambria Math" panose="02040503050406030204" pitchFamily="18" charset="0"/>
                            </a:rPr>
                            <m:t>∙</m:t>
                          </m:r>
                          <m:rad>
                            <m:radPr>
                              <m:degHide m:val="on"/>
                              <m:ctrlPr>
                                <a:rPr lang="ro-RO" sz="1600" i="1">
                                  <a:latin typeface="Cambria Math" panose="02040503050406030204" pitchFamily="18" charset="0"/>
                                  <a:ea typeface="Cambria Math" panose="02040503050406030204" pitchFamily="18" charset="0"/>
                                </a:rPr>
                              </m:ctrlPr>
                            </m:radPr>
                            <m:deg/>
                            <m:e>
                              <m:f>
                                <m:fPr>
                                  <m:ctrlPr>
                                    <a:rPr lang="ro-RO" sz="1600" i="1">
                                      <a:latin typeface="Cambria Math" panose="02040503050406030204" pitchFamily="18" charset="0"/>
                                      <a:ea typeface="Cambria Math" panose="02040503050406030204" pitchFamily="18" charset="0"/>
                                    </a:rPr>
                                  </m:ctrlPr>
                                </m:fPr>
                                <m:num>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sSubSup>
                                        <m:sSubSupPr>
                                          <m:ctrlPr>
                                            <a:rPr lang="ro-RO"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2</m:t>
                                          </m:r>
                                        </m:sup>
                                      </m:sSubSup>
                                    </m:e>
                                  </m:nary>
                                </m:num>
                                <m:den>
                                  <m:r>
                                    <a:rPr lang="en-US" sz="1600" i="1">
                                      <a:latin typeface="Cambria Math" panose="02040503050406030204" pitchFamily="18" charset="0"/>
                                      <a:ea typeface="Cambria Math" panose="02040503050406030204" pitchFamily="18" charset="0"/>
                                    </a:rPr>
                                    <m:t>𝑛</m:t>
                                  </m:r>
                                </m:den>
                              </m:f>
                            </m:e>
                          </m:rad>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f>
                            <m:fPr>
                              <m:ctrlPr>
                                <a:rPr lang="ro-RO"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r>
                                <a:rPr lang="en-US" sz="1600" i="1">
                                  <a:latin typeface="Cambria Math" panose="02040503050406030204" pitchFamily="18" charset="0"/>
                                  <a:ea typeface="Cambria Math" panose="02040503050406030204" pitchFamily="18" charset="0"/>
                                </a:rPr>
                                <m:t>𝑐𝑜𝑠</m:t>
                              </m:r>
                              <m:d>
                                <m:dPr>
                                  <m:ctrlPr>
                                    <a:rPr lang="ro-RO" sz="1600" i="1">
                                      <a:latin typeface="Cambria Math" panose="02040503050406030204" pitchFamily="18" charset="0"/>
                                      <a:ea typeface="Cambria Math" panose="02040503050406030204" pitchFamily="18" charset="0"/>
                                    </a:rPr>
                                  </m:ctrlPr>
                                </m:dPr>
                                <m:e>
                                  <m:r>
                                    <a:rPr lang="en-US" sz="1600" i="1">
                                      <a:solidFill>
                                        <a:srgbClr val="0000FF"/>
                                      </a:solidFill>
                                      <a:latin typeface="Cambria Math" panose="02040503050406030204" pitchFamily="18" charset="0"/>
                                      <a:ea typeface="Cambria Math" panose="02040503050406030204" pitchFamily="18" charset="0"/>
                                    </a:rPr>
                                    <m:t>2∙</m:t>
                                  </m:r>
                                  <m:r>
                                    <a:rPr lang="en-US" sz="1600" i="1">
                                      <a:solidFill>
                                        <a:srgbClr val="0000FF"/>
                                      </a:solidFill>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m:t>
                                  </m:r>
                                  <m:sSub>
                                    <m:sSubPr>
                                      <m:ctrlPr>
                                        <a:rPr lang="ro-RO"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Sub>
                                </m:e>
                              </m:d>
                            </m:e>
                          </m:nary>
                        </m:e>
                      </m:d>
                      <m:r>
                        <a:rPr lang="en-US" sz="1600" i="1">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𝑒</m:t>
                      </m:r>
                    </m:oMath>
                  </m:oMathPara>
                </a14:m>
                <a:endParaRPr lang="en-US" sz="1600"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38EEEAAE-5D87-7E71-46D8-8F1D66C36BE2}"/>
                  </a:ext>
                </a:extLst>
              </p:cNvPr>
              <p:cNvSpPr txBox="1">
                <a:spLocks noRot="1" noChangeAspect="1" noMove="1" noResize="1" noEditPoints="1" noAdjustHandles="1" noChangeArrowheads="1" noChangeShapeType="1" noTextEdit="1"/>
              </p:cNvSpPr>
              <p:nvPr/>
            </p:nvSpPr>
            <p:spPr>
              <a:xfrm>
                <a:off x="100997" y="1473022"/>
                <a:ext cx="7553217" cy="88556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5646523-8DDB-3A5A-0BAE-188625146364}"/>
                  </a:ext>
                </a:extLst>
              </p:cNvPr>
              <p:cNvSpPr txBox="1"/>
              <p:nvPr/>
            </p:nvSpPr>
            <p:spPr>
              <a:xfrm>
                <a:off x="248920" y="2867962"/>
                <a:ext cx="30323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=2, </m:t>
                      </m:r>
                      <m:r>
                        <a:rPr lang="en-US" b="0" i="1" smtClean="0">
                          <a:latin typeface="Cambria Math" panose="02040503050406030204" pitchFamily="18" charset="0"/>
                        </a:rPr>
                        <m:t>𝑓</m:t>
                      </m:r>
                      <m:r>
                        <a:rPr lang="en-US" b="0" i="1" smtClean="0">
                          <a:latin typeface="Cambria Math" panose="02040503050406030204" pitchFamily="18" charset="0"/>
                        </a:rPr>
                        <m:t>:</m:t>
                      </m:r>
                      <m:r>
                        <m:rPr>
                          <m:nor/>
                        </m:rPr>
                        <a:rPr lang="en-US" dirty="0" smtClean="0"/>
                        <m:t>[−2, 2] </m:t>
                      </m:r>
                      <m:r>
                        <a:rPr lang="en-US" i="1" dirty="0" smtClean="0">
                          <a:latin typeface="Cambria Math" panose="02040503050406030204" pitchFamily="18" charset="0"/>
                          <a:ea typeface="Cambria Math" panose="02040503050406030204" pitchFamily="18" charset="0"/>
                        </a:rPr>
                        <m:t>×</m:t>
                      </m:r>
                      <m:r>
                        <m:rPr>
                          <m:nor/>
                        </m:rPr>
                        <a:rPr lang="en-US" dirty="0"/>
                        <m:t> [−2, 2]</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oMath>
                  </m:oMathPara>
                </a14:m>
                <a:endParaRPr lang="en-US" dirty="0"/>
              </a:p>
            </p:txBody>
          </p:sp>
        </mc:Choice>
        <mc:Fallback xmlns="">
          <p:sp>
            <p:nvSpPr>
              <p:cNvPr id="15" name="TextBox 14">
                <a:extLst>
                  <a:ext uri="{FF2B5EF4-FFF2-40B4-BE49-F238E27FC236}">
                    <a16:creationId xmlns:a16="http://schemas.microsoft.com/office/drawing/2014/main" id="{25646523-8DDB-3A5A-0BAE-188625146364}"/>
                  </a:ext>
                </a:extLst>
              </p:cNvPr>
              <p:cNvSpPr txBox="1">
                <a:spLocks noRot="1" noChangeAspect="1" noMove="1" noResize="1" noEditPoints="1" noAdjustHandles="1" noChangeArrowheads="1" noChangeShapeType="1" noTextEdit="1"/>
              </p:cNvSpPr>
              <p:nvPr/>
            </p:nvSpPr>
            <p:spPr>
              <a:xfrm>
                <a:off x="248920" y="2867962"/>
                <a:ext cx="3032369" cy="276999"/>
              </a:xfrm>
              <a:prstGeom prst="rect">
                <a:avLst/>
              </a:prstGeom>
              <a:blipFill>
                <a:blip r:embed="rId7"/>
                <a:stretch>
                  <a:fillRect l="-604" t="-2174" r="-1207" b="-32609"/>
                </a:stretch>
              </a:blipFill>
            </p:spPr>
            <p:txBody>
              <a:bodyPr/>
              <a:lstStyle/>
              <a:p>
                <a:r>
                  <a:rPr lang="en-US">
                    <a:noFill/>
                  </a:rPr>
                  <a:t> </a:t>
                </a:r>
              </a:p>
            </p:txBody>
          </p:sp>
        </mc:Fallback>
      </mc:AlternateContent>
      <p:sp>
        <p:nvSpPr>
          <p:cNvPr id="5" name="Rectangle 2">
            <a:extLst>
              <a:ext uri="{FF2B5EF4-FFF2-40B4-BE49-F238E27FC236}">
                <a16:creationId xmlns:a16="http://schemas.microsoft.com/office/drawing/2014/main" id="{935C9935-D211-4AE6-78E4-530ED8977C66}"/>
              </a:ext>
            </a:extLst>
          </p:cNvPr>
          <p:cNvSpPr txBox="1">
            <a:spLocks noChangeArrowheads="1"/>
          </p:cNvSpPr>
          <p:nvPr/>
        </p:nvSpPr>
        <p:spPr>
          <a:xfrm>
            <a:off x="342900" y="436562"/>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1664762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0FD176-3D30-4D24-30A1-B1441851DC60}"/>
              </a:ext>
            </a:extLst>
          </p:cNvPr>
          <p:cNvPicPr>
            <a:picLocks noChangeAspect="1"/>
          </p:cNvPicPr>
          <p:nvPr/>
        </p:nvPicPr>
        <p:blipFill rotWithShape="1">
          <a:blip r:embed="rId3">
            <a:extLst>
              <a:ext uri="{28A0092B-C50C-407E-A947-70E740481C1C}">
                <a14:useLocalDpi xmlns:a14="http://schemas.microsoft.com/office/drawing/2010/main" val="0"/>
              </a:ext>
            </a:extLst>
          </a:blip>
          <a:srcRect l="6494" t="10233" r="7285" b="3938"/>
          <a:stretch/>
        </p:blipFill>
        <p:spPr>
          <a:xfrm>
            <a:off x="3984030" y="2991346"/>
            <a:ext cx="4260592" cy="318085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53A7D83-779A-69DC-B500-53C7CC2CC904}"/>
                  </a:ext>
                </a:extLst>
              </p:cNvPr>
              <p:cNvSpPr txBox="1"/>
              <p:nvPr/>
            </p:nvSpPr>
            <p:spPr>
              <a:xfrm>
                <a:off x="35560" y="1721137"/>
                <a:ext cx="6903720" cy="5821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s-E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s-ES" i="1">
                          <a:latin typeface="Cambria Math" panose="02040503050406030204" pitchFamily="18" charset="0"/>
                        </a:rPr>
                        <m:t>𝑠𝑖𝑛</m:t>
                      </m:r>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𝑥</m:t>
                              </m:r>
                            </m:num>
                            <m:den>
                              <m:r>
                                <a:rPr lang="es-ES" i="1">
                                  <a:latin typeface="Cambria Math" panose="02040503050406030204" pitchFamily="18" charset="0"/>
                                </a:rPr>
                                <m:t>3</m:t>
                              </m:r>
                            </m:den>
                          </m:f>
                        </m:e>
                      </m:d>
                      <m:r>
                        <a:rPr lang="en-US" b="0" i="1" smtClean="0">
                          <a:latin typeface="Cambria Math" panose="02040503050406030204" pitchFamily="18" charset="0"/>
                        </a:rPr>
                        <m:t>+</m:t>
                      </m:r>
                      <m:r>
                        <a:rPr lang="en-US" b="0" i="1" smtClean="0">
                          <a:latin typeface="Cambria Math" panose="02040503050406030204" pitchFamily="18" charset="0"/>
                        </a:rPr>
                        <m:t>3</m:t>
                      </m:r>
                      <m:r>
                        <a:rPr lang="es-E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𝑠𝑖𝑛</m:t>
                      </m:r>
                      <m:d>
                        <m:dPr>
                          <m:ctrlPr>
                            <a:rPr lang="es-ES" i="1">
                              <a:latin typeface="Cambria Math" panose="02040503050406030204" pitchFamily="18" charset="0"/>
                            </a:rPr>
                          </m:ctrlPr>
                        </m:dPr>
                        <m:e>
                          <m:r>
                            <a:rPr lang="en-US" b="0" i="1" smtClean="0">
                              <a:latin typeface="Cambria Math" panose="02040503050406030204" pitchFamily="18" charset="0"/>
                            </a:rPr>
                            <m:t>7</m:t>
                          </m:r>
                          <m:r>
                            <a:rPr lang="es-ES" i="1">
                              <a:latin typeface="Cambria Math" panose="02040503050406030204" pitchFamily="18" charset="0"/>
                            </a:rPr>
                            <m:t>∗</m:t>
                          </m:r>
                          <m:r>
                            <a:rPr lang="es-E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2</m:t>
                          </m:r>
                        </m:e>
                      </m:d>
                      <m:r>
                        <a:rPr lang="en-US" b="0" i="1" smtClean="0">
                          <a:latin typeface="Cambria Math" panose="02040503050406030204" pitchFamily="18" charset="0"/>
                        </a:rPr>
                        <m:t>+</m:t>
                      </m:r>
                      <m:r>
                        <a:rPr lang="en-US" b="0" i="1" smtClean="0">
                          <a:latin typeface="Cambria Math" panose="02040503050406030204" pitchFamily="18" charset="0"/>
                        </a:rPr>
                        <m:t>2</m:t>
                      </m:r>
                      <m:r>
                        <a:rPr lang="es-E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𝑐𝑜𝑠</m:t>
                      </m:r>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𝑥</m:t>
                          </m:r>
                        </m:num>
                        <m:den>
                          <m:r>
                            <a:rPr lang="en-US" b="0" i="1" smtClean="0">
                              <a:latin typeface="Cambria Math" panose="02040503050406030204" pitchFamily="18" charset="0"/>
                            </a:rPr>
                            <m:t>5</m:t>
                          </m:r>
                        </m:den>
                      </m:f>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4</m:t>
                      </m:r>
                      <m:r>
                        <a:rPr lang="es-ES" i="1">
                          <a:latin typeface="Cambria Math" panose="02040503050406030204" pitchFamily="18" charset="0"/>
                        </a:rPr>
                        <m:t>) +</m:t>
                      </m:r>
                      <m:r>
                        <a:rPr lang="en-US" b="0" i="1" smtClean="0">
                          <a:latin typeface="Cambria Math" panose="02040503050406030204" pitchFamily="18" charset="0"/>
                        </a:rPr>
                        <m:t>1</m:t>
                      </m:r>
                    </m:oMath>
                  </m:oMathPara>
                </a14:m>
                <a:endParaRPr lang="en-US" dirty="0"/>
              </a:p>
            </p:txBody>
          </p:sp>
        </mc:Choice>
        <mc:Fallback xmlns="">
          <p:sp>
            <p:nvSpPr>
              <p:cNvPr id="7" name="TextBox 6">
                <a:extLst>
                  <a:ext uri="{FF2B5EF4-FFF2-40B4-BE49-F238E27FC236}">
                    <a16:creationId xmlns:a16="http://schemas.microsoft.com/office/drawing/2014/main" id="{C53A7D83-779A-69DC-B500-53C7CC2CC904}"/>
                  </a:ext>
                </a:extLst>
              </p:cNvPr>
              <p:cNvSpPr txBox="1">
                <a:spLocks noRot="1" noChangeAspect="1" noMove="1" noResize="1" noEditPoints="1" noAdjustHandles="1" noChangeArrowheads="1" noChangeShapeType="1" noTextEdit="1"/>
              </p:cNvSpPr>
              <p:nvPr/>
            </p:nvSpPr>
            <p:spPr>
              <a:xfrm>
                <a:off x="35560" y="1721137"/>
                <a:ext cx="6903720" cy="58214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04D1D1-2327-3ED6-4FDE-EB9445DF434F}"/>
                  </a:ext>
                </a:extLst>
              </p:cNvPr>
              <p:cNvSpPr txBox="1"/>
              <p:nvPr/>
            </p:nvSpPr>
            <p:spPr>
              <a:xfrm>
                <a:off x="66040" y="1287954"/>
                <a:ext cx="2781300"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m:oMathPara>
                </a14:m>
                <a:endParaRPr lang="en-US" dirty="0"/>
              </a:p>
            </p:txBody>
          </p:sp>
        </mc:Choice>
        <mc:Fallback xmlns="">
          <p:sp>
            <p:nvSpPr>
              <p:cNvPr id="8" name="TextBox 7">
                <a:extLst>
                  <a:ext uri="{FF2B5EF4-FFF2-40B4-BE49-F238E27FC236}">
                    <a16:creationId xmlns:a16="http://schemas.microsoft.com/office/drawing/2014/main" id="{9804D1D1-2327-3ED6-4FDE-EB9445DF434F}"/>
                  </a:ext>
                </a:extLst>
              </p:cNvPr>
              <p:cNvSpPr txBox="1">
                <a:spLocks noRot="1" noChangeAspect="1" noMove="1" noResize="1" noEditPoints="1" noAdjustHandles="1" noChangeArrowheads="1" noChangeShapeType="1" noTextEdit="1"/>
              </p:cNvSpPr>
              <p:nvPr/>
            </p:nvSpPr>
            <p:spPr>
              <a:xfrm>
                <a:off x="66040" y="1287954"/>
                <a:ext cx="2781300" cy="369332"/>
              </a:xfrm>
              <a:prstGeom prst="rect">
                <a:avLst/>
              </a:prstGeom>
              <a:blipFill>
                <a:blip r:embed="rId5"/>
                <a:stretch>
                  <a:fillRect l="-658" b="-1475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7E5F6CD-307C-3F85-D9FE-C489374FD16A}"/>
                  </a:ext>
                </a:extLst>
              </p:cNvPr>
              <p:cNvSpPr txBox="1"/>
              <p:nvPr/>
            </p:nvSpPr>
            <p:spPr>
              <a:xfrm>
                <a:off x="45499" y="2622330"/>
                <a:ext cx="3619500" cy="369332"/>
              </a:xfrm>
              <a:prstGeom prst="rect">
                <a:avLst/>
              </a:prstGeom>
              <a:noFill/>
            </p:spPr>
            <p:txBody>
              <a:bodyPr wrap="square" rtlCol="0">
                <a:spAutoFit/>
              </a:bodyPr>
              <a:lstStyle/>
              <a:p>
                <a:r>
                  <a:rPr lang="ro-RO" dirty="0">
                    <a:latin typeface="+mn-lt"/>
                  </a:rPr>
                  <a:t>S</a:t>
                </a:r>
                <a:r>
                  <a:rPr lang="en-US" dirty="0" err="1">
                    <a:latin typeface="+mn-lt"/>
                  </a:rPr>
                  <a:t>olution</a:t>
                </a:r>
                <a:r>
                  <a:rPr lang="en-US" dirty="0">
                    <a:latin typeface="+mn-lt"/>
                  </a:rPr>
                  <a:t> space</a:t>
                </a:r>
                <a:r>
                  <a:rPr lang="ro-RO" dirty="0">
                    <a:latin typeface="+mn-lt"/>
                  </a:rPr>
                  <a: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ro-RO" b="0" i="1" smtClean="0">
                            <a:latin typeface="Cambria Math" panose="02040503050406030204" pitchFamily="18" charset="0"/>
                          </a:rPr>
                          <m:t>−</m:t>
                        </m:r>
                        <m:r>
                          <a:rPr lang="ro-RO" b="0" i="1" smtClean="0">
                            <a:latin typeface="Cambria Math" panose="02040503050406030204" pitchFamily="18" charset="0"/>
                          </a:rPr>
                          <m:t>2</m:t>
                        </m:r>
                        <m:r>
                          <a:rPr lang="en-US" i="1">
                            <a:latin typeface="Cambria Math" panose="02040503050406030204" pitchFamily="18" charset="0"/>
                          </a:rPr>
                          <m:t>, </m:t>
                        </m:r>
                        <m:r>
                          <a:rPr lang="ro-RO" b="0" i="1" smtClean="0">
                            <a:latin typeface="Cambria Math" panose="02040503050406030204" pitchFamily="18" charset="0"/>
                          </a:rPr>
                          <m:t>2</m:t>
                        </m:r>
                      </m:e>
                    </m:d>
                  </m:oMath>
                </a14:m>
                <a:endParaRPr lang="en-US" dirty="0">
                  <a:latin typeface="+mn-lt"/>
                </a:endParaRPr>
              </a:p>
            </p:txBody>
          </p:sp>
        </mc:Choice>
        <mc:Fallback>
          <p:sp>
            <p:nvSpPr>
              <p:cNvPr id="9" name="TextBox 8">
                <a:extLst>
                  <a:ext uri="{FF2B5EF4-FFF2-40B4-BE49-F238E27FC236}">
                    <a16:creationId xmlns:a16="http://schemas.microsoft.com/office/drawing/2014/main" id="{37E5F6CD-307C-3F85-D9FE-C489374FD16A}"/>
                  </a:ext>
                </a:extLst>
              </p:cNvPr>
              <p:cNvSpPr txBox="1">
                <a:spLocks noRot="1" noChangeAspect="1" noMove="1" noResize="1" noEditPoints="1" noAdjustHandles="1" noChangeArrowheads="1" noChangeShapeType="1" noTextEdit="1"/>
              </p:cNvSpPr>
              <p:nvPr/>
            </p:nvSpPr>
            <p:spPr>
              <a:xfrm>
                <a:off x="45499" y="2622330"/>
                <a:ext cx="3619500" cy="369332"/>
              </a:xfrm>
              <a:prstGeom prst="rect">
                <a:avLst/>
              </a:prstGeom>
              <a:blipFill>
                <a:blip r:embed="rId6"/>
                <a:stretch>
                  <a:fillRect l="-1347"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4EA5969-6391-9C11-A386-E985DD758FB1}"/>
                  </a:ext>
                </a:extLst>
              </p:cNvPr>
              <p:cNvSpPr txBox="1"/>
              <p:nvPr/>
            </p:nvSpPr>
            <p:spPr>
              <a:xfrm>
                <a:off x="66040" y="3622660"/>
                <a:ext cx="4114800" cy="276999"/>
              </a:xfrm>
              <a:prstGeom prst="rect">
                <a:avLst/>
              </a:prstGeom>
              <a:noFill/>
            </p:spPr>
            <p:txBody>
              <a:bodyPr wrap="square" lIns="0" tIns="0" rIns="0" bIns="0" rtlCol="0">
                <a:spAutoFit/>
              </a:bodyPr>
              <a:lstStyle/>
              <a:p>
                <a:r>
                  <a:rPr lang="ro-RO" b="0" dirty="0">
                    <a:latin typeface="+mn-lt"/>
                    <a:ea typeface="Cambria Math" panose="02040503050406030204" pitchFamily="18" charset="0"/>
                  </a:rPr>
                  <a:t> Gr</a:t>
                </a:r>
                <a:r>
                  <a:rPr lang="en-US" b="0" dirty="0" err="1">
                    <a:latin typeface="+mn-lt"/>
                    <a:ea typeface="Cambria Math" panose="02040503050406030204" pitchFamily="18" charset="0"/>
                  </a:rPr>
                  <a:t>oup</a:t>
                </a:r>
                <a:r>
                  <a:rPr lang="en-US" b="0" dirty="0">
                    <a:latin typeface="+mn-lt"/>
                    <a:ea typeface="Cambria Math" panose="02040503050406030204" pitchFamily="18" charset="0"/>
                  </a:rPr>
                  <a:t> of individuals </a:t>
                </a:r>
                <a14:m>
                  <m:oMath xmlns:m="http://schemas.openxmlformats.org/officeDocument/2006/math">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r>
                      <m:rPr>
                        <m:sty m:val="p"/>
                      </m:rPr>
                      <a:rPr lang="en-US" b="0" i="0" dirty="0" smtClean="0">
                        <a:latin typeface="Cambria Math" panose="02040503050406030204" pitchFamily="18" charset="0"/>
                      </a:rPr>
                      <m:t>S</m:t>
                    </m:r>
                    <m:r>
                      <a:rPr lang="en-US" i="1" dirty="0" smtClean="0">
                        <a:latin typeface="Cambria Math" panose="02040503050406030204" pitchFamily="18" charset="0"/>
                        <a:ea typeface="Cambria Math" panose="02040503050406030204" pitchFamily="18" charset="0"/>
                      </a:rPr>
                      <m:t>↔</m:t>
                    </m:r>
                  </m:oMath>
                </a14:m>
                <a:r>
                  <a:rPr lang="en-US" dirty="0">
                    <a:latin typeface="+mn-lt"/>
                  </a:rPr>
                  <a:t> </a:t>
                </a:r>
                <a:r>
                  <a:rPr lang="ro-RO" dirty="0">
                    <a:latin typeface="+mn-lt"/>
                  </a:rPr>
                  <a:t>Popula</a:t>
                </a:r>
                <a:r>
                  <a:rPr lang="en-US" dirty="0" err="1">
                    <a:latin typeface="+mn-lt"/>
                  </a:rPr>
                  <a:t>tion</a:t>
                </a:r>
                <a:endParaRPr lang="en-US" dirty="0">
                  <a:latin typeface="+mn-lt"/>
                </a:endParaRPr>
              </a:p>
            </p:txBody>
          </p:sp>
        </mc:Choice>
        <mc:Fallback>
          <p:sp>
            <p:nvSpPr>
              <p:cNvPr id="10" name="TextBox 9">
                <a:extLst>
                  <a:ext uri="{FF2B5EF4-FFF2-40B4-BE49-F238E27FC236}">
                    <a16:creationId xmlns:a16="http://schemas.microsoft.com/office/drawing/2014/main" id="{D4EA5969-6391-9C11-A386-E985DD758FB1}"/>
                  </a:ext>
                </a:extLst>
              </p:cNvPr>
              <p:cNvSpPr txBox="1">
                <a:spLocks noRot="1" noChangeAspect="1" noMove="1" noResize="1" noEditPoints="1" noAdjustHandles="1" noChangeArrowheads="1" noChangeShapeType="1" noTextEdit="1"/>
              </p:cNvSpPr>
              <p:nvPr/>
            </p:nvSpPr>
            <p:spPr>
              <a:xfrm>
                <a:off x="66040" y="3622660"/>
                <a:ext cx="4114800" cy="276999"/>
              </a:xfrm>
              <a:prstGeom prst="rect">
                <a:avLst/>
              </a:prstGeom>
              <a:blipFill>
                <a:blip r:embed="rId7"/>
                <a:stretch>
                  <a:fillRect l="-2074" t="-28261" r="-2963" b="-50000"/>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A463AF93-52AE-7E72-E32A-0BF851D7E839}"/>
              </a:ext>
            </a:extLst>
          </p:cNvPr>
          <p:cNvSpPr txBox="1">
            <a:spLocks noChangeArrowheads="1"/>
          </p:cNvSpPr>
          <p:nvPr/>
        </p:nvSpPr>
        <p:spPr>
          <a:xfrm>
            <a:off x="342900" y="562687"/>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1665246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125240-5BDC-A545-0FC5-5CBF19105991}"/>
              </a:ext>
            </a:extLst>
          </p:cNvPr>
          <p:cNvPicPr>
            <a:picLocks noChangeAspect="1"/>
          </p:cNvPicPr>
          <p:nvPr/>
        </p:nvPicPr>
        <p:blipFill rotWithShape="1">
          <a:blip r:embed="rId3">
            <a:extLst>
              <a:ext uri="{28A0092B-C50C-407E-A947-70E740481C1C}">
                <a14:useLocalDpi xmlns:a14="http://schemas.microsoft.com/office/drawing/2010/main" val="0"/>
              </a:ext>
            </a:extLst>
          </a:blip>
          <a:srcRect l="26457" t="12958" r="20629" b="11451"/>
          <a:stretch/>
        </p:blipFill>
        <p:spPr>
          <a:xfrm>
            <a:off x="4281086" y="2253665"/>
            <a:ext cx="4070958" cy="4070935"/>
          </a:xfrm>
          <a:prstGeom prst="rect">
            <a:avLst/>
          </a:prstGeom>
        </p:spPr>
      </p:pic>
      <p:sp>
        <p:nvSpPr>
          <p:cNvPr id="4" name="TextBox 3">
            <a:extLst>
              <a:ext uri="{FF2B5EF4-FFF2-40B4-BE49-F238E27FC236}">
                <a16:creationId xmlns:a16="http://schemas.microsoft.com/office/drawing/2014/main" id="{92C1249B-E693-195F-B5EF-6E7F237AB66B}"/>
              </a:ext>
            </a:extLst>
          </p:cNvPr>
          <p:cNvSpPr txBox="1"/>
          <p:nvPr/>
        </p:nvSpPr>
        <p:spPr>
          <a:xfrm>
            <a:off x="4800600" y="2207499"/>
            <a:ext cx="2209800" cy="369332"/>
          </a:xfrm>
          <a:prstGeom prst="rect">
            <a:avLst/>
          </a:prstGeom>
          <a:noFill/>
        </p:spPr>
        <p:txBody>
          <a:bodyPr wrap="square" rtlCol="0">
            <a:spAutoFit/>
          </a:bodyPr>
          <a:lstStyle/>
          <a:p>
            <a:r>
              <a:rPr lang="en-US" dirty="0">
                <a:latin typeface="+mn-lt"/>
              </a:rPr>
              <a:t>Random population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79056B2-9B11-0037-BC5A-D2FAC378769D}"/>
                  </a:ext>
                </a:extLst>
              </p:cNvPr>
              <p:cNvSpPr txBox="1"/>
              <p:nvPr/>
            </p:nvSpPr>
            <p:spPr>
              <a:xfrm>
                <a:off x="-99060" y="2115166"/>
                <a:ext cx="368046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2</m:t>
                          </m:r>
                        </m:sup>
                      </m:sSup>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579056B2-9B11-0037-BC5A-D2FAC378769D}"/>
                  </a:ext>
                </a:extLst>
              </p:cNvPr>
              <p:cNvSpPr txBox="1">
                <a:spLocks noRot="1" noChangeAspect="1" noMove="1" noResize="1" noEditPoints="1" noAdjustHandles="1" noChangeArrowheads="1" noChangeShapeType="1" noTextEdit="1"/>
              </p:cNvSpPr>
              <p:nvPr/>
            </p:nvSpPr>
            <p:spPr>
              <a:xfrm>
                <a:off x="-99060" y="2115166"/>
                <a:ext cx="3680460" cy="276999"/>
              </a:xfrm>
              <a:prstGeom prst="rect">
                <a:avLst/>
              </a:prstGeom>
              <a:blipFill>
                <a:blip r:embed="rId4"/>
                <a:stretch>
                  <a:fillRect t="-4444"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CB2B4FB-6AD7-07E6-D726-E28935BDDB99}"/>
                  </a:ext>
                </a:extLst>
              </p:cNvPr>
              <p:cNvSpPr txBox="1"/>
              <p:nvPr/>
            </p:nvSpPr>
            <p:spPr>
              <a:xfrm>
                <a:off x="148590" y="2432608"/>
                <a:ext cx="3432810" cy="373051"/>
              </a:xfrm>
              <a:prstGeom prst="rect">
                <a:avLst/>
              </a:prstGeom>
              <a:noFill/>
            </p:spPr>
            <p:txBody>
              <a:bodyPr wrap="square">
                <a:spAutoFit/>
              </a:bodyPr>
              <a:lstStyle/>
              <a:p>
                <a:pPr>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ea typeface="Cambria Math" panose="02040503050406030204" pitchFamily="18" charset="0"/>
                        </a:rPr>
                        <m:t>𝑓</m:t>
                      </m:r>
                      <m:d>
                        <m:dPr>
                          <m:ctrlPr>
                            <a:rPr lang="ro-RO"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=10−</m:t>
                      </m:r>
                      <m:sSubSup>
                        <m:sSubSupPr>
                          <m:ctrlPr>
                            <a:rPr lang="ro-RO"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sSubSup>
                        <m:sSubSupPr>
                          <m:ctrlPr>
                            <a:rPr lang="ro-RO"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2</m:t>
                          </m:r>
                        </m:sup>
                      </m:sSubSup>
                    </m:oMath>
                  </m:oMathPara>
                </a14:m>
                <a:endParaRPr lang="en-US" dirty="0">
                  <a:latin typeface="Cambria Math" panose="02040503050406030204" pitchFamily="18" charset="0"/>
                  <a:ea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9CB2B4FB-6AD7-07E6-D726-E28935BDDB99}"/>
                  </a:ext>
                </a:extLst>
              </p:cNvPr>
              <p:cNvSpPr txBox="1">
                <a:spLocks noRot="1" noChangeAspect="1" noMove="1" noResize="1" noEditPoints="1" noAdjustHandles="1" noChangeArrowheads="1" noChangeShapeType="1" noTextEdit="1"/>
              </p:cNvSpPr>
              <p:nvPr/>
            </p:nvSpPr>
            <p:spPr>
              <a:xfrm>
                <a:off x="148590" y="2432608"/>
                <a:ext cx="3432810" cy="373051"/>
              </a:xfrm>
              <a:prstGeom prst="rect">
                <a:avLst/>
              </a:prstGeom>
              <a:blipFill>
                <a:blip r:embed="rId5"/>
                <a:stretch>
                  <a:fillRect l="-532" b="-163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C5967B13-5B3F-1B46-FD67-CFB2A9E03215}"/>
                  </a:ext>
                </a:extLst>
              </p:cNvPr>
              <p:cNvSpPr txBox="1"/>
              <p:nvPr/>
            </p:nvSpPr>
            <p:spPr>
              <a:xfrm>
                <a:off x="148590" y="2989349"/>
                <a:ext cx="4194810" cy="369332"/>
              </a:xfrm>
              <a:prstGeom prst="rect">
                <a:avLst/>
              </a:prstGeom>
              <a:noFill/>
            </p:spPr>
            <p:txBody>
              <a:bodyPr wrap="square" rtlCol="0">
                <a:spAutoFit/>
              </a:bodyPr>
              <a:lstStyle/>
              <a:p>
                <a:r>
                  <a:rPr lang="ro-RO" dirty="0"/>
                  <a:t>S</a:t>
                </a:r>
                <a:r>
                  <a:rPr lang="en-US" dirty="0" err="1"/>
                  <a:t>olution</a:t>
                </a:r>
                <a:r>
                  <a:rPr lang="en-US" dirty="0"/>
                  <a:t> space</a:t>
                </a:r>
                <a:r>
                  <a:rPr lang="ro-RO" dirty="0"/>
                  <a:t>: </a:t>
                </a:r>
                <a14:m>
                  <m:oMath xmlns:m="http://schemas.openxmlformats.org/officeDocument/2006/math">
                    <m:r>
                      <a:rPr lang="en-US" i="1">
                        <a:latin typeface="Cambria Math" panose="02040503050406030204" pitchFamily="18" charset="0"/>
                      </a:rPr>
                      <m:t>𝑆</m:t>
                    </m:r>
                  </m:oMath>
                </a14:m>
                <a:r>
                  <a:rPr lang="en-US" dirty="0"/>
                  <a:t> </a:t>
                </a:r>
                <a14:m>
                  <m:oMath xmlns:m="http://schemas.openxmlformats.org/officeDocument/2006/math">
                    <m:r>
                      <a:rPr lang="ro-RO" b="0" i="1" smtClean="0">
                        <a:latin typeface="Cambria Math" panose="02040503050406030204" pitchFamily="18" charset="0"/>
                      </a:rPr>
                      <m:t>=</m:t>
                    </m:r>
                    <m:r>
                      <m:rPr>
                        <m:nor/>
                      </m:rPr>
                      <a:rPr lang="en-US" dirty="0"/>
                      <m:t>[−2, 2] </m:t>
                    </m:r>
                    <m:r>
                      <a:rPr lang="en-US" i="1" dirty="0">
                        <a:latin typeface="Cambria Math" panose="02040503050406030204" pitchFamily="18" charset="0"/>
                        <a:ea typeface="Cambria Math" panose="02040503050406030204" pitchFamily="18" charset="0"/>
                      </a:rPr>
                      <m:t>×</m:t>
                    </m:r>
                    <m:r>
                      <m:rPr>
                        <m:nor/>
                      </m:rPr>
                      <a:rPr lang="en-US" dirty="0"/>
                      <m:t> [−2, 2]</m:t>
                    </m:r>
                  </m:oMath>
                </a14:m>
                <a:endParaRPr lang="en-US" dirty="0"/>
              </a:p>
            </p:txBody>
          </p:sp>
        </mc:Choice>
        <mc:Fallback>
          <p:sp>
            <p:nvSpPr>
              <p:cNvPr id="18" name="TextBox 17">
                <a:extLst>
                  <a:ext uri="{FF2B5EF4-FFF2-40B4-BE49-F238E27FC236}">
                    <a16:creationId xmlns:a16="http://schemas.microsoft.com/office/drawing/2014/main" id="{C5967B13-5B3F-1B46-FD67-CFB2A9E03215}"/>
                  </a:ext>
                </a:extLst>
              </p:cNvPr>
              <p:cNvSpPr txBox="1">
                <a:spLocks noRot="1" noChangeAspect="1" noMove="1" noResize="1" noEditPoints="1" noAdjustHandles="1" noChangeArrowheads="1" noChangeShapeType="1" noTextEdit="1"/>
              </p:cNvSpPr>
              <p:nvPr/>
            </p:nvSpPr>
            <p:spPr>
              <a:xfrm>
                <a:off x="148590" y="2989349"/>
                <a:ext cx="4194810" cy="369332"/>
              </a:xfrm>
              <a:prstGeom prst="rect">
                <a:avLst/>
              </a:prstGeom>
              <a:blipFill>
                <a:blip r:embed="rId6"/>
                <a:stretch>
                  <a:fillRect l="-1161" t="-6557" b="-26230"/>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8A96BE19-3785-1ABC-CC81-DF7FEE450D6B}"/>
              </a:ext>
            </a:extLst>
          </p:cNvPr>
          <p:cNvSpPr txBox="1">
            <a:spLocks noChangeArrowheads="1"/>
          </p:cNvSpPr>
          <p:nvPr/>
        </p:nvSpPr>
        <p:spPr>
          <a:xfrm>
            <a:off x="228600" y="459067"/>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570627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A5DE2C-FB6E-6EB1-D2B6-5304DFE518F9}"/>
              </a:ext>
            </a:extLst>
          </p:cNvPr>
          <p:cNvPicPr>
            <a:picLocks noChangeAspect="1"/>
          </p:cNvPicPr>
          <p:nvPr/>
        </p:nvPicPr>
        <p:blipFill rotWithShape="1">
          <a:blip r:embed="rId3">
            <a:extLst>
              <a:ext uri="{28A0092B-C50C-407E-A947-70E740481C1C}">
                <a14:useLocalDpi xmlns:a14="http://schemas.microsoft.com/office/drawing/2010/main" val="0"/>
              </a:ext>
            </a:extLst>
          </a:blip>
          <a:srcRect l="29814" t="11880" r="22186" b="24948"/>
          <a:stretch/>
        </p:blipFill>
        <p:spPr>
          <a:xfrm>
            <a:off x="19050" y="3158986"/>
            <a:ext cx="2743200" cy="2527196"/>
          </a:xfrm>
          <a:prstGeom prst="rect">
            <a:avLst/>
          </a:prstGeom>
        </p:spPr>
      </p:pic>
      <p:pic>
        <p:nvPicPr>
          <p:cNvPr id="5" name="Content Placeholder 4">
            <a:extLst>
              <a:ext uri="{FF2B5EF4-FFF2-40B4-BE49-F238E27FC236}">
                <a16:creationId xmlns:a16="http://schemas.microsoft.com/office/drawing/2014/main" id="{34B8B8C9-2F10-5EA3-B902-460A012EB8CE}"/>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30410" t="12311" r="21444" b="18908"/>
          <a:stretch/>
        </p:blipFill>
        <p:spPr>
          <a:xfrm>
            <a:off x="6559950" y="3158986"/>
            <a:ext cx="2565000" cy="2565000"/>
          </a:xfrm>
        </p:spPr>
      </p:pic>
      <p:pic>
        <p:nvPicPr>
          <p:cNvPr id="6" name="Picture 5">
            <a:extLst>
              <a:ext uri="{FF2B5EF4-FFF2-40B4-BE49-F238E27FC236}">
                <a16:creationId xmlns:a16="http://schemas.microsoft.com/office/drawing/2014/main" id="{AB555EF6-8908-63A3-FEFE-5F011BC434A1}"/>
              </a:ext>
            </a:extLst>
          </p:cNvPr>
          <p:cNvPicPr>
            <a:picLocks noChangeAspect="1"/>
          </p:cNvPicPr>
          <p:nvPr/>
        </p:nvPicPr>
        <p:blipFill rotWithShape="1">
          <a:blip r:embed="rId5">
            <a:extLst>
              <a:ext uri="{28A0092B-C50C-407E-A947-70E740481C1C}">
                <a14:useLocalDpi xmlns:a14="http://schemas.microsoft.com/office/drawing/2010/main" val="0"/>
              </a:ext>
            </a:extLst>
          </a:blip>
          <a:srcRect l="26457" t="11879" r="20629" b="11450"/>
          <a:stretch/>
        </p:blipFill>
        <p:spPr>
          <a:xfrm>
            <a:off x="3133843" y="2907874"/>
            <a:ext cx="3024035" cy="3067223"/>
          </a:xfrm>
          <a:prstGeom prst="rect">
            <a:avLst/>
          </a:prstGeom>
        </p:spPr>
      </p:pic>
      <p:sp>
        <p:nvSpPr>
          <p:cNvPr id="7" name="TextBox 6">
            <a:extLst>
              <a:ext uri="{FF2B5EF4-FFF2-40B4-BE49-F238E27FC236}">
                <a16:creationId xmlns:a16="http://schemas.microsoft.com/office/drawing/2014/main" id="{611E9164-32FB-4F9A-0D46-3206272B66E5}"/>
              </a:ext>
            </a:extLst>
          </p:cNvPr>
          <p:cNvSpPr txBox="1"/>
          <p:nvPr/>
        </p:nvSpPr>
        <p:spPr>
          <a:xfrm>
            <a:off x="685800" y="6172200"/>
            <a:ext cx="8286750" cy="369332"/>
          </a:xfrm>
          <a:prstGeom prst="rect">
            <a:avLst/>
          </a:prstGeom>
          <a:noFill/>
        </p:spPr>
        <p:txBody>
          <a:bodyPr wrap="square" rtlCol="0">
            <a:spAutoFit/>
          </a:bodyPr>
          <a:lstStyle/>
          <a:p>
            <a:pPr algn="ctr"/>
            <a:r>
              <a:rPr lang="en-US" dirty="0">
                <a:latin typeface="+mn-lt"/>
              </a:rPr>
              <a:t>Population evolution: ES, minimizing the Ackley function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697601B-87B1-BD7E-7C13-B5DFB095A23C}"/>
                  </a:ext>
                </a:extLst>
              </p:cNvPr>
              <p:cNvSpPr txBox="1"/>
              <p:nvPr/>
            </p:nvSpPr>
            <p:spPr>
              <a:xfrm>
                <a:off x="19050" y="1309345"/>
                <a:ext cx="1981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𝑛</m:t>
                          </m:r>
                        </m:sup>
                      </m:sSup>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m:t>
                          </m:r>
                        </m:sup>
                      </m:sSup>
                    </m:oMath>
                  </m:oMathPara>
                </a14:m>
                <a:endParaRPr lang="en-US" dirty="0"/>
              </a:p>
            </p:txBody>
          </p:sp>
        </mc:Choice>
        <mc:Fallback xmlns="">
          <p:sp>
            <p:nvSpPr>
              <p:cNvPr id="8" name="TextBox 7">
                <a:extLst>
                  <a:ext uri="{FF2B5EF4-FFF2-40B4-BE49-F238E27FC236}">
                    <a16:creationId xmlns:a16="http://schemas.microsoft.com/office/drawing/2014/main" id="{E697601B-87B1-BD7E-7C13-B5DFB095A23C}"/>
                  </a:ext>
                </a:extLst>
              </p:cNvPr>
              <p:cNvSpPr txBox="1">
                <a:spLocks noRot="1" noChangeAspect="1" noMove="1" noResize="1" noEditPoints="1" noAdjustHandles="1" noChangeArrowheads="1" noChangeShapeType="1" noTextEdit="1"/>
              </p:cNvSpPr>
              <p:nvPr/>
            </p:nvSpPr>
            <p:spPr>
              <a:xfrm>
                <a:off x="19050" y="1309345"/>
                <a:ext cx="1981200" cy="276999"/>
              </a:xfrm>
              <a:prstGeom prst="rect">
                <a:avLst/>
              </a:prstGeom>
              <a:blipFill>
                <a:blip r:embed="rId6"/>
                <a:stretch>
                  <a:fillRect l="-615" t="-222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BBEDB9-D321-AA00-676D-CB7626B79C8A}"/>
                  </a:ext>
                </a:extLst>
              </p:cNvPr>
              <p:cNvSpPr txBox="1"/>
              <p:nvPr/>
            </p:nvSpPr>
            <p:spPr>
              <a:xfrm>
                <a:off x="-381000" y="1481515"/>
                <a:ext cx="7624315" cy="885563"/>
              </a:xfrm>
              <a:prstGeom prst="rect">
                <a:avLst/>
              </a:prstGeom>
              <a:noFill/>
            </p:spPr>
            <p:txBody>
              <a:bodyPr wrap="square">
                <a:spAutoFit/>
              </a:bodyPr>
              <a:lstStyle/>
              <a:p>
                <a:pPr marL="89297"/>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𝑓</m:t>
                      </m:r>
                      <m:d>
                        <m:dPr>
                          <m:ctrlPr>
                            <a:rPr lang="ro-RO"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𝑥</m:t>
                          </m:r>
                        </m:e>
                      </m:d>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0</m:t>
                          </m:r>
                          <m:r>
                            <a:rPr lang="en-US" sz="1600" i="1">
                              <a:solidFill>
                                <a:srgbClr val="0000FF"/>
                              </a:solidFill>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2</m:t>
                          </m:r>
                          <m:r>
                            <a:rPr lang="en-US" sz="1600" i="1">
                              <a:latin typeface="Cambria Math" panose="02040503050406030204" pitchFamily="18" charset="0"/>
                              <a:ea typeface="Cambria Math" panose="02040503050406030204" pitchFamily="18" charset="0"/>
                            </a:rPr>
                            <m:t>∙</m:t>
                          </m:r>
                          <m:rad>
                            <m:radPr>
                              <m:degHide m:val="on"/>
                              <m:ctrlPr>
                                <a:rPr lang="ro-RO" sz="1600" i="1">
                                  <a:latin typeface="Cambria Math" panose="02040503050406030204" pitchFamily="18" charset="0"/>
                                  <a:ea typeface="Cambria Math" panose="02040503050406030204" pitchFamily="18" charset="0"/>
                                </a:rPr>
                              </m:ctrlPr>
                            </m:radPr>
                            <m:deg/>
                            <m:e>
                              <m:f>
                                <m:fPr>
                                  <m:ctrlPr>
                                    <a:rPr lang="ro-RO" sz="1600" i="1">
                                      <a:latin typeface="Cambria Math" panose="02040503050406030204" pitchFamily="18" charset="0"/>
                                      <a:ea typeface="Cambria Math" panose="02040503050406030204" pitchFamily="18" charset="0"/>
                                    </a:rPr>
                                  </m:ctrlPr>
                                </m:fPr>
                                <m:num>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sSubSup>
                                        <m:sSubSupPr>
                                          <m:ctrlPr>
                                            <a:rPr lang="ro-RO"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2</m:t>
                                          </m:r>
                                        </m:sup>
                                      </m:sSubSup>
                                    </m:e>
                                  </m:nary>
                                </m:num>
                                <m:den>
                                  <m:r>
                                    <a:rPr lang="en-US" sz="1600" i="1">
                                      <a:latin typeface="Cambria Math" panose="02040503050406030204" pitchFamily="18" charset="0"/>
                                      <a:ea typeface="Cambria Math" panose="02040503050406030204" pitchFamily="18" charset="0"/>
                                    </a:rPr>
                                    <m:t>𝑛</m:t>
                                  </m:r>
                                </m:den>
                              </m:f>
                            </m:e>
                          </m:rad>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f>
                            <m:fPr>
                              <m:ctrlPr>
                                <a:rPr lang="ro-RO"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r>
                                <a:rPr lang="en-US" sz="1600" i="1">
                                  <a:latin typeface="Cambria Math" panose="02040503050406030204" pitchFamily="18" charset="0"/>
                                  <a:ea typeface="Cambria Math" panose="02040503050406030204" pitchFamily="18" charset="0"/>
                                </a:rPr>
                                <m:t>𝑐𝑜𝑠</m:t>
                              </m:r>
                              <m:d>
                                <m:dPr>
                                  <m:ctrlPr>
                                    <a:rPr lang="ro-RO" sz="1600" i="1">
                                      <a:latin typeface="Cambria Math" panose="02040503050406030204" pitchFamily="18" charset="0"/>
                                      <a:ea typeface="Cambria Math" panose="02040503050406030204" pitchFamily="18" charset="0"/>
                                    </a:rPr>
                                  </m:ctrlPr>
                                </m:dPr>
                                <m:e>
                                  <m:r>
                                    <a:rPr lang="en-US" sz="1600" i="1">
                                      <a:solidFill>
                                        <a:srgbClr val="0000FF"/>
                                      </a:solidFill>
                                      <a:latin typeface="Cambria Math" panose="02040503050406030204" pitchFamily="18" charset="0"/>
                                      <a:ea typeface="Cambria Math" panose="02040503050406030204" pitchFamily="18" charset="0"/>
                                    </a:rPr>
                                    <m:t>2</m:t>
                                  </m:r>
                                  <m:r>
                                    <a:rPr lang="en-US" sz="1600" i="1">
                                      <a:solidFill>
                                        <a:srgbClr val="0000FF"/>
                                      </a:solidFill>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m:t>
                                  </m:r>
                                  <m:sSub>
                                    <m:sSubPr>
                                      <m:ctrlPr>
                                        <a:rPr lang="ro-RO"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Sub>
                                </m:e>
                              </m:d>
                            </m:e>
                          </m:nary>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m:t>
                      </m:r>
                    </m:oMath>
                  </m:oMathPara>
                </a14:m>
                <a:endParaRPr lang="en-US" sz="1600"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30BBEDB9-D321-AA00-676D-CB7626B79C8A}"/>
                  </a:ext>
                </a:extLst>
              </p:cNvPr>
              <p:cNvSpPr txBox="1">
                <a:spLocks noRot="1" noChangeAspect="1" noMove="1" noResize="1" noEditPoints="1" noAdjustHandles="1" noChangeArrowheads="1" noChangeShapeType="1" noTextEdit="1"/>
              </p:cNvSpPr>
              <p:nvPr/>
            </p:nvSpPr>
            <p:spPr>
              <a:xfrm>
                <a:off x="-381000" y="1481515"/>
                <a:ext cx="7624315" cy="88556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E016B4-D5B9-4273-9052-46E5204874AA}"/>
                  </a:ext>
                </a:extLst>
              </p:cNvPr>
              <p:cNvSpPr txBox="1"/>
              <p:nvPr/>
            </p:nvSpPr>
            <p:spPr>
              <a:xfrm>
                <a:off x="157353" y="2488877"/>
                <a:ext cx="30323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m:rPr>
                          <m:nor/>
                        </m:rPr>
                        <a:rPr lang="en-US" dirty="0" smtClean="0"/>
                        <m:t>[</m:t>
                      </m:r>
                      <m:r>
                        <m:rPr>
                          <m:nor/>
                        </m:rPr>
                        <a:rPr lang="en-US" dirty="0" smtClean="0"/>
                        <m:t>−</m:t>
                      </m:r>
                      <m:r>
                        <m:rPr>
                          <m:nor/>
                        </m:rPr>
                        <a:rPr lang="en-US" dirty="0" smtClean="0"/>
                        <m:t>2</m:t>
                      </m:r>
                      <m:r>
                        <m:rPr>
                          <m:nor/>
                        </m:rPr>
                        <a:rPr lang="en-US" dirty="0" smtClean="0"/>
                        <m:t>, </m:t>
                      </m:r>
                      <m:r>
                        <m:rPr>
                          <m:nor/>
                        </m:rPr>
                        <a:rPr lang="en-US" dirty="0" smtClean="0"/>
                        <m:t>2</m:t>
                      </m:r>
                      <m:r>
                        <m:rPr>
                          <m:nor/>
                        </m:rPr>
                        <a:rPr lang="en-US" dirty="0" smtClean="0"/>
                        <m:t>] </m:t>
                      </m:r>
                      <m:r>
                        <a:rPr lang="en-US" i="1" dirty="0" smtClean="0">
                          <a:latin typeface="Cambria Math" panose="02040503050406030204" pitchFamily="18" charset="0"/>
                          <a:ea typeface="Cambria Math" panose="02040503050406030204" pitchFamily="18" charset="0"/>
                        </a:rPr>
                        <m:t>×</m:t>
                      </m:r>
                      <m:r>
                        <m:rPr>
                          <m:nor/>
                        </m:rPr>
                        <a:rPr lang="en-US" dirty="0"/>
                        <m:t> [</m:t>
                      </m:r>
                      <m:r>
                        <m:rPr>
                          <m:nor/>
                        </m:rPr>
                        <a:rPr lang="en-US" dirty="0"/>
                        <m:t>−</m:t>
                      </m:r>
                      <m:r>
                        <m:rPr>
                          <m:nor/>
                        </m:rPr>
                        <a:rPr lang="en-US" dirty="0"/>
                        <m:t>2</m:t>
                      </m:r>
                      <m:r>
                        <m:rPr>
                          <m:nor/>
                        </m:rPr>
                        <a:rPr lang="en-US" dirty="0"/>
                        <m:t>, </m:t>
                      </m:r>
                      <m:r>
                        <m:rPr>
                          <m:nor/>
                        </m:rPr>
                        <a:rPr lang="en-US" dirty="0"/>
                        <m:t>2</m:t>
                      </m:r>
                      <m:r>
                        <m:rPr>
                          <m:nor/>
                        </m:rPr>
                        <a:rPr lang="en-US" dirty="0"/>
                        <m:t>]</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oMath>
                  </m:oMathPara>
                </a14:m>
                <a:endParaRPr lang="en-US" dirty="0"/>
              </a:p>
            </p:txBody>
          </p:sp>
        </mc:Choice>
        <mc:Fallback xmlns="">
          <p:sp>
            <p:nvSpPr>
              <p:cNvPr id="10" name="TextBox 9">
                <a:extLst>
                  <a:ext uri="{FF2B5EF4-FFF2-40B4-BE49-F238E27FC236}">
                    <a16:creationId xmlns:a16="http://schemas.microsoft.com/office/drawing/2014/main" id="{77E016B4-D5B9-4273-9052-46E5204874AA}"/>
                  </a:ext>
                </a:extLst>
              </p:cNvPr>
              <p:cNvSpPr txBox="1">
                <a:spLocks noRot="1" noChangeAspect="1" noMove="1" noResize="1" noEditPoints="1" noAdjustHandles="1" noChangeArrowheads="1" noChangeShapeType="1" noTextEdit="1"/>
              </p:cNvSpPr>
              <p:nvPr/>
            </p:nvSpPr>
            <p:spPr>
              <a:xfrm>
                <a:off x="157353" y="2488877"/>
                <a:ext cx="3032369" cy="276999"/>
              </a:xfrm>
              <a:prstGeom prst="rect">
                <a:avLst/>
              </a:prstGeom>
              <a:blipFill>
                <a:blip r:embed="rId8"/>
                <a:stretch>
                  <a:fillRect l="-604" t="-2174" r="-1207"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87C1930-2F4A-48F0-81A2-030486214F5E}"/>
                  </a:ext>
                </a:extLst>
              </p:cNvPr>
              <p:cNvSpPr txBox="1"/>
              <p:nvPr/>
            </p:nvSpPr>
            <p:spPr>
              <a:xfrm>
                <a:off x="3004173" y="2440528"/>
                <a:ext cx="4374397" cy="369332"/>
              </a:xfrm>
              <a:prstGeom prst="rect">
                <a:avLst/>
              </a:prstGeom>
              <a:noFill/>
            </p:spPr>
            <p:txBody>
              <a:bodyPr wrap="square" rtlCol="0">
                <a:spAutoFit/>
              </a:bodyPr>
              <a:lstStyle/>
              <a:p>
                <a:pPr algn="r"/>
                <a:r>
                  <a:rPr lang="ro-RO" dirty="0">
                    <a:sym typeface="Wingdings" panose="05000000000000000000" pitchFamily="2" charset="2"/>
                  </a:rPr>
                  <a:t></a:t>
                </a:r>
                <a:r>
                  <a:rPr lang="en-US" dirty="0">
                    <a:sym typeface="Wingdings" panose="05000000000000000000" pitchFamily="2" charset="2"/>
                  </a:rPr>
                  <a:t> </a:t>
                </a:r>
                <a:r>
                  <a:rPr lang="ro-RO" dirty="0">
                    <a:latin typeface="+mn-lt"/>
                  </a:rPr>
                  <a:t>S</a:t>
                </a:r>
                <a:r>
                  <a:rPr lang="en-US" dirty="0" err="1">
                    <a:latin typeface="+mn-lt"/>
                  </a:rPr>
                  <a:t>olution</a:t>
                </a:r>
                <a:r>
                  <a:rPr lang="en-US" dirty="0">
                    <a:latin typeface="+mn-lt"/>
                  </a:rPr>
                  <a:t> space</a:t>
                </a:r>
                <a:r>
                  <a:rPr lang="ro-RO" dirty="0"/>
                  <a:t>: </a:t>
                </a:r>
                <a14:m>
                  <m:oMath xmlns:m="http://schemas.openxmlformats.org/officeDocument/2006/math">
                    <m:r>
                      <a:rPr lang="en-US" i="1">
                        <a:latin typeface="Cambria Math" panose="02040503050406030204" pitchFamily="18" charset="0"/>
                      </a:rPr>
                      <m:t>𝑆</m:t>
                    </m:r>
                  </m:oMath>
                </a14:m>
                <a:r>
                  <a:rPr lang="en-US" dirty="0"/>
                  <a:t> </a:t>
                </a:r>
                <a14:m>
                  <m:oMath xmlns:m="http://schemas.openxmlformats.org/officeDocument/2006/math">
                    <m:r>
                      <a:rPr lang="ro-RO" b="0" i="1" smtClean="0">
                        <a:latin typeface="Cambria Math" panose="02040503050406030204" pitchFamily="18" charset="0"/>
                      </a:rPr>
                      <m:t>=</m:t>
                    </m:r>
                    <m:r>
                      <m:rPr>
                        <m:nor/>
                      </m:rPr>
                      <a:rPr lang="en-US" dirty="0"/>
                      <m:t>[</m:t>
                    </m:r>
                    <m:r>
                      <m:rPr>
                        <m:nor/>
                      </m:rPr>
                      <a:rPr lang="en-US" dirty="0"/>
                      <m:t>−</m:t>
                    </m:r>
                    <m:r>
                      <m:rPr>
                        <m:nor/>
                      </m:rPr>
                      <a:rPr lang="en-US" dirty="0"/>
                      <m:t>2</m:t>
                    </m:r>
                    <m:r>
                      <m:rPr>
                        <m:nor/>
                      </m:rPr>
                      <a:rPr lang="en-US" dirty="0"/>
                      <m:t>, </m:t>
                    </m:r>
                    <m:r>
                      <m:rPr>
                        <m:nor/>
                      </m:rPr>
                      <a:rPr lang="en-US" dirty="0"/>
                      <m:t>2</m:t>
                    </m:r>
                    <m:r>
                      <m:rPr>
                        <m:nor/>
                      </m:rPr>
                      <a:rPr lang="en-US" dirty="0"/>
                      <m:t>] </m:t>
                    </m:r>
                    <m:r>
                      <a:rPr lang="en-US" i="1" dirty="0">
                        <a:latin typeface="Cambria Math" panose="02040503050406030204" pitchFamily="18" charset="0"/>
                        <a:ea typeface="Cambria Math" panose="02040503050406030204" pitchFamily="18" charset="0"/>
                      </a:rPr>
                      <m:t>×</m:t>
                    </m:r>
                    <m:r>
                      <m:rPr>
                        <m:nor/>
                      </m:rPr>
                      <a:rPr lang="en-US" dirty="0"/>
                      <m:t> [</m:t>
                    </m:r>
                    <m:r>
                      <m:rPr>
                        <m:nor/>
                      </m:rPr>
                      <a:rPr lang="en-US" dirty="0"/>
                      <m:t>−</m:t>
                    </m:r>
                    <m:r>
                      <m:rPr>
                        <m:nor/>
                      </m:rPr>
                      <a:rPr lang="en-US" dirty="0"/>
                      <m:t>2</m:t>
                    </m:r>
                    <m:r>
                      <m:rPr>
                        <m:nor/>
                      </m:rPr>
                      <a:rPr lang="en-US" dirty="0"/>
                      <m:t>, </m:t>
                    </m:r>
                    <m:r>
                      <m:rPr>
                        <m:nor/>
                      </m:rPr>
                      <a:rPr lang="en-US" dirty="0"/>
                      <m:t>2</m:t>
                    </m:r>
                    <m:r>
                      <m:rPr>
                        <m:nor/>
                      </m:rPr>
                      <a:rPr lang="en-US" dirty="0"/>
                      <m:t>]</m:t>
                    </m:r>
                  </m:oMath>
                </a14:m>
                <a:endParaRPr lang="en-US" dirty="0"/>
              </a:p>
            </p:txBody>
          </p:sp>
        </mc:Choice>
        <mc:Fallback>
          <p:sp>
            <p:nvSpPr>
              <p:cNvPr id="11" name="TextBox 10">
                <a:extLst>
                  <a:ext uri="{FF2B5EF4-FFF2-40B4-BE49-F238E27FC236}">
                    <a16:creationId xmlns:a16="http://schemas.microsoft.com/office/drawing/2014/main" id="{187C1930-2F4A-48F0-81A2-030486214F5E}"/>
                  </a:ext>
                </a:extLst>
              </p:cNvPr>
              <p:cNvSpPr txBox="1">
                <a:spLocks noRot="1" noChangeAspect="1" noMove="1" noResize="1" noEditPoints="1" noAdjustHandles="1" noChangeArrowheads="1" noChangeShapeType="1" noTextEdit="1"/>
              </p:cNvSpPr>
              <p:nvPr/>
            </p:nvSpPr>
            <p:spPr>
              <a:xfrm>
                <a:off x="3004173" y="2440528"/>
                <a:ext cx="4374397" cy="369332"/>
              </a:xfrm>
              <a:prstGeom prst="rect">
                <a:avLst/>
              </a:prstGeom>
              <a:blipFill>
                <a:blip r:embed="rId9"/>
                <a:stretch>
                  <a:fillRect t="-9836" r="-558" b="-26230"/>
                </a:stretch>
              </a:blipFill>
            </p:spPr>
            <p:txBody>
              <a:bodyPr/>
              <a:lstStyle/>
              <a:p>
                <a:r>
                  <a:rPr lang="en-US">
                    <a:noFill/>
                  </a:rPr>
                  <a:t> </a:t>
                </a:r>
              </a:p>
            </p:txBody>
          </p:sp>
        </mc:Fallback>
      </mc:AlternateContent>
      <p:sp>
        <p:nvSpPr>
          <p:cNvPr id="12" name="Rectangle 2">
            <a:extLst>
              <a:ext uri="{FF2B5EF4-FFF2-40B4-BE49-F238E27FC236}">
                <a16:creationId xmlns:a16="http://schemas.microsoft.com/office/drawing/2014/main" id="{83C534F4-C5B2-776F-041E-BD5A3C05F767}"/>
              </a:ext>
            </a:extLst>
          </p:cNvPr>
          <p:cNvSpPr txBox="1">
            <a:spLocks noChangeArrowheads="1"/>
          </p:cNvSpPr>
          <p:nvPr/>
        </p:nvSpPr>
        <p:spPr>
          <a:xfrm>
            <a:off x="342900" y="412230"/>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2617828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A3C725-9229-6A9F-19ED-D271D06A4B22}"/>
              </a:ext>
            </a:extLst>
          </p:cNvPr>
          <p:cNvPicPr>
            <a:picLocks noChangeAspect="1"/>
          </p:cNvPicPr>
          <p:nvPr/>
        </p:nvPicPr>
        <p:blipFill rotWithShape="1">
          <a:blip r:embed="rId3">
            <a:extLst>
              <a:ext uri="{28A0092B-C50C-407E-A947-70E740481C1C}">
                <a14:useLocalDpi xmlns:a14="http://schemas.microsoft.com/office/drawing/2010/main" val="0"/>
              </a:ext>
            </a:extLst>
          </a:blip>
          <a:srcRect l="25702" t="23760" r="16470" b="16303"/>
          <a:stretch/>
        </p:blipFill>
        <p:spPr>
          <a:xfrm>
            <a:off x="3301040" y="2846249"/>
            <a:ext cx="4852360" cy="3520340"/>
          </a:xfrm>
          <a:prstGeom prst="rect">
            <a:avLst/>
          </a:prstGeom>
        </p:spPr>
      </p:pic>
      <p:sp>
        <p:nvSpPr>
          <p:cNvPr id="5" name="TextBox 4">
            <a:extLst>
              <a:ext uri="{FF2B5EF4-FFF2-40B4-BE49-F238E27FC236}">
                <a16:creationId xmlns:a16="http://schemas.microsoft.com/office/drawing/2014/main" id="{80E0B2C7-ABE2-D150-BFAF-0C9BC78CA88C}"/>
              </a:ext>
            </a:extLst>
          </p:cNvPr>
          <p:cNvSpPr txBox="1"/>
          <p:nvPr/>
        </p:nvSpPr>
        <p:spPr>
          <a:xfrm>
            <a:off x="147382" y="3851075"/>
            <a:ext cx="3281618" cy="923330"/>
          </a:xfrm>
          <a:prstGeom prst="rect">
            <a:avLst/>
          </a:prstGeom>
          <a:noFill/>
        </p:spPr>
        <p:txBody>
          <a:bodyPr wrap="square" rtlCol="0">
            <a:spAutoFit/>
          </a:bodyPr>
          <a:lstStyle/>
          <a:p>
            <a:pPr algn="ctr"/>
            <a:r>
              <a:rPr lang="en-US" dirty="0">
                <a:latin typeface="+mj-lt"/>
              </a:rPr>
              <a:t>Population evolution: </a:t>
            </a:r>
          </a:p>
          <a:p>
            <a:pPr algn="ctr"/>
            <a:r>
              <a:rPr lang="en-US" dirty="0">
                <a:latin typeface="+mj-lt"/>
              </a:rPr>
              <a:t>ES, minimizing the Ackley function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1674EA-7EE4-A97F-7E4C-FDDF6A0322EE}"/>
                  </a:ext>
                </a:extLst>
              </p:cNvPr>
              <p:cNvSpPr txBox="1"/>
              <p:nvPr/>
            </p:nvSpPr>
            <p:spPr>
              <a:xfrm>
                <a:off x="114300" y="1040906"/>
                <a:ext cx="2362200"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rPr>
                            <m:t>𝑛</m:t>
                          </m:r>
                        </m:sup>
                      </m:sSup>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𝑥</m:t>
                      </m:r>
                      <m:r>
                        <a:rPr lang="en-US" b="0" i="1" dirty="0"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a:latin typeface="Cambria Math" panose="02040503050406030204" pitchFamily="18" charset="0"/>
                            </a:rPr>
                            <m:t>𝑛</m:t>
                          </m:r>
                        </m:sup>
                      </m:sSup>
                    </m:oMath>
                  </m:oMathPara>
                </a14:m>
                <a:endParaRPr lang="en-US" dirty="0"/>
              </a:p>
            </p:txBody>
          </p:sp>
        </mc:Choice>
        <mc:Fallback xmlns="">
          <p:sp>
            <p:nvSpPr>
              <p:cNvPr id="6" name="TextBox 5">
                <a:extLst>
                  <a:ext uri="{FF2B5EF4-FFF2-40B4-BE49-F238E27FC236}">
                    <a16:creationId xmlns:a16="http://schemas.microsoft.com/office/drawing/2014/main" id="{CB1674EA-7EE4-A97F-7E4C-FDDF6A0322EE}"/>
                  </a:ext>
                </a:extLst>
              </p:cNvPr>
              <p:cNvSpPr txBox="1">
                <a:spLocks noRot="1" noChangeAspect="1" noMove="1" noResize="1" noEditPoints="1" noAdjustHandles="1" noChangeArrowheads="1" noChangeShapeType="1" noTextEdit="1"/>
              </p:cNvSpPr>
              <p:nvPr/>
            </p:nvSpPr>
            <p:spPr>
              <a:xfrm>
                <a:off x="114300" y="1040906"/>
                <a:ext cx="2362200" cy="276999"/>
              </a:xfrm>
              <a:prstGeom prst="rect">
                <a:avLst/>
              </a:prstGeom>
              <a:blipFill>
                <a:blip r:embed="rId4"/>
                <a:stretch>
                  <a:fillRect t="-222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EA99ED-C83E-0952-5C6E-D6024702CA8B}"/>
                  </a:ext>
                </a:extLst>
              </p:cNvPr>
              <p:cNvSpPr txBox="1"/>
              <p:nvPr/>
            </p:nvSpPr>
            <p:spPr>
              <a:xfrm>
                <a:off x="114300" y="1259675"/>
                <a:ext cx="7317740" cy="885563"/>
              </a:xfrm>
              <a:prstGeom prst="rect">
                <a:avLst/>
              </a:prstGeom>
              <a:noFill/>
            </p:spPr>
            <p:txBody>
              <a:bodyPr wrap="square">
                <a:spAutoFit/>
              </a:bodyPr>
              <a:lstStyle/>
              <a:p>
                <a:pPr marL="89297"/>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ea typeface="Cambria Math" panose="02040503050406030204" pitchFamily="18" charset="0"/>
                        </a:rPr>
                        <m:t>𝑓</m:t>
                      </m:r>
                      <m:d>
                        <m:dPr>
                          <m:ctrlPr>
                            <a:rPr lang="ro-RO"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𝑥</m:t>
                          </m:r>
                        </m:e>
                      </m:d>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m:t>
                          </m:r>
                          <m:r>
                            <a:rPr lang="en-US" sz="1600" i="1">
                              <a:solidFill>
                                <a:srgbClr val="0000FF"/>
                              </a:solidFill>
                              <a:latin typeface="Cambria Math" panose="02040503050406030204" pitchFamily="18" charset="0"/>
                              <a:ea typeface="Cambria Math" panose="02040503050406030204" pitchFamily="18" charset="0"/>
                            </a:rPr>
                            <m:t>0.2</m:t>
                          </m:r>
                          <m:r>
                            <a:rPr lang="en-US" sz="1600" i="1">
                              <a:latin typeface="Cambria Math" panose="02040503050406030204" pitchFamily="18" charset="0"/>
                              <a:ea typeface="Cambria Math" panose="02040503050406030204" pitchFamily="18" charset="0"/>
                            </a:rPr>
                            <m:t>∙</m:t>
                          </m:r>
                          <m:rad>
                            <m:radPr>
                              <m:degHide m:val="on"/>
                              <m:ctrlPr>
                                <a:rPr lang="ro-RO" sz="1600" i="1">
                                  <a:latin typeface="Cambria Math" panose="02040503050406030204" pitchFamily="18" charset="0"/>
                                  <a:ea typeface="Cambria Math" panose="02040503050406030204" pitchFamily="18" charset="0"/>
                                </a:rPr>
                              </m:ctrlPr>
                            </m:radPr>
                            <m:deg/>
                            <m:e>
                              <m:f>
                                <m:fPr>
                                  <m:ctrlPr>
                                    <a:rPr lang="ro-RO" sz="1600" i="1">
                                      <a:latin typeface="Cambria Math" panose="02040503050406030204" pitchFamily="18" charset="0"/>
                                      <a:ea typeface="Cambria Math" panose="02040503050406030204" pitchFamily="18" charset="0"/>
                                    </a:rPr>
                                  </m:ctrlPr>
                                </m:fPr>
                                <m:num>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sSubSup>
                                        <m:sSubSupPr>
                                          <m:ctrlPr>
                                            <a:rPr lang="ro-RO" sz="1600" i="1">
                                              <a:latin typeface="Cambria Math" panose="02040503050406030204" pitchFamily="18" charset="0"/>
                                              <a:ea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up>
                                          <m:r>
                                            <a:rPr lang="en-US" sz="1600" i="1">
                                              <a:latin typeface="Cambria Math" panose="02040503050406030204" pitchFamily="18" charset="0"/>
                                              <a:ea typeface="Cambria Math" panose="02040503050406030204" pitchFamily="18" charset="0"/>
                                            </a:rPr>
                                            <m:t>2</m:t>
                                          </m:r>
                                        </m:sup>
                                      </m:sSubSup>
                                    </m:e>
                                  </m:nary>
                                </m:num>
                                <m:den>
                                  <m:r>
                                    <a:rPr lang="en-US" sz="1600" i="1">
                                      <a:latin typeface="Cambria Math" panose="02040503050406030204" pitchFamily="18" charset="0"/>
                                      <a:ea typeface="Cambria Math" panose="02040503050406030204" pitchFamily="18" charset="0"/>
                                    </a:rPr>
                                    <m:t>𝑛</m:t>
                                  </m:r>
                                </m:den>
                              </m:f>
                            </m:e>
                          </m:rad>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𝑒𝑥𝑝</m:t>
                      </m:r>
                      <m:d>
                        <m:dPr>
                          <m:ctrlPr>
                            <a:rPr lang="en-US" sz="1600" i="1">
                              <a:latin typeface="Cambria Math" panose="02040503050406030204" pitchFamily="18" charset="0"/>
                              <a:ea typeface="Cambria Math" panose="02040503050406030204" pitchFamily="18" charset="0"/>
                            </a:rPr>
                          </m:ctrlPr>
                        </m:dPr>
                        <m:e>
                          <m:f>
                            <m:fPr>
                              <m:ctrlPr>
                                <a:rPr lang="ro-RO"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1</m:t>
                              </m:r>
                            </m:num>
                            <m:den>
                              <m:r>
                                <a:rPr lang="en-US" sz="1600" i="1">
                                  <a:latin typeface="Cambria Math" panose="02040503050406030204" pitchFamily="18" charset="0"/>
                                  <a:ea typeface="Cambria Math" panose="02040503050406030204" pitchFamily="18" charset="0"/>
                                </a:rPr>
                                <m:t>𝑛</m:t>
                              </m:r>
                            </m:den>
                          </m:f>
                          <m:r>
                            <a:rPr lang="en-US" sz="1600" i="1">
                              <a:latin typeface="Cambria Math" panose="02040503050406030204" pitchFamily="18" charset="0"/>
                              <a:ea typeface="Cambria Math" panose="02040503050406030204" pitchFamily="18" charset="0"/>
                            </a:rPr>
                            <m:t>∙</m:t>
                          </m:r>
                          <m:nary>
                            <m:naryPr>
                              <m:chr m:val="∑"/>
                              <m:limLoc m:val="undOvr"/>
                              <m:ctrlPr>
                                <a:rPr lang="ro-RO" sz="1600" i="1">
                                  <a:latin typeface="Cambria Math" panose="02040503050406030204" pitchFamily="18" charset="0"/>
                                  <a:ea typeface="Cambria Math" panose="02040503050406030204" pitchFamily="18" charset="0"/>
                                </a:rPr>
                              </m:ctrlPr>
                            </m:naryPr>
                            <m:sub>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sub>
                            <m:sup>
                              <m:r>
                                <a:rPr lang="en-US" sz="1600" i="1">
                                  <a:latin typeface="Cambria Math" panose="02040503050406030204" pitchFamily="18" charset="0"/>
                                  <a:ea typeface="Cambria Math" panose="02040503050406030204" pitchFamily="18" charset="0"/>
                                </a:rPr>
                                <m:t>𝑛</m:t>
                              </m:r>
                            </m:sup>
                            <m:e>
                              <m:r>
                                <a:rPr lang="en-US" sz="1600" i="1">
                                  <a:latin typeface="Cambria Math" panose="02040503050406030204" pitchFamily="18" charset="0"/>
                                  <a:ea typeface="Cambria Math" panose="02040503050406030204" pitchFamily="18" charset="0"/>
                                </a:rPr>
                                <m:t>𝑐𝑜𝑠</m:t>
                              </m:r>
                              <m:d>
                                <m:dPr>
                                  <m:ctrlPr>
                                    <a:rPr lang="ro-RO" sz="1600" i="1">
                                      <a:latin typeface="Cambria Math" panose="02040503050406030204" pitchFamily="18" charset="0"/>
                                      <a:ea typeface="Cambria Math" panose="02040503050406030204" pitchFamily="18" charset="0"/>
                                    </a:rPr>
                                  </m:ctrlPr>
                                </m:dPr>
                                <m:e>
                                  <m:r>
                                    <a:rPr lang="en-US" sz="1600" i="1">
                                      <a:solidFill>
                                        <a:srgbClr val="0000FF"/>
                                      </a:solidFill>
                                      <a:latin typeface="Cambria Math" panose="02040503050406030204" pitchFamily="18" charset="0"/>
                                      <a:ea typeface="Cambria Math" panose="02040503050406030204" pitchFamily="18" charset="0"/>
                                    </a:rPr>
                                    <m:t>2∙</m:t>
                                  </m:r>
                                  <m:r>
                                    <a:rPr lang="en-US" sz="1600" i="1">
                                      <a:solidFill>
                                        <a:srgbClr val="0000FF"/>
                                      </a:solidFill>
                                      <a:latin typeface="Cambria Math" panose="02040503050406030204" pitchFamily="18" charset="0"/>
                                      <a:ea typeface="Cambria Math" panose="02040503050406030204" pitchFamily="18" charset="0"/>
                                    </a:rPr>
                                    <m:t>𝜋</m:t>
                                  </m:r>
                                  <m:r>
                                    <a:rPr lang="en-US" sz="1600" i="1">
                                      <a:latin typeface="Cambria Math" panose="02040503050406030204" pitchFamily="18" charset="0"/>
                                      <a:ea typeface="Cambria Math" panose="02040503050406030204" pitchFamily="18" charset="0"/>
                                    </a:rPr>
                                    <m:t>∙</m:t>
                                  </m:r>
                                  <m:sSub>
                                    <m:sSubPr>
                                      <m:ctrlPr>
                                        <a:rPr lang="ro-RO"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𝑖</m:t>
                                      </m:r>
                                    </m:sub>
                                  </m:sSub>
                                </m:e>
                              </m:d>
                            </m:e>
                          </m:nary>
                        </m:e>
                      </m:d>
                      <m:r>
                        <a:rPr lang="en-US" sz="1600" i="1">
                          <a:latin typeface="Cambria Math" panose="02040503050406030204" pitchFamily="18" charset="0"/>
                          <a:ea typeface="Cambria Math" panose="02040503050406030204" pitchFamily="18" charset="0"/>
                        </a:rPr>
                        <m:t>+20+</m:t>
                      </m:r>
                      <m:r>
                        <a:rPr lang="en-US" sz="1600" i="1">
                          <a:latin typeface="Cambria Math" panose="02040503050406030204" pitchFamily="18" charset="0"/>
                          <a:ea typeface="Cambria Math" panose="02040503050406030204" pitchFamily="18" charset="0"/>
                        </a:rPr>
                        <m:t>𝑒</m:t>
                      </m:r>
                    </m:oMath>
                  </m:oMathPara>
                </a14:m>
                <a:endParaRPr lang="en-US" sz="1600" dirty="0">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F0EA99ED-C83E-0952-5C6E-D6024702CA8B}"/>
                  </a:ext>
                </a:extLst>
              </p:cNvPr>
              <p:cNvSpPr txBox="1">
                <a:spLocks noRot="1" noChangeAspect="1" noMove="1" noResize="1" noEditPoints="1" noAdjustHandles="1" noChangeArrowheads="1" noChangeShapeType="1" noTextEdit="1"/>
              </p:cNvSpPr>
              <p:nvPr/>
            </p:nvSpPr>
            <p:spPr>
              <a:xfrm>
                <a:off x="114300" y="1259675"/>
                <a:ext cx="7317740" cy="88556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A4602B7-FFB6-B389-E284-06EB10215322}"/>
                  </a:ext>
                </a:extLst>
              </p:cNvPr>
              <p:cNvSpPr txBox="1"/>
              <p:nvPr/>
            </p:nvSpPr>
            <p:spPr>
              <a:xfrm>
                <a:off x="147381" y="2307491"/>
                <a:ext cx="8722050" cy="553998"/>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=3, </m:t>
                    </m:r>
                    <m:r>
                      <a:rPr lang="en-US" b="0" i="1" smtClean="0">
                        <a:latin typeface="Cambria Math" panose="02040503050406030204" pitchFamily="18" charset="0"/>
                      </a:rPr>
                      <m:t>𝑓</m:t>
                    </m:r>
                    <m:r>
                      <a:rPr lang="en-US" b="0" i="1" smtClean="0">
                        <a:latin typeface="Cambria Math" panose="02040503050406030204" pitchFamily="18" charset="0"/>
                      </a:rPr>
                      <m:t>:</m:t>
                    </m:r>
                    <m:r>
                      <m:rPr>
                        <m:nor/>
                      </m:rPr>
                      <a:rPr lang="en-US" dirty="0" smtClean="0"/>
                      <m:t>[−2, 2] </m:t>
                    </m:r>
                    <m:r>
                      <a:rPr lang="en-US" i="1" dirty="0" smtClean="0">
                        <a:latin typeface="Cambria Math" panose="02040503050406030204" pitchFamily="18" charset="0"/>
                        <a:ea typeface="Cambria Math" panose="02040503050406030204" pitchFamily="18" charset="0"/>
                      </a:rPr>
                      <m:t>×</m:t>
                    </m:r>
                    <m:r>
                      <m:rPr>
                        <m:nor/>
                      </m:rPr>
                      <a:rPr lang="en-US" dirty="0"/>
                      <m:t> [−2, 2]</m:t>
                    </m:r>
                    <m:r>
                      <a:rPr lang="en-US" i="1" dirty="0">
                        <a:latin typeface="Cambria Math" panose="02040503050406030204" pitchFamily="18" charset="0"/>
                        <a:ea typeface="Cambria Math" panose="02040503050406030204" pitchFamily="18" charset="0"/>
                      </a:rPr>
                      <m:t>×</m:t>
                    </m:r>
                    <m:r>
                      <m:rPr>
                        <m:nor/>
                      </m:rPr>
                      <a:rPr lang="en-US" dirty="0"/>
                      <m:t> [−2, 2]</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ℝ</m:t>
                    </m:r>
                  </m:oMath>
                </a14:m>
                <a:r>
                  <a:rPr lang="en-US" dirty="0"/>
                  <a:t> </a:t>
                </a:r>
                <a:r>
                  <a:rPr lang="ro-RO" dirty="0">
                    <a:sym typeface="Wingdings" panose="05000000000000000000" pitchFamily="2" charset="2"/>
                  </a:rPr>
                  <a:t></a:t>
                </a:r>
                <a:r>
                  <a:rPr lang="en-US" dirty="0">
                    <a:sym typeface="Wingdings" panose="05000000000000000000" pitchFamily="2" charset="2"/>
                  </a:rPr>
                  <a:t> </a:t>
                </a:r>
                <a:r>
                  <a:rPr lang="ro-RO" dirty="0"/>
                  <a:t>S</a:t>
                </a:r>
                <a:r>
                  <a:rPr lang="en-US" dirty="0" err="1"/>
                  <a:t>olution</a:t>
                </a:r>
                <a:r>
                  <a:rPr lang="en-US" dirty="0"/>
                  <a:t> space</a:t>
                </a:r>
                <a:r>
                  <a:rPr lang="ro-RO" dirty="0"/>
                  <a:t>: </a:t>
                </a:r>
                <a14:m>
                  <m:oMath xmlns:m="http://schemas.openxmlformats.org/officeDocument/2006/math">
                    <m:r>
                      <a:rPr lang="en-US" i="1">
                        <a:latin typeface="Cambria Math" panose="02040503050406030204" pitchFamily="18" charset="0"/>
                      </a:rPr>
                      <m:t>𝑆</m:t>
                    </m:r>
                  </m:oMath>
                </a14:m>
                <a:r>
                  <a:rPr lang="en-US" dirty="0"/>
                  <a:t> </a:t>
                </a:r>
                <a14:m>
                  <m:oMath xmlns:m="http://schemas.openxmlformats.org/officeDocument/2006/math">
                    <m:r>
                      <a:rPr lang="ro-RO" i="1">
                        <a:latin typeface="Cambria Math" panose="02040503050406030204" pitchFamily="18" charset="0"/>
                      </a:rPr>
                      <m:t>=</m:t>
                    </m:r>
                    <m:r>
                      <m:rPr>
                        <m:nor/>
                      </m:rPr>
                      <a:rPr lang="en-US" dirty="0"/>
                      <m:t>[−2, 2] </m:t>
                    </m:r>
                    <m:r>
                      <a:rPr lang="en-US" i="1" dirty="0">
                        <a:latin typeface="Cambria Math" panose="02040503050406030204" pitchFamily="18" charset="0"/>
                        <a:ea typeface="Cambria Math" panose="02040503050406030204" pitchFamily="18" charset="0"/>
                      </a:rPr>
                      <m:t>×</m:t>
                    </m:r>
                    <m:r>
                      <m:rPr>
                        <m:nor/>
                      </m:rPr>
                      <a:rPr lang="en-US" dirty="0"/>
                      <m:t> [−2, 2]</m:t>
                    </m:r>
                    <m:r>
                      <a:rPr lang="en-US" i="1" dirty="0">
                        <a:latin typeface="Cambria Math" panose="02040503050406030204" pitchFamily="18" charset="0"/>
                        <a:ea typeface="Cambria Math" panose="02040503050406030204" pitchFamily="18" charset="0"/>
                      </a:rPr>
                      <m:t>×</m:t>
                    </m:r>
                    <m:r>
                      <m:rPr>
                        <m:nor/>
                      </m:rPr>
                      <a:rPr lang="en-US" dirty="0"/>
                      <m:t> [−2, 2]</m:t>
                    </m:r>
                  </m:oMath>
                </a14:m>
                <a:endParaRPr lang="en-US" dirty="0"/>
              </a:p>
              <a:p>
                <a:endParaRPr lang="en-US" dirty="0"/>
              </a:p>
            </p:txBody>
          </p:sp>
        </mc:Choice>
        <mc:Fallback>
          <p:sp>
            <p:nvSpPr>
              <p:cNvPr id="8" name="TextBox 7">
                <a:extLst>
                  <a:ext uri="{FF2B5EF4-FFF2-40B4-BE49-F238E27FC236}">
                    <a16:creationId xmlns:a16="http://schemas.microsoft.com/office/drawing/2014/main" id="{8A4602B7-FFB6-B389-E284-06EB10215322}"/>
                  </a:ext>
                </a:extLst>
              </p:cNvPr>
              <p:cNvSpPr txBox="1">
                <a:spLocks noRot="1" noChangeAspect="1" noMove="1" noResize="1" noEditPoints="1" noAdjustHandles="1" noChangeArrowheads="1" noChangeShapeType="1" noTextEdit="1"/>
              </p:cNvSpPr>
              <p:nvPr/>
            </p:nvSpPr>
            <p:spPr>
              <a:xfrm>
                <a:off x="147381" y="2307491"/>
                <a:ext cx="8722050" cy="553998"/>
              </a:xfrm>
              <a:prstGeom prst="rect">
                <a:avLst/>
              </a:prstGeom>
              <a:blipFill>
                <a:blip r:embed="rId6"/>
                <a:stretch>
                  <a:fillRect l="-699" t="-15556"/>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FE635310-73DF-9AFF-2F11-05FEE6539A0E}"/>
              </a:ext>
            </a:extLst>
          </p:cNvPr>
          <p:cNvSpPr txBox="1">
            <a:spLocks noChangeArrowheads="1"/>
          </p:cNvSpPr>
          <p:nvPr/>
        </p:nvSpPr>
        <p:spPr>
          <a:xfrm>
            <a:off x="228600" y="459067"/>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982309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6"/>
          <p:cNvSpPr>
            <a:spLocks noGrp="1"/>
          </p:cNvSpPr>
          <p:nvPr>
            <p:ph idx="1"/>
          </p:nvPr>
        </p:nvSpPr>
        <p:spPr/>
        <p:txBody>
          <a:bodyPr/>
          <a:lstStyle/>
          <a:p>
            <a:pPr>
              <a:buFont typeface="Wingdings" panose="05000000000000000000" pitchFamily="2" charset="2"/>
              <a:buChar char="q"/>
            </a:pPr>
            <a:r>
              <a:rPr lang="ro-RO" dirty="0"/>
              <a:t>Popula</a:t>
            </a:r>
            <a:r>
              <a:rPr lang="en-US" dirty="0" err="1"/>
              <a:t>tion</a:t>
            </a:r>
            <a:endParaRPr lang="ro-RO" dirty="0"/>
          </a:p>
          <a:p>
            <a:pPr lvl="1">
              <a:buFont typeface="Wingdings" panose="05000000000000000000" pitchFamily="2" charset="2"/>
              <a:buChar char="q"/>
            </a:pPr>
            <a:r>
              <a:rPr lang="ro-RO" sz="1800" dirty="0">
                <a:sym typeface="Wingdings" panose="05000000000000000000" pitchFamily="2" charset="2"/>
              </a:rPr>
              <a:t>Ini</a:t>
            </a:r>
            <a:r>
              <a:rPr lang="en-US" sz="1800" dirty="0" err="1">
                <a:sym typeface="Wingdings" panose="05000000000000000000" pitchFamily="2" charset="2"/>
              </a:rPr>
              <a:t>tial</a:t>
            </a:r>
            <a:endParaRPr lang="ro-RO" sz="1800" dirty="0">
              <a:sym typeface="Wingdings" panose="05000000000000000000" pitchFamily="2" charset="2"/>
            </a:endParaRPr>
          </a:p>
          <a:p>
            <a:pPr lvl="1">
              <a:buFont typeface="Wingdings" panose="05000000000000000000" pitchFamily="2" charset="2"/>
              <a:buChar char="q"/>
            </a:pPr>
            <a:r>
              <a:rPr lang="en-US" sz="1800" dirty="0">
                <a:sym typeface="Wingdings" panose="05000000000000000000" pitchFamily="2" charset="2"/>
              </a:rPr>
              <a:t>Current population </a:t>
            </a:r>
            <a:r>
              <a:rPr lang="ro-RO" sz="1800" dirty="0">
                <a:sym typeface="Wingdings" panose="05000000000000000000" pitchFamily="2" charset="2"/>
              </a:rPr>
              <a:t>(</a:t>
            </a:r>
            <a:r>
              <a:rPr lang="en-US" sz="1800" dirty="0">
                <a:sym typeface="Wingdings" panose="05000000000000000000" pitchFamily="2" charset="2"/>
              </a:rPr>
              <a:t>G</a:t>
            </a:r>
            <a:r>
              <a:rPr lang="ro-RO" sz="1800" dirty="0">
                <a:sym typeface="Wingdings" panose="05000000000000000000" pitchFamily="2" charset="2"/>
              </a:rPr>
              <a:t>enera</a:t>
            </a:r>
            <a:r>
              <a:rPr lang="en-US" sz="1800" dirty="0" err="1">
                <a:sym typeface="Wingdings" panose="05000000000000000000" pitchFamily="2" charset="2"/>
              </a:rPr>
              <a:t>tion</a:t>
            </a:r>
            <a:r>
              <a:rPr lang="ro-RO" sz="1800" dirty="0">
                <a:sym typeface="Wingdings" panose="05000000000000000000" pitchFamily="2" charset="2"/>
              </a:rPr>
              <a:t>)</a:t>
            </a:r>
          </a:p>
          <a:p>
            <a:pPr lvl="1">
              <a:buFont typeface="Wingdings" panose="05000000000000000000" pitchFamily="2" charset="2"/>
              <a:buChar char="q"/>
            </a:pPr>
            <a:r>
              <a:rPr lang="ro-RO" sz="1800" dirty="0">
                <a:sym typeface="Wingdings" panose="05000000000000000000" pitchFamily="2" charset="2"/>
              </a:rPr>
              <a:t>P</a:t>
            </a:r>
            <a:r>
              <a:rPr lang="en-US" sz="1800" dirty="0" err="1">
                <a:sym typeface="Wingdings" panose="05000000000000000000" pitchFamily="2" charset="2"/>
              </a:rPr>
              <a:t>arent</a:t>
            </a:r>
            <a:r>
              <a:rPr lang="ro-RO" sz="1800" dirty="0">
                <a:sym typeface="Wingdings" panose="05000000000000000000" pitchFamily="2" charset="2"/>
              </a:rPr>
              <a:t> </a:t>
            </a:r>
            <a:r>
              <a:rPr lang="en-US" sz="1800" dirty="0">
                <a:sym typeface="Wingdings" panose="05000000000000000000" pitchFamily="2" charset="2"/>
              </a:rPr>
              <a:t>population (Mating pool)</a:t>
            </a:r>
            <a:r>
              <a:rPr lang="ro-RO" sz="1800" dirty="0">
                <a:sym typeface="Wingdings" panose="05000000000000000000" pitchFamily="2" charset="2"/>
              </a:rPr>
              <a:t> </a:t>
            </a:r>
            <a:r>
              <a:rPr lang="ro-RO" sz="1800" dirty="0">
                <a:latin typeface="Times New Roman"/>
                <a:cs typeface="Times New Roman"/>
                <a:sym typeface="Wingdings" panose="05000000000000000000" pitchFamily="2" charset="2"/>
              </a:rPr>
              <a:t>→ select</a:t>
            </a:r>
            <a:r>
              <a:rPr lang="en-US" sz="1800" dirty="0">
                <a:latin typeface="Times New Roman"/>
                <a:cs typeface="Times New Roman"/>
                <a:sym typeface="Wingdings" panose="05000000000000000000" pitchFamily="2" charset="2"/>
              </a:rPr>
              <a:t>ed from the current generation</a:t>
            </a:r>
            <a:endParaRPr lang="ro-RO" sz="1800" dirty="0">
              <a:sym typeface="Wingdings" panose="05000000000000000000" pitchFamily="2" charset="2"/>
            </a:endParaRPr>
          </a:p>
          <a:p>
            <a:pPr lvl="1">
              <a:buFont typeface="Wingdings" panose="05000000000000000000" pitchFamily="2" charset="2"/>
              <a:buChar char="q"/>
            </a:pPr>
            <a:r>
              <a:rPr lang="en-US" sz="1800" dirty="0">
                <a:sym typeface="Wingdings" panose="05000000000000000000" pitchFamily="2" charset="2"/>
              </a:rPr>
              <a:t>Offspring population</a:t>
            </a:r>
            <a:r>
              <a:rPr lang="ro-RO" sz="1800" dirty="0">
                <a:sym typeface="Wingdings" panose="05000000000000000000" pitchFamily="2" charset="2"/>
              </a:rPr>
              <a:t> </a:t>
            </a:r>
            <a:r>
              <a:rPr lang="ro-RO" sz="1800" dirty="0">
                <a:latin typeface="Times New Roman"/>
                <a:cs typeface="Times New Roman"/>
                <a:sym typeface="Wingdings" panose="05000000000000000000" pitchFamily="2" charset="2"/>
              </a:rPr>
              <a:t>→ </a:t>
            </a:r>
            <a:r>
              <a:rPr lang="en-US" sz="1800" dirty="0">
                <a:latin typeface="Times New Roman"/>
                <a:cs typeface="Times New Roman"/>
                <a:sym typeface="Wingdings" panose="05000000000000000000" pitchFamily="2" charset="2"/>
              </a:rPr>
              <a:t>generated from the parent pool</a:t>
            </a:r>
            <a:endParaRPr lang="ro-RO" sz="1800" dirty="0">
              <a:latin typeface="Times New Roman"/>
              <a:cs typeface="Times New Roman"/>
              <a:sym typeface="Wingdings" panose="05000000000000000000" pitchFamily="2" charset="2"/>
            </a:endParaRPr>
          </a:p>
          <a:p>
            <a:pPr lvl="1">
              <a:buFont typeface="Wingdings" panose="05000000000000000000" pitchFamily="2" charset="2"/>
              <a:buChar char="q"/>
            </a:pPr>
            <a:r>
              <a:rPr lang="en-US" sz="1800" dirty="0">
                <a:sym typeface="Wingdings" panose="05000000000000000000" pitchFamily="2" charset="2"/>
              </a:rPr>
              <a:t>Next population</a:t>
            </a:r>
            <a:r>
              <a:rPr lang="ro-RO" sz="1800" dirty="0">
                <a:sym typeface="Wingdings" panose="05000000000000000000" pitchFamily="2" charset="2"/>
              </a:rPr>
              <a:t> (</a:t>
            </a:r>
            <a:r>
              <a:rPr lang="en-US" sz="1800" dirty="0">
                <a:sym typeface="Wingdings" panose="05000000000000000000" pitchFamily="2" charset="2"/>
              </a:rPr>
              <a:t>G</a:t>
            </a:r>
            <a:r>
              <a:rPr lang="ro-RO" sz="1800" dirty="0">
                <a:sym typeface="Wingdings" panose="05000000000000000000" pitchFamily="2" charset="2"/>
              </a:rPr>
              <a:t>enera</a:t>
            </a:r>
            <a:r>
              <a:rPr lang="en-US" sz="1800" dirty="0" err="1">
                <a:sym typeface="Wingdings" panose="05000000000000000000" pitchFamily="2" charset="2"/>
              </a:rPr>
              <a:t>tion</a:t>
            </a:r>
            <a:r>
              <a:rPr lang="ro-RO" sz="1800" dirty="0">
                <a:sym typeface="Wingdings" panose="05000000000000000000" pitchFamily="2" charset="2"/>
              </a:rPr>
              <a:t>) </a:t>
            </a:r>
            <a:r>
              <a:rPr lang="ro-RO" sz="1800" dirty="0">
                <a:latin typeface="Times New Roman"/>
                <a:cs typeface="Times New Roman"/>
                <a:sym typeface="Wingdings" panose="05000000000000000000" pitchFamily="2" charset="2"/>
              </a:rPr>
              <a:t>→ select</a:t>
            </a:r>
            <a:r>
              <a:rPr lang="en-US" sz="1800" dirty="0">
                <a:latin typeface="Times New Roman"/>
                <a:cs typeface="Times New Roman"/>
                <a:sym typeface="Wingdings" panose="05000000000000000000" pitchFamily="2" charset="2"/>
              </a:rPr>
              <a:t>ed from the current generation and the new individuals</a:t>
            </a:r>
            <a:endParaRPr lang="ro-RO" sz="1800" dirty="0">
              <a:sym typeface="Wingdings" panose="05000000000000000000" pitchFamily="2" charset="2"/>
            </a:endParaRPr>
          </a:p>
          <a:p>
            <a:pPr lvl="1">
              <a:buFont typeface="Wingdings" panose="05000000000000000000" pitchFamily="2" charset="2"/>
              <a:buChar char="q"/>
            </a:pPr>
            <a:endParaRPr lang="ro-RO" sz="1800" dirty="0">
              <a:sym typeface="Wingdings" panose="05000000000000000000" pitchFamily="2" charset="2"/>
            </a:endParaRPr>
          </a:p>
          <a:p>
            <a:pPr>
              <a:buFont typeface="Wingdings" panose="05000000000000000000" pitchFamily="2" charset="2"/>
              <a:buChar char="q"/>
            </a:pPr>
            <a:r>
              <a:rPr lang="en-US" dirty="0">
                <a:sym typeface="Wingdings" panose="05000000000000000000" pitchFamily="2" charset="2"/>
              </a:rPr>
              <a:t>Initial population</a:t>
            </a:r>
            <a:endParaRPr lang="ro-RO" dirty="0">
              <a:sym typeface="Wingdings" panose="05000000000000000000" pitchFamily="2" charset="2"/>
            </a:endParaRPr>
          </a:p>
          <a:p>
            <a:pPr marL="628650" lvl="1">
              <a:buFont typeface="Wingdings" panose="05000000000000000000" pitchFamily="2" charset="2"/>
              <a:buChar char="q"/>
            </a:pPr>
            <a:r>
              <a:rPr lang="en-US" sz="1800" dirty="0"/>
              <a:t>It is constructed by randomly selecting (uniform distribution) individuals from the phenotype space and converting them into the genotype space.</a:t>
            </a:r>
            <a:endParaRPr lang="ro-RO" sz="1800" dirty="0">
              <a:sym typeface="Wingdings" panose="05000000000000000000" pitchFamily="2" charset="2"/>
            </a:endParaRPr>
          </a:p>
        </p:txBody>
      </p:sp>
      <p:sp>
        <p:nvSpPr>
          <p:cNvPr id="4" name="Rectangle 2">
            <a:extLst>
              <a:ext uri="{FF2B5EF4-FFF2-40B4-BE49-F238E27FC236}">
                <a16:creationId xmlns:a16="http://schemas.microsoft.com/office/drawing/2014/main" id="{617A0966-AC8B-75B7-14CA-BAE7F6129A6B}"/>
              </a:ext>
            </a:extLst>
          </p:cNvPr>
          <p:cNvSpPr txBox="1">
            <a:spLocks noChangeArrowheads="1"/>
          </p:cNvSpPr>
          <p:nvPr/>
        </p:nvSpPr>
        <p:spPr>
          <a:xfrm>
            <a:off x="228600" y="459067"/>
            <a:ext cx="8458200" cy="858838"/>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a:lstStyle>
          <a:p>
            <a:pPr eaLnBrk="1" hangingPunct="1"/>
            <a:r>
              <a:rPr lang="ro-RO" altLang="en-US" sz="2600" b="1" kern="0" dirty="0">
                <a:solidFill>
                  <a:schemeClr val="bg2"/>
                </a:solidFill>
              </a:rPr>
              <a:t>IV.</a:t>
            </a:r>
            <a:r>
              <a:rPr lang="en-US" altLang="en-US" sz="2600" b="1" kern="0" dirty="0">
                <a:solidFill>
                  <a:schemeClr val="bg2"/>
                </a:solidFill>
              </a:rPr>
              <a:t> EA Components</a:t>
            </a:r>
            <a:r>
              <a:rPr lang="ro-RO" altLang="en-US" sz="2600" b="1" kern="0" dirty="0">
                <a:solidFill>
                  <a:schemeClr val="bg2"/>
                </a:solidFill>
              </a:rPr>
              <a:t>. Popula</a:t>
            </a:r>
            <a:r>
              <a:rPr lang="en-US" altLang="en-US" sz="2600" b="1" kern="0" dirty="0" err="1">
                <a:solidFill>
                  <a:schemeClr val="bg2"/>
                </a:solidFill>
              </a:rPr>
              <a:t>tion</a:t>
            </a:r>
            <a:endParaRPr lang="en-US" altLang="en-US" sz="2600" b="1" kern="0" dirty="0">
              <a:solidFill>
                <a:schemeClr val="bg2"/>
              </a:solidFill>
            </a:endParaRPr>
          </a:p>
        </p:txBody>
      </p:sp>
    </p:spTree>
    <p:extLst>
      <p:ext uri="{BB962C8B-B14F-4D97-AF65-F5344CB8AC3E}">
        <p14:creationId xmlns:p14="http://schemas.microsoft.com/office/powerpoint/2010/main" val="117165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animEffect transition="in" filter="dissolve">
                                      <p:cBhvr>
                                        <p:cTn id="11" dur="500"/>
                                        <p:tgtEl>
                                          <p:spTgt spid="14339">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animEffect transition="in" filter="dissolve">
                                      <p:cBhvr>
                                        <p:cTn id="15" dur="500"/>
                                        <p:tgtEl>
                                          <p:spTgt spid="14339">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animEffect transition="in" filter="dissolve">
                                      <p:cBhvr>
                                        <p:cTn id="19" dur="500"/>
                                        <p:tgtEl>
                                          <p:spTgt spid="14339">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4339">
                                            <p:txEl>
                                              <p:pRg st="4" end="4"/>
                                            </p:txEl>
                                          </p:spTgt>
                                        </p:tgtEl>
                                        <p:attrNameLst>
                                          <p:attrName>style.visibility</p:attrName>
                                        </p:attrNameLst>
                                      </p:cBhvr>
                                      <p:to>
                                        <p:strVal val="visible"/>
                                      </p:to>
                                    </p:set>
                                    <p:animEffect transition="in" filter="dissolve">
                                      <p:cBhvr>
                                        <p:cTn id="23" dur="500"/>
                                        <p:tgtEl>
                                          <p:spTgt spid="14339">
                                            <p:txEl>
                                              <p:pRg st="4" end="4"/>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4339">
                                            <p:txEl>
                                              <p:pRg st="5" end="5"/>
                                            </p:txEl>
                                          </p:spTgt>
                                        </p:tgtEl>
                                        <p:attrNameLst>
                                          <p:attrName>style.visibility</p:attrName>
                                        </p:attrNameLst>
                                      </p:cBhvr>
                                      <p:to>
                                        <p:strVal val="visible"/>
                                      </p:to>
                                    </p:set>
                                    <p:animEffect transition="in" filter="dissolve">
                                      <p:cBhvr>
                                        <p:cTn id="27" dur="500"/>
                                        <p:tgtEl>
                                          <p:spTgt spid="1433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39">
                                            <p:txEl>
                                              <p:pRg st="7" end="7"/>
                                            </p:txEl>
                                          </p:spTgt>
                                        </p:tgtEl>
                                        <p:attrNameLst>
                                          <p:attrName>style.visibility</p:attrName>
                                        </p:attrNameLst>
                                      </p:cBhvr>
                                      <p:to>
                                        <p:strVal val="visible"/>
                                      </p:to>
                                    </p:set>
                                    <p:animEffect transition="in" filter="dissolve">
                                      <p:cBhvr>
                                        <p:cTn id="32" dur="500"/>
                                        <p:tgtEl>
                                          <p:spTgt spid="1433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339">
                                            <p:txEl>
                                              <p:pRg st="8" end="8"/>
                                            </p:txEl>
                                          </p:spTgt>
                                        </p:tgtEl>
                                        <p:attrNameLst>
                                          <p:attrName>style.visibility</p:attrName>
                                        </p:attrNameLst>
                                      </p:cBhvr>
                                      <p:to>
                                        <p:strVal val="visible"/>
                                      </p:to>
                                    </p:set>
                                    <p:animEffect transition="in" filter="dissolve">
                                      <p:cBhvr>
                                        <p:cTn id="37" dur="500"/>
                                        <p:tgtEl>
                                          <p:spTgt spid="143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V.</a:t>
            </a:r>
            <a:r>
              <a:rPr lang="en-US" altLang="en-US" sz="2600" b="1" dirty="0">
                <a:solidFill>
                  <a:schemeClr val="bg2"/>
                </a:solidFill>
              </a:rPr>
              <a:t> EA Components</a:t>
            </a:r>
            <a:r>
              <a:rPr lang="ro-RO" altLang="en-US" sz="2600" b="1" dirty="0">
                <a:solidFill>
                  <a:schemeClr val="bg2"/>
                </a:solidFill>
              </a:rPr>
              <a:t>. </a:t>
            </a:r>
            <a:r>
              <a:rPr lang="en-US" altLang="en-US" sz="2600" b="1" dirty="0">
                <a:solidFill>
                  <a:schemeClr val="bg2"/>
                </a:solidFill>
              </a:rPr>
              <a:t>Parent selection</a:t>
            </a:r>
          </a:p>
        </p:txBody>
      </p:sp>
      <p:sp>
        <p:nvSpPr>
          <p:cNvPr id="12291" name="Rectangle 3"/>
          <p:cNvSpPr>
            <a:spLocks noGrp="1" noChangeArrowheads="1"/>
          </p:cNvSpPr>
          <p:nvPr>
            <p:ph type="body" sz="half" idx="1"/>
          </p:nvPr>
        </p:nvSpPr>
        <p:spPr>
          <a:xfrm>
            <a:off x="457200" y="1179196"/>
            <a:ext cx="8229600" cy="5211763"/>
          </a:xfrm>
        </p:spPr>
        <p:txBody>
          <a:bodyPr/>
          <a:lstStyle/>
          <a:p>
            <a:pPr lvl="1" eaLnBrk="1" hangingPunct="1">
              <a:buClr>
                <a:schemeClr val="bg2"/>
              </a:buClr>
              <a:buFont typeface="Wingdings" panose="05000000000000000000" pitchFamily="2" charset="2"/>
              <a:buChar char="q"/>
            </a:pPr>
            <a:r>
              <a:rPr lang="en-US" altLang="en-US" sz="1600" dirty="0"/>
              <a:t>Role: to distinguish between individuals in the population based on their quality</a:t>
            </a:r>
          </a:p>
          <a:p>
            <a:pPr lvl="1" eaLnBrk="1" hangingPunct="1">
              <a:buClr>
                <a:schemeClr val="bg2"/>
              </a:buClr>
              <a:buFont typeface="Wingdings" panose="05000000000000000000" pitchFamily="2" charset="2"/>
              <a:buChar char="q"/>
            </a:pPr>
            <a:endParaRPr lang="en-US" altLang="en-US" sz="1600" dirty="0"/>
          </a:p>
          <a:p>
            <a:pPr lvl="1" eaLnBrk="1" hangingPunct="1">
              <a:buClr>
                <a:schemeClr val="bg2"/>
              </a:buClr>
              <a:buFont typeface="Wingdings" panose="05000000000000000000" pitchFamily="2" charset="2"/>
              <a:buChar char="q"/>
            </a:pPr>
            <a:r>
              <a:rPr lang="en-US" altLang="en-US" sz="1600" dirty="0"/>
              <a:t>It gives priority to the best individuals to reproduce, thus allowing them to contribute to the generation of the next population.</a:t>
            </a:r>
          </a:p>
          <a:p>
            <a:pPr lvl="1" eaLnBrk="1" hangingPunct="1">
              <a:buClr>
                <a:schemeClr val="bg2"/>
              </a:buClr>
              <a:buFont typeface="Wingdings" panose="05000000000000000000" pitchFamily="2" charset="2"/>
              <a:buChar char="q"/>
            </a:pPr>
            <a:endParaRPr lang="en-US" altLang="en-US" sz="1600" dirty="0"/>
          </a:p>
          <a:p>
            <a:pPr lvl="1" eaLnBrk="1" hangingPunct="1">
              <a:buClr>
                <a:schemeClr val="bg2"/>
              </a:buClr>
              <a:buFont typeface="Wingdings" panose="05000000000000000000" pitchFamily="2" charset="2"/>
              <a:buChar char="q"/>
            </a:pPr>
            <a:r>
              <a:rPr lang="en-US" altLang="en-US" sz="1600" dirty="0"/>
              <a:t>Probabilistic parent selection mechanism: the probability that an individual is chosen for reproduction is directly proportional to its quality.</a:t>
            </a:r>
          </a:p>
          <a:p>
            <a:pPr lvl="1" eaLnBrk="1" hangingPunct="1">
              <a:buClr>
                <a:schemeClr val="bg2"/>
              </a:buClr>
              <a:buFont typeface="Wingdings" panose="05000000000000000000" pitchFamily="2" charset="2"/>
              <a:buChar char="q"/>
            </a:pPr>
            <a:endParaRPr lang="en-US" altLang="en-US" sz="1600" dirty="0"/>
          </a:p>
          <a:p>
            <a:pPr lvl="1" eaLnBrk="1" hangingPunct="1">
              <a:buClr>
                <a:schemeClr val="bg2"/>
              </a:buClr>
              <a:buFont typeface="Wingdings" panose="05000000000000000000" pitchFamily="2" charset="2"/>
              <a:buChar char="q"/>
            </a:pPr>
            <a:r>
              <a:rPr lang="en-US" altLang="en-US" sz="1600" dirty="0"/>
              <a:t>It enforces the improvement of the overall population quality from one generation to the next.</a:t>
            </a:r>
          </a:p>
          <a:p>
            <a:pPr lvl="1" eaLnBrk="1" hangingPunct="1">
              <a:buClr>
                <a:schemeClr val="bg2"/>
              </a:buClr>
              <a:buFont typeface="Wingdings" panose="05000000000000000000" pitchFamily="2" charset="2"/>
              <a:buChar char="q"/>
            </a:pPr>
            <a:endParaRPr lang="en-US" altLang="en-US" sz="1600" dirty="0"/>
          </a:p>
          <a:p>
            <a:pPr lvl="1" eaLnBrk="1" hangingPunct="1">
              <a:buClr>
                <a:schemeClr val="bg2"/>
              </a:buClr>
              <a:buFont typeface="Wingdings" panose="05000000000000000000" pitchFamily="2" charset="2"/>
              <a:buChar char="q"/>
            </a:pPr>
            <a:r>
              <a:rPr lang="en-US" altLang="en-US" sz="1600" dirty="0"/>
              <a:t>“Weak” individuals are not eliminated from the reproduction selection process; they are simply assigned small but non-zero selection probabilities.</a:t>
            </a:r>
          </a:p>
          <a:p>
            <a:pPr lvl="2" eaLnBrk="1" hangingPunct="1">
              <a:buFont typeface="Wingdings" panose="05000000000000000000" pitchFamily="2" charset="2"/>
              <a:buChar char="q"/>
            </a:pPr>
            <a:r>
              <a:rPr lang="en-US" altLang="en-US" sz="1600" dirty="0"/>
              <a:t>The search algorithm is not greedy.</a:t>
            </a:r>
          </a:p>
          <a:p>
            <a:pPr lvl="2" eaLnBrk="1" hangingPunct="1">
              <a:buFont typeface="Wingdings" panose="05000000000000000000" pitchFamily="2" charset="2"/>
              <a:buChar char="q"/>
            </a:pPr>
            <a:r>
              <a:rPr lang="en-US" altLang="en-US" sz="1600" dirty="0"/>
              <a:t>The risk of identifying a local optimum is reduced.</a:t>
            </a:r>
          </a:p>
        </p:txBody>
      </p:sp>
      <p:sp>
        <p:nvSpPr>
          <p:cNvPr id="1229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29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0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231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fade">
                                      <p:cBhvr>
                                        <p:cTn id="12" dur="500"/>
                                        <p:tgtEl>
                                          <p:spTgt spid="122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91">
                                            <p:txEl>
                                              <p:pRg st="4" end="4"/>
                                            </p:txEl>
                                          </p:spTgt>
                                        </p:tgtEl>
                                        <p:attrNameLst>
                                          <p:attrName>style.visibility</p:attrName>
                                        </p:attrNameLst>
                                      </p:cBhvr>
                                      <p:to>
                                        <p:strVal val="visible"/>
                                      </p:to>
                                    </p:set>
                                    <p:animEffect transition="in" filter="fade">
                                      <p:cBhvr>
                                        <p:cTn id="17" dur="500"/>
                                        <p:tgtEl>
                                          <p:spTgt spid="1229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291">
                                            <p:txEl>
                                              <p:pRg st="6" end="6"/>
                                            </p:txEl>
                                          </p:spTgt>
                                        </p:tgtEl>
                                        <p:attrNameLst>
                                          <p:attrName>style.visibility</p:attrName>
                                        </p:attrNameLst>
                                      </p:cBhvr>
                                      <p:to>
                                        <p:strVal val="visible"/>
                                      </p:to>
                                    </p:set>
                                    <p:animEffect transition="in" filter="fade">
                                      <p:cBhvr>
                                        <p:cTn id="22" dur="500"/>
                                        <p:tgtEl>
                                          <p:spTgt spid="1229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291">
                                            <p:txEl>
                                              <p:pRg st="8" end="8"/>
                                            </p:txEl>
                                          </p:spTgt>
                                        </p:tgtEl>
                                        <p:attrNameLst>
                                          <p:attrName>style.visibility</p:attrName>
                                        </p:attrNameLst>
                                      </p:cBhvr>
                                      <p:to>
                                        <p:strVal val="visible"/>
                                      </p:to>
                                    </p:set>
                                    <p:animEffect transition="in" filter="fade">
                                      <p:cBhvr>
                                        <p:cTn id="27" dur="500"/>
                                        <p:tgtEl>
                                          <p:spTgt spid="12291">
                                            <p:txEl>
                                              <p:pRg st="8" end="8"/>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291">
                                            <p:txEl>
                                              <p:pRg st="9" end="9"/>
                                            </p:txEl>
                                          </p:spTgt>
                                        </p:tgtEl>
                                        <p:attrNameLst>
                                          <p:attrName>style.visibility</p:attrName>
                                        </p:attrNameLst>
                                      </p:cBhvr>
                                      <p:to>
                                        <p:strVal val="visible"/>
                                      </p:to>
                                    </p:set>
                                    <p:animEffect transition="in" filter="fade">
                                      <p:cBhvr>
                                        <p:cTn id="30" dur="500"/>
                                        <p:tgtEl>
                                          <p:spTgt spid="12291">
                                            <p:txEl>
                                              <p:pRg st="9" end="9"/>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291">
                                            <p:txEl>
                                              <p:pRg st="10" end="10"/>
                                            </p:txEl>
                                          </p:spTgt>
                                        </p:tgtEl>
                                        <p:attrNameLst>
                                          <p:attrName>style.visibility</p:attrName>
                                        </p:attrNameLst>
                                      </p:cBhvr>
                                      <p:to>
                                        <p:strVal val="visible"/>
                                      </p:to>
                                    </p:set>
                                    <p:animEffect transition="in" filter="fade">
                                      <p:cBhvr>
                                        <p:cTn id="33" dur="500"/>
                                        <p:tgtEl>
                                          <p:spTgt spid="122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V</a:t>
            </a:r>
            <a:r>
              <a:rPr lang="en-US" altLang="en-US" sz="2600" b="1" dirty="0">
                <a:solidFill>
                  <a:schemeClr val="bg2"/>
                </a:solidFill>
              </a:rPr>
              <a:t>I</a:t>
            </a:r>
            <a:r>
              <a:rPr lang="ro-RO" altLang="en-US" sz="2600" b="1" dirty="0">
                <a:solidFill>
                  <a:schemeClr val="bg2"/>
                </a:solidFill>
              </a:rPr>
              <a:t>.</a:t>
            </a:r>
            <a:r>
              <a:rPr lang="en-US" altLang="en-US" sz="2600" b="1" dirty="0">
                <a:solidFill>
                  <a:schemeClr val="bg2"/>
                </a:solidFill>
              </a:rPr>
              <a:t> </a:t>
            </a:r>
            <a:r>
              <a:rPr lang="ro-RO" sz="2600" b="1" noProof="0" dirty="0">
                <a:solidFill>
                  <a:schemeClr val="bg2"/>
                </a:solidFill>
              </a:rPr>
              <a:t>EA</a:t>
            </a:r>
            <a:r>
              <a:rPr lang="en-US" sz="2600" b="1" noProof="0" dirty="0">
                <a:solidFill>
                  <a:schemeClr val="bg2"/>
                </a:solidFill>
              </a:rPr>
              <a:t> Components</a:t>
            </a:r>
            <a:r>
              <a:rPr lang="ro-RO" sz="2600" b="1" noProof="0" dirty="0">
                <a:solidFill>
                  <a:schemeClr val="bg2"/>
                </a:solidFill>
              </a:rPr>
              <a:t>. </a:t>
            </a:r>
            <a:r>
              <a:rPr lang="en-US" sz="2600" b="1" dirty="0">
                <a:solidFill>
                  <a:schemeClr val="bg2"/>
                </a:solidFill>
              </a:rPr>
              <a:t>Variation Operators</a:t>
            </a:r>
            <a:endParaRPr lang="en-US" altLang="en-US" sz="2600" b="1" dirty="0">
              <a:solidFill>
                <a:schemeClr val="bg2"/>
              </a:solidFill>
            </a:endParaRPr>
          </a:p>
        </p:txBody>
      </p:sp>
      <p:sp>
        <p:nvSpPr>
          <p:cNvPr id="13315" name="Rectangle 3"/>
          <p:cNvSpPr>
            <a:spLocks noGrp="1" noChangeArrowheads="1"/>
          </p:cNvSpPr>
          <p:nvPr>
            <p:ph type="body" sz="half" idx="1"/>
          </p:nvPr>
        </p:nvSpPr>
        <p:spPr>
          <a:xfrm>
            <a:off x="457200" y="1143000"/>
            <a:ext cx="8229600" cy="5211763"/>
          </a:xfrm>
        </p:spPr>
        <p:txBody>
          <a:bodyPr/>
          <a:lstStyle/>
          <a:p>
            <a:pPr>
              <a:buFont typeface="Wingdings" pitchFamily="2" charset="2"/>
              <a:buChar char="q"/>
            </a:pPr>
            <a:r>
              <a:rPr lang="en-US" altLang="en-US" sz="1800" b="1" dirty="0"/>
              <a:t>The global optimum of the objective function can be obtained if the variation operators used ensure the generation of any genotype representing a potential solution to the optimization problem.</a:t>
            </a:r>
          </a:p>
          <a:p>
            <a:pPr>
              <a:buFont typeface="Wingdings" pitchFamily="2" charset="2"/>
              <a:buChar char="q"/>
            </a:pPr>
            <a:endParaRPr lang="en-US" altLang="en-US" sz="1800" b="1" dirty="0"/>
          </a:p>
          <a:p>
            <a:pPr>
              <a:buFont typeface="Wingdings" pitchFamily="2" charset="2"/>
              <a:buChar char="q"/>
            </a:pPr>
            <a:r>
              <a:rPr lang="en-US" altLang="en-US" sz="1800" b="1" dirty="0"/>
              <a:t>Mutation operator</a:t>
            </a:r>
            <a:r>
              <a:rPr lang="en-US" altLang="en-US" sz="1800" dirty="0"/>
              <a:t>: a unary operator.</a:t>
            </a:r>
          </a:p>
          <a:p>
            <a:pPr>
              <a:buFont typeface="Wingdings" pitchFamily="2" charset="2"/>
              <a:buChar char="q"/>
            </a:pPr>
            <a:endParaRPr lang="en-US" altLang="en-US" sz="1800" dirty="0"/>
          </a:p>
          <a:p>
            <a:pPr>
              <a:buFont typeface="Wingdings" pitchFamily="2" charset="2"/>
              <a:buChar char="q"/>
            </a:pPr>
            <a:r>
              <a:rPr lang="en-US" altLang="en-US" sz="1800" dirty="0"/>
              <a:t>When applied to a genotype, it produces a “mutant” variant, called offspring or child. The mutation operator is always stochastic: the result depends on a series of random choices.</a:t>
            </a:r>
          </a:p>
          <a:p>
            <a:pPr>
              <a:buFont typeface="Wingdings" pitchFamily="2" charset="2"/>
              <a:buChar char="q"/>
            </a:pPr>
            <a:endParaRPr lang="en-US" altLang="en-US" sz="1800" dirty="0"/>
          </a:p>
          <a:p>
            <a:pPr>
              <a:buFont typeface="Wingdings" pitchFamily="2" charset="2"/>
              <a:buChar char="q"/>
            </a:pPr>
            <a:r>
              <a:rPr lang="en-US" altLang="en-US" sz="1800" dirty="0"/>
              <a:t>The role of mutation depends on the type of implemented algorithm: in the case of Genetic Algorithms (GA), mutation serves to “refresh” the genetic structure of a population.</a:t>
            </a:r>
          </a:p>
          <a:p>
            <a:pPr>
              <a:buFont typeface="Wingdings" pitchFamily="2" charset="2"/>
              <a:buChar char="q"/>
            </a:pPr>
            <a:endParaRPr lang="en-US" altLang="en-US" sz="1800" dirty="0"/>
          </a:p>
          <a:p>
            <a:pPr>
              <a:buFont typeface="Wingdings" pitchFamily="2" charset="2"/>
              <a:buChar char="q"/>
            </a:pPr>
            <a:r>
              <a:rPr lang="en-US" altLang="en-US" sz="1800" dirty="0"/>
              <a:t>In general, a mutation operator allows the modification of any allele in a chromosome to any possible variant, with a non-zero probability.</a:t>
            </a:r>
          </a:p>
        </p:txBody>
      </p:sp>
      <p:sp>
        <p:nvSpPr>
          <p:cNvPr id="1331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17"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18"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19"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0"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1"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2"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3"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4"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5"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6"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7"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8"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29"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30"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31"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32"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33"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3334"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fade">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Effect transition="in" filter="fade">
                                      <p:cBhvr>
                                        <p:cTn id="12" dur="500"/>
                                        <p:tgtEl>
                                          <p:spTgt spid="133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animEffect transition="in" filter="fade">
                                      <p:cBhvr>
                                        <p:cTn id="17" dur="500"/>
                                        <p:tgtEl>
                                          <p:spTgt spid="133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315">
                                            <p:txEl>
                                              <p:pRg st="6" end="6"/>
                                            </p:txEl>
                                          </p:spTgt>
                                        </p:tgtEl>
                                        <p:attrNameLst>
                                          <p:attrName>style.visibility</p:attrName>
                                        </p:attrNameLst>
                                      </p:cBhvr>
                                      <p:to>
                                        <p:strVal val="visible"/>
                                      </p:to>
                                    </p:set>
                                    <p:animEffect transition="in" filter="fade">
                                      <p:cBhvr>
                                        <p:cTn id="22" dur="500"/>
                                        <p:tgtEl>
                                          <p:spTgt spid="133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315">
                                            <p:txEl>
                                              <p:pRg st="8" end="8"/>
                                            </p:txEl>
                                          </p:spTgt>
                                        </p:tgtEl>
                                        <p:attrNameLst>
                                          <p:attrName>style.visibility</p:attrName>
                                        </p:attrNameLst>
                                      </p:cBhvr>
                                      <p:to>
                                        <p:strVal val="visible"/>
                                      </p:to>
                                    </p:set>
                                    <p:animEffect transition="in" filter="fade">
                                      <p:cBhvr>
                                        <p:cTn id="27" dur="500"/>
                                        <p:tgtEl>
                                          <p:spTgt spid="133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V</a:t>
            </a:r>
            <a:r>
              <a:rPr lang="en-US" altLang="en-US" sz="2600" b="1" dirty="0">
                <a:solidFill>
                  <a:schemeClr val="bg2"/>
                </a:solidFill>
              </a:rPr>
              <a:t>I</a:t>
            </a:r>
            <a:r>
              <a:rPr lang="ro-RO" altLang="en-US" sz="2600" b="1" dirty="0">
                <a:solidFill>
                  <a:schemeClr val="bg2"/>
                </a:solidFill>
              </a:rPr>
              <a:t>.</a:t>
            </a:r>
            <a:r>
              <a:rPr lang="en-US" altLang="en-US" sz="2600" b="1" dirty="0">
                <a:solidFill>
                  <a:schemeClr val="bg2"/>
                </a:solidFill>
              </a:rPr>
              <a:t> EA Components</a:t>
            </a:r>
            <a:r>
              <a:rPr lang="ro-RO" altLang="en-US" sz="2600" b="1" dirty="0">
                <a:solidFill>
                  <a:schemeClr val="bg2"/>
                </a:solidFill>
              </a:rPr>
              <a:t>. </a:t>
            </a:r>
            <a:r>
              <a:rPr lang="en-US" altLang="en-US" sz="2600" b="1" dirty="0">
                <a:solidFill>
                  <a:schemeClr val="bg2"/>
                </a:solidFill>
              </a:rPr>
              <a:t>Variation Operators</a:t>
            </a:r>
          </a:p>
        </p:txBody>
      </p:sp>
      <p:sp>
        <p:nvSpPr>
          <p:cNvPr id="14339" name="Rectangle 3"/>
          <p:cNvSpPr>
            <a:spLocks noGrp="1" noChangeArrowheads="1"/>
          </p:cNvSpPr>
          <p:nvPr>
            <p:ph type="body" sz="half" idx="1"/>
          </p:nvPr>
        </p:nvSpPr>
        <p:spPr>
          <a:xfrm>
            <a:off x="457200" y="1341437"/>
            <a:ext cx="8229600" cy="5211763"/>
          </a:xfrm>
        </p:spPr>
        <p:txBody>
          <a:bodyPr/>
          <a:lstStyle/>
          <a:p>
            <a:pPr algn="just">
              <a:buFont typeface="Wingdings" pitchFamily="2" charset="2"/>
              <a:buChar char="q"/>
            </a:pPr>
            <a:r>
              <a:rPr lang="en-US" altLang="en-US" sz="1800" b="1" dirty="0"/>
              <a:t>Recombination operator: </a:t>
            </a:r>
            <a:r>
              <a:rPr lang="en-US" altLang="en-US" sz="1800" dirty="0"/>
              <a:t>a binary operator that produces one or two child genotypes by combining information from two parent genotypes.</a:t>
            </a:r>
          </a:p>
          <a:p>
            <a:pPr algn="just">
              <a:buFont typeface="Wingdings" pitchFamily="2" charset="2"/>
              <a:buChar char="q"/>
            </a:pPr>
            <a:endParaRPr lang="en-US" altLang="en-US" sz="1800" dirty="0"/>
          </a:p>
          <a:p>
            <a:pPr algn="just">
              <a:buFont typeface="Wingdings" pitchFamily="2" charset="2"/>
              <a:buChar char="q"/>
            </a:pPr>
            <a:r>
              <a:rPr lang="en-US" altLang="en-US" sz="1800" dirty="0"/>
              <a:t>Recombination is stochastic: the selection of the parent parts to be combined and the type of recombination are based on random draws.</a:t>
            </a:r>
          </a:p>
          <a:p>
            <a:pPr algn="just">
              <a:buFont typeface="Wingdings" pitchFamily="2" charset="2"/>
              <a:buChar char="q"/>
            </a:pPr>
            <a:endParaRPr lang="en-US" altLang="en-US" sz="1800" dirty="0"/>
          </a:p>
          <a:p>
            <a:pPr algn="just">
              <a:buFont typeface="Wingdings" pitchFamily="2" charset="2"/>
              <a:buChar char="q"/>
            </a:pPr>
            <a:r>
              <a:rPr lang="en-US" altLang="en-US" sz="1800" dirty="0"/>
              <a:t>In Genetic Algorithms (GA), it is the most frequently used variation operator.</a:t>
            </a:r>
          </a:p>
          <a:p>
            <a:pPr algn="just">
              <a:buFont typeface="Wingdings" pitchFamily="2" charset="2"/>
              <a:buChar char="q"/>
            </a:pPr>
            <a:endParaRPr lang="en-US" altLang="en-US" sz="1800" dirty="0"/>
          </a:p>
          <a:p>
            <a:pPr algn="just">
              <a:buFont typeface="Wingdings" pitchFamily="2" charset="2"/>
              <a:buChar char="q"/>
            </a:pPr>
            <a:r>
              <a:rPr lang="en-US" altLang="en-US" sz="1800" dirty="0"/>
              <a:t>In EA-based approaches, recombination operators with arity greater than 2 may also be used.</a:t>
            </a:r>
          </a:p>
          <a:p>
            <a:pPr algn="just">
              <a:buFont typeface="Wingdings" pitchFamily="2" charset="2"/>
              <a:buChar char="q"/>
            </a:pPr>
            <a:endParaRPr lang="en-US" altLang="en-US" sz="1800" dirty="0"/>
          </a:p>
          <a:p>
            <a:pPr algn="just">
              <a:buFont typeface="Wingdings" pitchFamily="2" charset="2"/>
              <a:buChar char="q"/>
            </a:pPr>
            <a:r>
              <a:rPr lang="en-US" altLang="en-US" sz="1800" dirty="0"/>
              <a:t>Applying EA leads to the creation of direct offspring through random crossovers. The offspring may have undesirable traits, may be qualitatively similar to or even inferior to their parents, and only a small proportion typically exhibit characteristics superior to those of the parents.</a:t>
            </a:r>
          </a:p>
        </p:txBody>
      </p:sp>
      <p:sp>
        <p:nvSpPr>
          <p:cNvPr id="14340"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1"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2"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3"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4"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6"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7"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8"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49"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0"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1"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2"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3"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4"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5"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6"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7"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4358"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fad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fade">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339">
                                            <p:txEl>
                                              <p:pRg st="4" end="4"/>
                                            </p:txEl>
                                          </p:spTgt>
                                        </p:tgtEl>
                                        <p:attrNameLst>
                                          <p:attrName>style.visibility</p:attrName>
                                        </p:attrNameLst>
                                      </p:cBhvr>
                                      <p:to>
                                        <p:strVal val="visible"/>
                                      </p:to>
                                    </p:set>
                                    <p:animEffect transition="in" filter="fade">
                                      <p:cBhvr>
                                        <p:cTn id="17" dur="500"/>
                                        <p:tgtEl>
                                          <p:spTgt spid="143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339">
                                            <p:txEl>
                                              <p:pRg st="6" end="6"/>
                                            </p:txEl>
                                          </p:spTgt>
                                        </p:tgtEl>
                                        <p:attrNameLst>
                                          <p:attrName>style.visibility</p:attrName>
                                        </p:attrNameLst>
                                      </p:cBhvr>
                                      <p:to>
                                        <p:strVal val="visible"/>
                                      </p:to>
                                    </p:set>
                                    <p:animEffect transition="in" filter="fade">
                                      <p:cBhvr>
                                        <p:cTn id="22" dur="500"/>
                                        <p:tgtEl>
                                          <p:spTgt spid="1433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339">
                                            <p:txEl>
                                              <p:pRg st="8" end="8"/>
                                            </p:txEl>
                                          </p:spTgt>
                                        </p:tgtEl>
                                        <p:attrNameLst>
                                          <p:attrName>style.visibility</p:attrName>
                                        </p:attrNameLst>
                                      </p:cBhvr>
                                      <p:to>
                                        <p:strVal val="visible"/>
                                      </p:to>
                                    </p:set>
                                    <p:animEffect transition="in" filter="fade">
                                      <p:cBhvr>
                                        <p:cTn id="27" dur="500"/>
                                        <p:tgtEl>
                                          <p:spTgt spid="143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42900" y="304800"/>
            <a:ext cx="8458200" cy="858838"/>
          </a:xfrm>
        </p:spPr>
        <p:txBody>
          <a:bodyPr/>
          <a:lstStyle/>
          <a:p>
            <a:pPr eaLnBrk="1" hangingPunct="1"/>
            <a:r>
              <a:rPr lang="ro-RO" altLang="en-US" sz="2600" b="1" dirty="0">
                <a:solidFill>
                  <a:schemeClr val="bg2"/>
                </a:solidFill>
              </a:rPr>
              <a:t>V</a:t>
            </a:r>
            <a:r>
              <a:rPr lang="en-US" altLang="en-US" sz="2600" b="1" dirty="0">
                <a:solidFill>
                  <a:schemeClr val="bg2"/>
                </a:solidFill>
              </a:rPr>
              <a:t>I</a:t>
            </a:r>
            <a:r>
              <a:rPr lang="ro-RO" altLang="en-US" sz="2600" b="1" dirty="0">
                <a:solidFill>
                  <a:schemeClr val="bg2"/>
                </a:solidFill>
              </a:rPr>
              <a:t>I.</a:t>
            </a:r>
            <a:r>
              <a:rPr lang="en-US" altLang="en-US" sz="2600" b="1" dirty="0">
                <a:solidFill>
                  <a:schemeClr val="bg2"/>
                </a:solidFill>
              </a:rPr>
              <a:t> EA Components</a:t>
            </a:r>
            <a:r>
              <a:rPr lang="ro-RO" altLang="en-US" sz="2600" b="1" dirty="0">
                <a:solidFill>
                  <a:schemeClr val="bg2"/>
                </a:solidFill>
              </a:rPr>
              <a:t>. Tr</a:t>
            </a:r>
            <a:r>
              <a:rPr lang="en-US" altLang="en-US" sz="2600" b="1" dirty="0" err="1">
                <a:solidFill>
                  <a:schemeClr val="bg2"/>
                </a:solidFill>
              </a:rPr>
              <a:t>ansition</a:t>
            </a:r>
            <a:r>
              <a:rPr lang="en-US" altLang="en-US" sz="2600" b="1" dirty="0">
                <a:solidFill>
                  <a:schemeClr val="bg2"/>
                </a:solidFill>
              </a:rPr>
              <a:t> to a new generation</a:t>
            </a:r>
          </a:p>
        </p:txBody>
      </p:sp>
      <p:sp>
        <p:nvSpPr>
          <p:cNvPr id="15363" name="Rectangle 3"/>
          <p:cNvSpPr>
            <a:spLocks noGrp="1" noChangeArrowheads="1"/>
          </p:cNvSpPr>
          <p:nvPr>
            <p:ph type="body" sz="half" idx="1"/>
          </p:nvPr>
        </p:nvSpPr>
        <p:spPr>
          <a:xfrm>
            <a:off x="457200" y="1143000"/>
            <a:ext cx="8229600" cy="5211763"/>
          </a:xfrm>
        </p:spPr>
        <p:txBody>
          <a:bodyPr/>
          <a:lstStyle/>
          <a:p>
            <a:pPr algn="just">
              <a:buFont typeface="Wingdings" pitchFamily="2" charset="2"/>
              <a:buChar char="q"/>
            </a:pPr>
            <a:r>
              <a:rPr lang="en-US" altLang="en-US" sz="1800" dirty="0"/>
              <a:t>Role: differentiates individuals according to their quality — similar to the parent selection process, but applied at a different stage in the evolution of an EA.</a:t>
            </a:r>
          </a:p>
          <a:p>
            <a:pPr algn="just">
              <a:buFont typeface="Wingdings" pitchFamily="2" charset="2"/>
              <a:buChar char="q"/>
            </a:pPr>
            <a:endParaRPr lang="en-US" altLang="en-US" sz="1800" dirty="0"/>
          </a:p>
          <a:p>
            <a:pPr algn="just">
              <a:buFont typeface="Wingdings" pitchFamily="2" charset="2"/>
              <a:buChar char="q"/>
            </a:pPr>
            <a:r>
              <a:rPr lang="en-US" altLang="en-US" sz="1800" dirty="0"/>
              <a:t>The mechanism involves applying a decision function to each individual belonging either to the current population or to the set of offspring (mutated or not).</a:t>
            </a:r>
          </a:p>
          <a:p>
            <a:pPr algn="just">
              <a:buFont typeface="Wingdings" pitchFamily="2" charset="2"/>
              <a:buChar char="q"/>
            </a:pPr>
            <a:endParaRPr lang="en-US" altLang="en-US" sz="1800" dirty="0"/>
          </a:p>
          <a:p>
            <a:pPr algn="just">
              <a:buFont typeface="Wingdings" pitchFamily="2" charset="2"/>
              <a:buChar char="q"/>
            </a:pPr>
            <a:r>
              <a:rPr lang="en-US" altLang="en-US" sz="1800" dirty="0"/>
              <a:t>The decision function is usually constructed based on the evaluation (fitness) function, taking into account the quality of each individual and, in some cases, the age factor.</a:t>
            </a:r>
          </a:p>
          <a:p>
            <a:pPr algn="just">
              <a:buFont typeface="Wingdings" pitchFamily="2" charset="2"/>
              <a:buChar char="q"/>
            </a:pPr>
            <a:endParaRPr lang="en-US" altLang="en-US" sz="1800" dirty="0"/>
          </a:p>
          <a:p>
            <a:pPr algn="just">
              <a:buFont typeface="Wingdings" pitchFamily="2" charset="2"/>
              <a:buChar char="q"/>
            </a:pPr>
            <a:r>
              <a:rPr lang="en-US" altLang="en-US" sz="1800" dirty="0"/>
              <a:t>Examples:</a:t>
            </a:r>
          </a:p>
          <a:p>
            <a:pPr lvl="1" algn="just">
              <a:buFont typeface="Wingdings" pitchFamily="2" charset="2"/>
              <a:buChar char="q"/>
            </a:pPr>
            <a:r>
              <a:rPr lang="en-US" altLang="en-US" sz="1800" dirty="0"/>
              <a:t>The decision function is based exclusively on the evaluation function</a:t>
            </a:r>
          </a:p>
          <a:p>
            <a:pPr lvl="1" algn="just">
              <a:buFont typeface="Wingdings" pitchFamily="2" charset="2"/>
              <a:buChar char="q"/>
            </a:pPr>
            <a:r>
              <a:rPr lang="en-US" altLang="en-US" sz="1800" dirty="0"/>
              <a:t>The decision function is based exclusively on the age factor</a:t>
            </a:r>
          </a:p>
          <a:p>
            <a:pPr lvl="1" algn="just">
              <a:buFont typeface="Wingdings" pitchFamily="2" charset="2"/>
              <a:buChar char="q"/>
            </a:pPr>
            <a:r>
              <a:rPr lang="en-US" altLang="en-US" sz="1800" dirty="0"/>
              <a:t>The decision is made based on both age and quality</a:t>
            </a:r>
          </a:p>
        </p:txBody>
      </p:sp>
      <p:sp>
        <p:nvSpPr>
          <p:cNvPr id="15364"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65"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66"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67"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68"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69"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0"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1"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2"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3"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4"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5"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6"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7"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8"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79"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80"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81"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5382"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fade">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animEffect transition="in" filter="fade">
                                      <p:cBhvr>
                                        <p:cTn id="17" dur="500"/>
                                        <p:tgtEl>
                                          <p:spTgt spid="1536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363">
                                            <p:txEl>
                                              <p:pRg st="6" end="6"/>
                                            </p:txEl>
                                          </p:spTgt>
                                        </p:tgtEl>
                                        <p:attrNameLst>
                                          <p:attrName>style.visibility</p:attrName>
                                        </p:attrNameLst>
                                      </p:cBhvr>
                                      <p:to>
                                        <p:strVal val="visible"/>
                                      </p:to>
                                    </p:set>
                                    <p:animEffect transition="in" filter="fade">
                                      <p:cBhvr>
                                        <p:cTn id="22" dur="500"/>
                                        <p:tgtEl>
                                          <p:spTgt spid="15363">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363">
                                            <p:txEl>
                                              <p:pRg st="7" end="7"/>
                                            </p:txEl>
                                          </p:spTgt>
                                        </p:tgtEl>
                                        <p:attrNameLst>
                                          <p:attrName>style.visibility</p:attrName>
                                        </p:attrNameLst>
                                      </p:cBhvr>
                                      <p:to>
                                        <p:strVal val="visible"/>
                                      </p:to>
                                    </p:set>
                                    <p:animEffect transition="in" filter="fade">
                                      <p:cBhvr>
                                        <p:cTn id="25" dur="500"/>
                                        <p:tgtEl>
                                          <p:spTgt spid="15363">
                                            <p:txEl>
                                              <p:pRg st="7" end="7"/>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363">
                                            <p:txEl>
                                              <p:pRg st="8" end="8"/>
                                            </p:txEl>
                                          </p:spTgt>
                                        </p:tgtEl>
                                        <p:attrNameLst>
                                          <p:attrName>style.visibility</p:attrName>
                                        </p:attrNameLst>
                                      </p:cBhvr>
                                      <p:to>
                                        <p:strVal val="visible"/>
                                      </p:to>
                                    </p:set>
                                    <p:animEffect transition="in" filter="fade">
                                      <p:cBhvr>
                                        <p:cTn id="28" dur="500"/>
                                        <p:tgtEl>
                                          <p:spTgt spid="15363">
                                            <p:txEl>
                                              <p:pRg st="8" end="8"/>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363">
                                            <p:txEl>
                                              <p:pRg st="9" end="9"/>
                                            </p:txEl>
                                          </p:spTgt>
                                        </p:tgtEl>
                                        <p:attrNameLst>
                                          <p:attrName>style.visibility</p:attrName>
                                        </p:attrNameLst>
                                      </p:cBhvr>
                                      <p:to>
                                        <p:strVal val="visible"/>
                                      </p:to>
                                    </p:set>
                                    <p:animEffect transition="in" filter="fade">
                                      <p:cBhvr>
                                        <p:cTn id="31" dur="500"/>
                                        <p:tgtEl>
                                          <p:spTgt spid="1536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42900" y="457200"/>
            <a:ext cx="8458200" cy="858838"/>
          </a:xfrm>
        </p:spPr>
        <p:txBody>
          <a:bodyPr/>
          <a:lstStyle/>
          <a:p>
            <a:pPr algn="ctr" eaLnBrk="1" hangingPunct="1"/>
            <a:r>
              <a:rPr lang="ro-RO" altLang="en-US" sz="2600" b="1" dirty="0">
                <a:solidFill>
                  <a:schemeClr val="bg2"/>
                </a:solidFill>
              </a:rPr>
              <a:t>V</a:t>
            </a:r>
            <a:r>
              <a:rPr lang="en-US" altLang="en-US" sz="2600" b="1" dirty="0">
                <a:solidFill>
                  <a:schemeClr val="bg2"/>
                </a:solidFill>
              </a:rPr>
              <a:t>I</a:t>
            </a:r>
            <a:r>
              <a:rPr lang="ro-RO" altLang="en-US" sz="2600" b="1" dirty="0">
                <a:solidFill>
                  <a:schemeClr val="bg2"/>
                </a:solidFill>
              </a:rPr>
              <a:t>II.</a:t>
            </a:r>
            <a:r>
              <a:rPr lang="en-US" altLang="en-US" sz="2600" b="1" dirty="0">
                <a:solidFill>
                  <a:schemeClr val="bg2"/>
                </a:solidFill>
              </a:rPr>
              <a:t> </a:t>
            </a:r>
            <a:r>
              <a:rPr lang="en-US" sz="2800" b="1" dirty="0">
                <a:solidFill>
                  <a:schemeClr val="bg2"/>
                </a:solidFill>
              </a:rPr>
              <a:t>EA Components – Initialization. Termination Condition</a:t>
            </a:r>
            <a:endParaRPr lang="en-US" altLang="en-US" sz="2600" b="1" dirty="0">
              <a:solidFill>
                <a:schemeClr val="bg2"/>
              </a:solidFill>
            </a:endParaRPr>
          </a:p>
        </p:txBody>
      </p:sp>
      <p:sp>
        <p:nvSpPr>
          <p:cNvPr id="6147" name="Rectangle 3"/>
          <p:cNvSpPr>
            <a:spLocks noGrp="1" noChangeArrowheads="1"/>
          </p:cNvSpPr>
          <p:nvPr>
            <p:ph type="body" sz="half" idx="1"/>
          </p:nvPr>
        </p:nvSpPr>
        <p:spPr>
          <a:xfrm>
            <a:off x="457200" y="1485900"/>
            <a:ext cx="8229600" cy="5211763"/>
          </a:xfrm>
        </p:spPr>
        <p:txBody>
          <a:bodyPr/>
          <a:lstStyle/>
          <a:p>
            <a:pPr algn="just">
              <a:buFont typeface="Wingdings" pitchFamily="2" charset="2"/>
              <a:buChar char="q"/>
              <a:defRPr/>
            </a:pPr>
            <a:r>
              <a:rPr lang="en-US" sz="1800" dirty="0"/>
              <a:t>Initialization: the creation of the initial population is generally performed by randomly generating phenotypes and then obtaining the associated multiset of genotypes.</a:t>
            </a:r>
            <a:r>
              <a:rPr lang="ro-RO" sz="1800" dirty="0"/>
              <a:t> </a:t>
            </a:r>
          </a:p>
          <a:p>
            <a:pPr algn="just">
              <a:buFont typeface="Wingdings" pitchFamily="2" charset="2"/>
              <a:buChar char="q"/>
              <a:defRPr/>
            </a:pPr>
            <a:endParaRPr lang="ro-RO" sz="1800" dirty="0"/>
          </a:p>
          <a:p>
            <a:pPr marL="0" indent="0">
              <a:buFont typeface="Wingdings" pitchFamily="2" charset="2"/>
              <a:buNone/>
              <a:defRPr/>
            </a:pPr>
            <a:r>
              <a:rPr lang="en-US" sz="1800" b="1" dirty="0"/>
              <a:t>Termination Condition</a:t>
            </a:r>
            <a:r>
              <a:rPr lang="ro-RO" sz="1800" dirty="0"/>
              <a:t>:</a:t>
            </a:r>
            <a:endParaRPr lang="en-US" sz="1800" dirty="0"/>
          </a:p>
          <a:p>
            <a:pPr marL="0" indent="0">
              <a:buFont typeface="Wingdings" pitchFamily="2" charset="2"/>
              <a:buNone/>
              <a:defRPr/>
            </a:pPr>
            <a:endParaRPr lang="ro-RO" sz="1800" dirty="0"/>
          </a:p>
          <a:p>
            <a:pPr>
              <a:buFont typeface="Wingdings" panose="05000000000000000000" pitchFamily="2" charset="2"/>
              <a:buChar char="q"/>
              <a:defRPr/>
            </a:pPr>
            <a:r>
              <a:rPr lang="en-US" sz="1800" dirty="0"/>
              <a:t>Reaching a maximum number of iterations (generations);</a:t>
            </a:r>
          </a:p>
          <a:p>
            <a:pPr>
              <a:buFont typeface="Wingdings" panose="05000000000000000000" pitchFamily="2" charset="2"/>
              <a:buChar char="q"/>
              <a:defRPr/>
            </a:pPr>
            <a:r>
              <a:rPr lang="en-US" sz="1800" dirty="0"/>
              <a:t>Reaching a maximum number of individual fitness evaluations;</a:t>
            </a:r>
          </a:p>
          <a:p>
            <a:pPr>
              <a:buFont typeface="Wingdings" panose="05000000000000000000" pitchFamily="2" charset="2"/>
              <a:buChar char="q"/>
              <a:defRPr/>
            </a:pPr>
            <a:r>
              <a:rPr lang="en-US" sz="1800" dirty="0"/>
              <a:t>For a specified period (a given number of iterations or evaluations), the quality of the current population does not significantly improve (it remains below a given threshold);</a:t>
            </a:r>
          </a:p>
          <a:p>
            <a:pPr>
              <a:buFont typeface="Wingdings" panose="05000000000000000000" pitchFamily="2" charset="2"/>
              <a:buChar char="q"/>
              <a:defRPr/>
            </a:pPr>
            <a:r>
              <a:rPr lang="en-US" sz="1800" dirty="0"/>
              <a:t>The population diversity falls below a given threshold.</a:t>
            </a:r>
          </a:p>
        </p:txBody>
      </p:sp>
      <p:sp>
        <p:nvSpPr>
          <p:cNvPr id="16388"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89"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0"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1"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2"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3"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4"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5"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6"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7"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8"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399"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0"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1"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2"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3"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4"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5"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6406"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fade">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fade">
                                      <p:cBhvr>
                                        <p:cTn id="17" dur="500"/>
                                        <p:tgtEl>
                                          <p:spTgt spid="614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5" end="5"/>
                                            </p:txEl>
                                          </p:spTgt>
                                        </p:tgtEl>
                                        <p:attrNameLst>
                                          <p:attrName>style.visibility</p:attrName>
                                        </p:attrNameLst>
                                      </p:cBhvr>
                                      <p:to>
                                        <p:strVal val="visible"/>
                                      </p:to>
                                    </p:set>
                                    <p:animEffect transition="in" filter="fade">
                                      <p:cBhvr>
                                        <p:cTn id="22" dur="500"/>
                                        <p:tgtEl>
                                          <p:spTgt spid="614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6" end="6"/>
                                            </p:txEl>
                                          </p:spTgt>
                                        </p:tgtEl>
                                        <p:attrNameLst>
                                          <p:attrName>style.visibility</p:attrName>
                                        </p:attrNameLst>
                                      </p:cBhvr>
                                      <p:to>
                                        <p:strVal val="visible"/>
                                      </p:to>
                                    </p:set>
                                    <p:animEffect transition="in" filter="fade">
                                      <p:cBhvr>
                                        <p:cTn id="27" dur="500"/>
                                        <p:tgtEl>
                                          <p:spTgt spid="614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7" end="7"/>
                                            </p:txEl>
                                          </p:spTgt>
                                        </p:tgtEl>
                                        <p:attrNameLst>
                                          <p:attrName>style.visibility</p:attrName>
                                        </p:attrNameLst>
                                      </p:cBhvr>
                                      <p:to>
                                        <p:strVal val="visible"/>
                                      </p:to>
                                    </p:set>
                                    <p:animEffect transition="in" filter="fade">
                                      <p:cBhvr>
                                        <p:cTn id="32" dur="5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42900" y="381000"/>
            <a:ext cx="8458200" cy="858838"/>
          </a:xfrm>
        </p:spPr>
        <p:txBody>
          <a:bodyPr/>
          <a:lstStyle/>
          <a:p>
            <a:pPr algn="just" eaLnBrk="1" hangingPunct="1"/>
            <a:r>
              <a:rPr lang="en-US" altLang="en-US" sz="2800" b="1" dirty="0">
                <a:solidFill>
                  <a:schemeClr val="bg2"/>
                </a:solidFill>
              </a:rPr>
              <a:t>Example – The 0-1 Knapsack Problem</a:t>
            </a:r>
            <a:endParaRPr lang="en-US" altLang="en-US" sz="2600" b="1" dirty="0">
              <a:solidFill>
                <a:schemeClr val="bg2"/>
              </a:solidFill>
            </a:endParaRPr>
          </a:p>
        </p:txBody>
      </p:sp>
      <mc:AlternateContent xmlns:mc="http://schemas.openxmlformats.org/markup-compatibility/2006">
        <mc:Choice xmlns:a14="http://schemas.microsoft.com/office/drawing/2010/main" Requires="a14">
          <p:sp>
            <p:nvSpPr>
              <p:cNvPr id="17411" name="Rectangle 3"/>
              <p:cNvSpPr>
                <a:spLocks noGrp="1" noChangeArrowheads="1"/>
              </p:cNvSpPr>
              <p:nvPr>
                <p:ph type="body" sz="half" idx="1"/>
              </p:nvPr>
            </p:nvSpPr>
            <p:spPr>
              <a:xfrm>
                <a:off x="457200" y="1219200"/>
                <a:ext cx="8229600" cy="5211763"/>
              </a:xfrm>
            </p:spPr>
            <p:txBody>
              <a:bodyPr/>
              <a:lstStyle/>
              <a:p>
                <a:r>
                  <a:rPr lang="en-US" sz="1800" dirty="0"/>
                  <a:t>Given </a:t>
                </a:r>
                <a:r>
                  <a:rPr lang="en-US" sz="1800" b="1" dirty="0"/>
                  <a:t>m objects</a:t>
                </a:r>
                <a:r>
                  <a:rPr lang="en-US" sz="1800" dirty="0"/>
                  <a:t>, each associated with a value and a selection cost, the objective is to determine a set of objects such that the total value is maximized and the total cost does not exceed a given threshold, </a:t>
                </a:r>
                <a:r>
                  <a:rPr lang="en-US" sz="1800" b="1" dirty="0" err="1"/>
                  <a:t>Cmax</a:t>
                </a:r>
                <a:r>
                  <a:rPr lang="en-US" sz="1800" dirty="0"/>
                  <a:t>.</a:t>
                </a:r>
              </a:p>
              <a:p>
                <a:r>
                  <a:rPr lang="en-US" sz="1800" dirty="0"/>
                  <a:t>The value/cost of a set of objects = the sum of the values/costs of the objects that compose it.</a:t>
                </a:r>
              </a:p>
              <a:p>
                <a:r>
                  <a:rPr lang="en-US" sz="1800" dirty="0"/>
                  <a:t>A feasible solution is represented by a set of selected objects whose total cost is less than or equal to </a:t>
                </a:r>
                <a:r>
                  <a:rPr lang="en-US" sz="1800" b="1" dirty="0" err="1"/>
                  <a:t>Cmax</a:t>
                </a:r>
                <a:r>
                  <a:rPr lang="en-US" sz="1800" dirty="0"/>
                  <a:t>.</a:t>
                </a:r>
              </a:p>
              <a:p>
                <a:r>
                  <a:rPr lang="en-US" sz="1800" dirty="0"/>
                  <a:t>If </a:t>
                </a:r>
                <a:r>
                  <a:rPr lang="en-US" sz="1800" b="1" dirty="0" err="1"/>
                  <a:t>val</a:t>
                </a:r>
                <a:r>
                  <a:rPr lang="en-US" sz="1800" dirty="0"/>
                  <a:t> is the vector of values associated with the m objects and </a:t>
                </a:r>
                <a:r>
                  <a:rPr lang="en-US" sz="1800" b="1" dirty="0"/>
                  <a:t>cost</a:t>
                </a:r>
                <a:r>
                  <a:rPr lang="en-US" sz="1800" dirty="0"/>
                  <a:t> is the vector of costs, a candidate solution (genotype) can be represented by a vector of m elements, </a:t>
                </a:r>
                <a:r>
                  <a:rPr lang="en-US" sz="1800" b="1" dirty="0"/>
                  <a:t>v</a:t>
                </a:r>
                <a:r>
                  <a:rPr lang="en-US" sz="1800" dirty="0"/>
                  <a:t>, where:</a:t>
                </a:r>
              </a:p>
              <a:p>
                <a:pPr algn="just">
                  <a:buFont typeface="Wingdings" panose="05000000000000000000" pitchFamily="2" charset="2"/>
                  <a:buChar char="q"/>
                </a:pPr>
                <a14:m>
                  <m:oMath xmlns:m="http://schemas.openxmlformats.org/officeDocument/2006/math">
                    <m:r>
                      <a:rPr lang="ro-RO" sz="1800" i="1">
                        <a:latin typeface="Cambria Math" panose="02040503050406030204" pitchFamily="18" charset="0"/>
                      </a:rPr>
                      <m:t>𝑣</m:t>
                    </m:r>
                    <m:d>
                      <m:dPr>
                        <m:ctrlPr>
                          <a:rPr lang="en-US" sz="1800" i="1">
                            <a:latin typeface="Cambria Math" panose="02040503050406030204" pitchFamily="18" charset="0"/>
                          </a:rPr>
                        </m:ctrlPr>
                      </m:dPr>
                      <m:e>
                        <m:r>
                          <a:rPr lang="ro-RO" sz="1800" i="1">
                            <a:latin typeface="Cambria Math" panose="02040503050406030204" pitchFamily="18" charset="0"/>
                          </a:rPr>
                          <m:t>𝑖</m:t>
                        </m:r>
                      </m:e>
                    </m:d>
                    <m:r>
                      <a:rPr lang="ro-RO" sz="1800">
                        <a:latin typeface="Cambria Math" panose="02040503050406030204" pitchFamily="18" charset="0"/>
                      </a:rPr>
                      <m:t>=</m:t>
                    </m:r>
                    <m:d>
                      <m:dPr>
                        <m:begChr m:val="{"/>
                        <m:endChr m:val=""/>
                        <m:ctrlPr>
                          <a:rPr lang="en-US" sz="1800" i="1">
                            <a:latin typeface="Cambria Math" panose="02040503050406030204" pitchFamily="18" charset="0"/>
                          </a:rPr>
                        </m:ctrlPr>
                      </m:dPr>
                      <m:e>
                        <m:eqArr>
                          <m:eqArrPr>
                            <m:ctrlPr>
                              <a:rPr lang="en-US" sz="1800" i="1">
                                <a:latin typeface="Cambria Math" panose="02040503050406030204" pitchFamily="18" charset="0"/>
                              </a:rPr>
                            </m:ctrlPr>
                          </m:eqArrPr>
                          <m:e>
                            <m:r>
                              <a:rPr lang="ro-RO" sz="1800">
                                <a:latin typeface="Cambria Math" panose="02040503050406030204" pitchFamily="18" charset="0"/>
                              </a:rPr>
                              <m:t>1,</m:t>
                            </m:r>
                            <m:r>
                              <a:rPr lang="en-US" sz="1800" b="0" i="1" smtClean="0">
                                <a:latin typeface="Cambria Math" panose="02040503050406030204" pitchFamily="18" charset="0"/>
                              </a:rPr>
                              <m:t> </m:t>
                            </m:r>
                            <m:r>
                              <a:rPr lang="en-US" sz="1800" b="0" i="1" smtClean="0">
                                <a:latin typeface="Cambria Math" panose="02040503050406030204" pitchFamily="18" charset="0"/>
                              </a:rPr>
                              <m:t>𝑖𝑓</m:t>
                            </m:r>
                            <m:r>
                              <a:rPr lang="en-US" sz="1800" b="0" i="1" smtClean="0">
                                <a:latin typeface="Cambria Math" panose="02040503050406030204" pitchFamily="18" charset="0"/>
                              </a:rPr>
                              <m:t> </m:t>
                            </m:r>
                            <m:r>
                              <a:rPr lang="en-US" sz="1800" b="0" i="1" smtClean="0">
                                <a:latin typeface="Cambria Math" panose="02040503050406030204" pitchFamily="18" charset="0"/>
                              </a:rPr>
                              <m:t>𝑜𝑏𝑗𝑒𝑐𝑡</m:t>
                            </m:r>
                            <m:r>
                              <a:rPr lang="en-US" sz="1800" b="0" i="1" smtClean="0">
                                <a:latin typeface="Cambria Math" panose="02040503050406030204" pitchFamily="18" charset="0"/>
                              </a:rPr>
                              <m:t> </m:t>
                            </m:r>
                            <m:r>
                              <a:rPr lang="en-US" sz="1800" b="0" i="1" smtClean="0">
                                <a:latin typeface="Cambria Math" panose="02040503050406030204" pitchFamily="18" charset="0"/>
                              </a:rPr>
                              <m:t>𝑖</m:t>
                            </m:r>
                            <m:r>
                              <a:rPr lang="en-US" sz="1800" b="0" i="1" smtClean="0">
                                <a:latin typeface="Cambria Math" panose="02040503050406030204" pitchFamily="18" charset="0"/>
                              </a:rPr>
                              <m:t> </m:t>
                            </m:r>
                            <m:r>
                              <a:rPr lang="en-US" sz="1800" b="0" i="1" smtClean="0">
                                <a:latin typeface="Cambria Math" panose="02040503050406030204" pitchFamily="18" charset="0"/>
                              </a:rPr>
                              <m:t>h𝑎𝑠</m:t>
                            </m:r>
                            <m:r>
                              <a:rPr lang="en-US" sz="1800" b="0" i="1" smtClean="0">
                                <a:latin typeface="Cambria Math" panose="02040503050406030204" pitchFamily="18" charset="0"/>
                              </a:rPr>
                              <m:t> </m:t>
                            </m:r>
                            <m:r>
                              <a:rPr lang="en-US" sz="1800" b="0" i="1" smtClean="0">
                                <a:latin typeface="Cambria Math" panose="02040503050406030204" pitchFamily="18" charset="0"/>
                              </a:rPr>
                              <m:t>𝑏𝑒𝑒𝑛</m:t>
                            </m:r>
                            <m:r>
                              <a:rPr lang="en-US" sz="1800" b="0" i="1" smtClean="0">
                                <a:latin typeface="Cambria Math" panose="02040503050406030204" pitchFamily="18" charset="0"/>
                              </a:rPr>
                              <m:t> </m:t>
                            </m:r>
                            <m:r>
                              <a:rPr lang="en-US" sz="1800" b="0" i="1" smtClean="0">
                                <a:latin typeface="Cambria Math" panose="02040503050406030204" pitchFamily="18" charset="0"/>
                              </a:rPr>
                              <m:t>𝑠𝑒𝑙𝑒𝑐𝑡𝑒𝑑</m:t>
                            </m:r>
                            <m:r>
                              <a:rPr lang="en-US" sz="1800" b="0" i="1" smtClean="0">
                                <a:latin typeface="Cambria Math" panose="02040503050406030204" pitchFamily="18" charset="0"/>
                              </a:rPr>
                              <m:t> </m:t>
                            </m:r>
                            <m:r>
                              <a:rPr lang="en-US" sz="1800" b="0" i="1" smtClean="0">
                                <a:latin typeface="Cambria Math" panose="02040503050406030204" pitchFamily="18" charset="0"/>
                              </a:rPr>
                              <m:t>𝑖𝑛</m:t>
                            </m:r>
                            <m:r>
                              <a:rPr lang="en-US" sz="1800" b="0" i="1" smtClean="0">
                                <a:latin typeface="Cambria Math" panose="02040503050406030204" pitchFamily="18" charset="0"/>
                              </a:rPr>
                              <m:t> </m:t>
                            </m:r>
                            <m:r>
                              <a:rPr lang="en-US" sz="1800" b="0" i="1" smtClean="0">
                                <a:latin typeface="Cambria Math" panose="02040503050406030204" pitchFamily="18" charset="0"/>
                              </a:rPr>
                              <m:t>𝑡h𝑒</m:t>
                            </m:r>
                            <m:r>
                              <a:rPr lang="en-US" sz="1800" b="0" i="1" smtClean="0">
                                <a:latin typeface="Cambria Math" panose="02040503050406030204" pitchFamily="18" charset="0"/>
                              </a:rPr>
                              <m:t> </m:t>
                            </m:r>
                            <m:r>
                              <a:rPr lang="en-US" sz="1800" b="0" i="1" smtClean="0">
                                <a:latin typeface="Cambria Math" panose="02040503050406030204" pitchFamily="18" charset="0"/>
                              </a:rPr>
                              <m:t>𝑠𝑒𝑡</m:t>
                            </m:r>
                          </m:e>
                          <m:e>
                            <m:r>
                              <a:rPr lang="ro-RO" sz="1800">
                                <a:latin typeface="Cambria Math" panose="02040503050406030204" pitchFamily="18" charset="0"/>
                              </a:rPr>
                              <m:t>0, </m:t>
                            </m:r>
                            <m:r>
                              <m:rPr>
                                <m:sty m:val="p"/>
                              </m:rPr>
                              <a:rPr lang="en-US" sz="1800" b="0" i="0" smtClean="0">
                                <a:latin typeface="Cambria Math" panose="02040503050406030204" pitchFamily="18" charset="0"/>
                              </a:rPr>
                              <m:t>otherwise</m:t>
                            </m:r>
                            <m:r>
                              <a:rPr lang="en-US" sz="1800" b="0" i="0" smtClean="0">
                                <a:latin typeface="Cambria Math" panose="02040503050406030204" pitchFamily="18" charset="0"/>
                              </a:rPr>
                              <m:t>                     </m:t>
                            </m:r>
                            <m:r>
                              <a:rPr lang="ro-RO" sz="1800">
                                <a:latin typeface="Cambria Math" panose="02040503050406030204" pitchFamily="18" charset="0"/>
                              </a:rPr>
                              <m:t>                                    </m:t>
                            </m:r>
                          </m:e>
                        </m:eqArr>
                      </m:e>
                    </m:d>
                    <m:r>
                      <a:rPr lang="ro-RO" sz="1800">
                        <a:latin typeface="Cambria Math" panose="02040503050406030204" pitchFamily="18" charset="0"/>
                      </a:rPr>
                      <m:t>, </m:t>
                    </m:r>
                    <m:r>
                      <a:rPr lang="ro-RO" sz="1800" i="1">
                        <a:latin typeface="Cambria Math" panose="02040503050406030204" pitchFamily="18" charset="0"/>
                      </a:rPr>
                      <m:t>𝑖</m:t>
                    </m:r>
                    <m:r>
                      <a:rPr lang="ro-RO" sz="1800">
                        <a:latin typeface="Cambria Math" panose="02040503050406030204" pitchFamily="18" charset="0"/>
                      </a:rPr>
                      <m:t>=1,…,</m:t>
                    </m:r>
                    <m:r>
                      <m:rPr>
                        <m:sty m:val="p"/>
                      </m:rPr>
                      <a:rPr lang="ro-RO" sz="1800" b="0" i="0" smtClean="0">
                        <a:latin typeface="Cambria Math" panose="02040503050406030204" pitchFamily="18" charset="0"/>
                      </a:rPr>
                      <m:t>m</m:t>
                    </m:r>
                  </m:oMath>
                </a14:m>
                <a:endParaRPr lang="en-US" sz="1800" dirty="0">
                  <a:latin typeface="Arial Body"/>
                  <a:cs typeface="Times New Roman" panose="02020603050405020304" pitchFamily="18" charset="0"/>
                </a:endParaRPr>
              </a:p>
              <a:p>
                <a:pPr>
                  <a:buFont typeface="Wingdings" panose="05000000000000000000" pitchFamily="2" charset="2"/>
                  <a:buChar char="q"/>
                </a:pPr>
                <a14:m>
                  <m:oMath xmlns:m="http://schemas.openxmlformats.org/officeDocument/2006/math">
                    <m:nary>
                      <m:naryPr>
                        <m:chr m:val="∑"/>
                        <m:limLoc m:val="undOvr"/>
                        <m:ctrlPr>
                          <a:rPr lang="en-US" sz="1800" i="1">
                            <a:latin typeface="Cambria Math" panose="02040503050406030204" pitchFamily="18" charset="0"/>
                          </a:rPr>
                        </m:ctrlPr>
                      </m:naryPr>
                      <m:sub>
                        <m:r>
                          <a:rPr lang="ro-RO" sz="1800" i="1">
                            <a:latin typeface="Cambria Math" panose="02040503050406030204" pitchFamily="18" charset="0"/>
                          </a:rPr>
                          <m:t>𝑖</m:t>
                        </m:r>
                        <m:r>
                          <a:rPr lang="ro-RO" sz="1800">
                            <a:latin typeface="Cambria Math" panose="02040503050406030204" pitchFamily="18" charset="0"/>
                          </a:rPr>
                          <m:t>=1</m:t>
                        </m:r>
                      </m:sub>
                      <m:sup>
                        <m:r>
                          <a:rPr lang="ro-RO" sz="1800" i="1">
                            <a:latin typeface="Cambria Math" panose="02040503050406030204" pitchFamily="18" charset="0"/>
                          </a:rPr>
                          <m:t>𝑚</m:t>
                        </m:r>
                      </m:sup>
                      <m:e>
                        <m:r>
                          <a:rPr lang="ro-RO" sz="1800" i="1">
                            <a:latin typeface="Cambria Math" panose="02040503050406030204" pitchFamily="18" charset="0"/>
                          </a:rPr>
                          <m:t>𝑐𝑜𝑠𝑡</m:t>
                        </m:r>
                        <m:d>
                          <m:dPr>
                            <m:ctrlPr>
                              <a:rPr lang="en-US" sz="1800" i="1">
                                <a:latin typeface="Cambria Math" panose="02040503050406030204" pitchFamily="18" charset="0"/>
                              </a:rPr>
                            </m:ctrlPr>
                          </m:dPr>
                          <m:e>
                            <m:r>
                              <a:rPr lang="ro-RO" sz="1800" i="1">
                                <a:latin typeface="Cambria Math" panose="02040503050406030204" pitchFamily="18" charset="0"/>
                              </a:rPr>
                              <m:t>𝑖</m:t>
                            </m:r>
                          </m:e>
                        </m:d>
                        <m:r>
                          <a:rPr lang="ro-RO" sz="1800" i="1">
                            <a:latin typeface="Cambria Math" panose="02040503050406030204" pitchFamily="18" charset="0"/>
                          </a:rPr>
                          <m:t>∗</m:t>
                        </m:r>
                        <m:r>
                          <a:rPr lang="ro-RO" sz="1800" i="1">
                            <a:latin typeface="Cambria Math" panose="02040503050406030204" pitchFamily="18" charset="0"/>
                          </a:rPr>
                          <m:t>𝑣</m:t>
                        </m:r>
                        <m:d>
                          <m:dPr>
                            <m:ctrlPr>
                              <a:rPr lang="en-US" sz="1800" i="1">
                                <a:latin typeface="Cambria Math" panose="02040503050406030204" pitchFamily="18" charset="0"/>
                              </a:rPr>
                            </m:ctrlPr>
                          </m:dPr>
                          <m:e>
                            <m:r>
                              <a:rPr lang="ro-RO" sz="1800" i="1">
                                <a:latin typeface="Cambria Math" panose="02040503050406030204" pitchFamily="18" charset="0"/>
                              </a:rPr>
                              <m:t>𝑖</m:t>
                            </m:r>
                          </m:e>
                        </m:d>
                      </m:e>
                    </m:nary>
                    <m:r>
                      <a:rPr lang="ro-RO" sz="1800">
                        <a:latin typeface="Cambria Math" panose="02040503050406030204" pitchFamily="18" charset="0"/>
                      </a:rPr>
                      <m:t>&lt;</m:t>
                    </m:r>
                    <m:r>
                      <a:rPr lang="ro-RO" sz="1800" i="1">
                        <a:latin typeface="Cambria Math" panose="02040503050406030204" pitchFamily="18" charset="0"/>
                      </a:rPr>
                      <m:t>𝐶𝑚𝑎𝑥</m:t>
                    </m:r>
                  </m:oMath>
                </a14:m>
                <a:endParaRPr lang="en-US" sz="1800" dirty="0">
                  <a:latin typeface="Arial Body"/>
                  <a:cs typeface="Times New Roman" panose="02020603050405020304" pitchFamily="18" charset="0"/>
                </a:endParaRPr>
              </a:p>
              <a:p>
                <a:pPr>
                  <a:buFont typeface="Wingdings" panose="05000000000000000000" pitchFamily="2" charset="2"/>
                  <a:buChar char="q"/>
                </a:pPr>
                <a:r>
                  <a:rPr lang="en-US" sz="1800" dirty="0">
                    <a:latin typeface="Arial Body"/>
                    <a:cs typeface="Times New Roman" panose="02020603050405020304" pitchFamily="18" charset="0"/>
                  </a:rPr>
                  <a:t>Evaluation function</a:t>
                </a:r>
                <a:r>
                  <a:rPr lang="ro-RO" sz="1800" dirty="0">
                    <a:latin typeface="Arial Body"/>
                    <a:cs typeface="Times New Roman" panose="02020603050405020304" pitchFamily="18" charset="0"/>
                  </a:rPr>
                  <a:t> (fitness)</a:t>
                </a:r>
                <a:endParaRPr lang="ro-RO" sz="1800" i="1" dirty="0">
                  <a:latin typeface="Arial Body"/>
                </a:endParaRPr>
              </a:p>
              <a:p>
                <a:pPr marL="0" indent="0">
                  <a:buNone/>
                </a:pPr>
                <a14:m>
                  <m:oMathPara xmlns:m="http://schemas.openxmlformats.org/officeDocument/2006/math">
                    <m:oMathParaPr>
                      <m:jc m:val="centerGroup"/>
                    </m:oMathParaPr>
                    <m:oMath xmlns:m="http://schemas.openxmlformats.org/officeDocument/2006/math">
                      <m:nary>
                        <m:naryPr>
                          <m:chr m:val="∑"/>
                          <m:limLoc m:val="undOvr"/>
                          <m:ctrlPr>
                            <a:rPr lang="en-US" sz="1800" i="1">
                              <a:latin typeface="Cambria Math" panose="02040503050406030204" pitchFamily="18" charset="0"/>
                            </a:rPr>
                          </m:ctrlPr>
                        </m:naryPr>
                        <m:sub>
                          <m:r>
                            <a:rPr lang="ro-RO" sz="1800" i="1">
                              <a:latin typeface="Cambria Math" panose="02040503050406030204" pitchFamily="18" charset="0"/>
                            </a:rPr>
                            <m:t>𝑖</m:t>
                          </m:r>
                          <m:r>
                            <a:rPr lang="ro-RO" sz="1800">
                              <a:latin typeface="Cambria Math" panose="02040503050406030204" pitchFamily="18" charset="0"/>
                            </a:rPr>
                            <m:t>=1</m:t>
                          </m:r>
                        </m:sub>
                        <m:sup>
                          <m:r>
                            <a:rPr lang="ro-RO" sz="1800" i="1">
                              <a:latin typeface="Cambria Math" panose="02040503050406030204" pitchFamily="18" charset="0"/>
                            </a:rPr>
                            <m:t>𝑚</m:t>
                          </m:r>
                        </m:sup>
                        <m:e>
                          <m:r>
                            <a:rPr lang="ro-RO" sz="1800" i="1">
                              <a:latin typeface="Cambria Math" panose="02040503050406030204" pitchFamily="18" charset="0"/>
                            </a:rPr>
                            <m:t>𝑣𝑎𝑙</m:t>
                          </m:r>
                          <m:d>
                            <m:dPr>
                              <m:ctrlPr>
                                <a:rPr lang="en-US" sz="1800" i="1">
                                  <a:latin typeface="Cambria Math" panose="02040503050406030204" pitchFamily="18" charset="0"/>
                                </a:rPr>
                              </m:ctrlPr>
                            </m:dPr>
                            <m:e>
                              <m:r>
                                <a:rPr lang="ro-RO" sz="1800" i="1">
                                  <a:latin typeface="Cambria Math" panose="02040503050406030204" pitchFamily="18" charset="0"/>
                                </a:rPr>
                                <m:t>𝑖</m:t>
                              </m:r>
                            </m:e>
                          </m:d>
                          <m:r>
                            <a:rPr lang="ro-RO" sz="1800" i="1">
                              <a:latin typeface="Cambria Math" panose="02040503050406030204" pitchFamily="18" charset="0"/>
                            </a:rPr>
                            <m:t>∗</m:t>
                          </m:r>
                          <m:r>
                            <a:rPr lang="ro-RO" sz="1800" i="1">
                              <a:latin typeface="Cambria Math" panose="02040503050406030204" pitchFamily="18" charset="0"/>
                            </a:rPr>
                            <m:t>𝑣</m:t>
                          </m:r>
                          <m:d>
                            <m:dPr>
                              <m:ctrlPr>
                                <a:rPr lang="en-US" sz="1800" i="1">
                                  <a:latin typeface="Cambria Math" panose="02040503050406030204" pitchFamily="18" charset="0"/>
                                </a:rPr>
                              </m:ctrlPr>
                            </m:dPr>
                            <m:e>
                              <m:r>
                                <a:rPr lang="ro-RO" sz="1800" i="1">
                                  <a:latin typeface="Cambria Math" panose="02040503050406030204" pitchFamily="18" charset="0"/>
                                </a:rPr>
                                <m:t>𝑖</m:t>
                              </m:r>
                            </m:e>
                          </m:d>
                        </m:e>
                      </m:nary>
                    </m:oMath>
                  </m:oMathPara>
                </a14:m>
                <a:endParaRPr lang="en-US" sz="1800" dirty="0">
                  <a:latin typeface="Arial Body"/>
                  <a:cs typeface="Times New Roman" panose="02020603050405020304" pitchFamily="18" charset="0"/>
                </a:endParaRPr>
              </a:p>
            </p:txBody>
          </p:sp>
        </mc:Choice>
        <mc:Fallback>
          <p:sp>
            <p:nvSpPr>
              <p:cNvPr id="17411" name="Rectangle 3"/>
              <p:cNvSpPr>
                <a:spLocks noGrp="1" noRot="1" noChangeAspect="1" noMove="1" noResize="1" noEditPoints="1" noAdjustHandles="1" noChangeArrowheads="1" noChangeShapeType="1" noTextEdit="1"/>
              </p:cNvSpPr>
              <p:nvPr>
                <p:ph type="body" sz="half" idx="1"/>
              </p:nvPr>
            </p:nvSpPr>
            <p:spPr>
              <a:xfrm>
                <a:off x="457200" y="1219200"/>
                <a:ext cx="8229600" cy="5211763"/>
              </a:xfrm>
              <a:blipFill>
                <a:blip r:embed="rId2"/>
                <a:stretch>
                  <a:fillRect l="-74" t="-585"/>
                </a:stretch>
              </a:blipFill>
            </p:spPr>
            <p:txBody>
              <a:bodyPr/>
              <a:lstStyle/>
              <a:p>
                <a:r>
                  <a:rPr lang="en-US">
                    <a:noFill/>
                  </a:rPr>
                  <a:t> </a:t>
                </a:r>
              </a:p>
            </p:txBody>
          </p:sp>
        </mc:Fallback>
      </mc:AlternateContent>
      <p:sp>
        <p:nvSpPr>
          <p:cNvPr id="1741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3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42900" y="381000"/>
            <a:ext cx="8458200" cy="858838"/>
          </a:xfrm>
        </p:spPr>
        <p:txBody>
          <a:bodyPr/>
          <a:lstStyle/>
          <a:p>
            <a:pPr algn="just" eaLnBrk="1" hangingPunct="1"/>
            <a:r>
              <a:rPr lang="ro-RO" altLang="en-US" sz="2800" b="1" dirty="0">
                <a:solidFill>
                  <a:schemeClr val="bg2"/>
                </a:solidFill>
              </a:rPr>
              <a:t>Exempl</a:t>
            </a:r>
            <a:r>
              <a:rPr lang="en-US" altLang="en-US" sz="2800" b="1" dirty="0">
                <a:solidFill>
                  <a:schemeClr val="bg2"/>
                </a:solidFill>
              </a:rPr>
              <a:t>e – The 0-1 Knapsack Problem</a:t>
            </a:r>
            <a:endParaRPr lang="en-US" altLang="en-US" sz="2600" b="1" dirty="0">
              <a:solidFill>
                <a:schemeClr val="bg2"/>
              </a:solidFill>
            </a:endParaRPr>
          </a:p>
        </p:txBody>
      </p:sp>
      <mc:AlternateContent xmlns:mc="http://schemas.openxmlformats.org/markup-compatibility/2006">
        <mc:Choice xmlns:a14="http://schemas.microsoft.com/office/drawing/2010/main" Requires="a14">
          <p:sp>
            <p:nvSpPr>
              <p:cNvPr id="17411" name="Rectangle 3"/>
              <p:cNvSpPr>
                <a:spLocks noGrp="1" noChangeArrowheads="1"/>
              </p:cNvSpPr>
              <p:nvPr>
                <p:ph type="body" sz="half" idx="1"/>
              </p:nvPr>
            </p:nvSpPr>
            <p:spPr>
              <a:xfrm>
                <a:off x="457200" y="1219200"/>
                <a:ext cx="8229600" cy="5211763"/>
              </a:xfrm>
            </p:spPr>
            <p:txBody>
              <a:bodyPr/>
              <a:lstStyle/>
              <a:p>
                <a:pPr>
                  <a:buFont typeface="Wingdings" panose="05000000000000000000" pitchFamily="2" charset="2"/>
                  <a:buChar char="q"/>
                </a:pPr>
                <a:r>
                  <a:rPr lang="en-US" sz="1600" dirty="0"/>
                  <a:t>At each time step, the population consists of </a:t>
                </a:r>
                <a:r>
                  <a:rPr lang="en-US" sz="1600" b="1" dirty="0"/>
                  <a:t>N individuals</a:t>
                </a:r>
                <a:r>
                  <a:rPr lang="en-US" sz="1600" dirty="0"/>
                  <a:t>.</a:t>
                </a:r>
              </a:p>
              <a:p>
                <a:pPr>
                  <a:buFont typeface="Wingdings" panose="05000000000000000000" pitchFamily="2" charset="2"/>
                  <a:buChar char="q"/>
                </a:pPr>
                <a:endParaRPr lang="en-US" sz="1600" dirty="0"/>
              </a:p>
              <a:p>
                <a:pPr>
                  <a:buFont typeface="Wingdings" panose="05000000000000000000" pitchFamily="2" charset="2"/>
                  <a:buChar char="q"/>
                </a:pPr>
                <a:r>
                  <a:rPr lang="en-US" sz="1600" b="1" dirty="0"/>
                  <a:t>Initial population:</a:t>
                </a:r>
                <a:r>
                  <a:rPr lang="en-US" sz="1600" dirty="0"/>
                  <a:t> a binary vector with length equal to the number of objects is randomly generated and retained only if the threshold </a:t>
                </a:r>
                <a:r>
                  <a:rPr lang="en-US" sz="1600" b="1" dirty="0" err="1"/>
                  <a:t>Cmax</a:t>
                </a:r>
                <a:r>
                  <a:rPr lang="en-US" sz="1600" dirty="0"/>
                  <a:t> is not exceeded — meaning it represents a feasible (admissible) solution. The procedure is repeated until </a:t>
                </a:r>
                <a:r>
                  <a:rPr lang="en-US" sz="1600" b="1" dirty="0"/>
                  <a:t>N feasible chromosomes</a:t>
                </a:r>
                <a:r>
                  <a:rPr lang="en-US" sz="1600" dirty="0"/>
                  <a:t> are generated.</a:t>
                </a:r>
              </a:p>
              <a:p>
                <a:pPr>
                  <a:buFont typeface="Wingdings" panose="05000000000000000000" pitchFamily="2" charset="2"/>
                  <a:buChar char="q"/>
                </a:pPr>
                <a:endParaRPr lang="en-US" sz="1600" dirty="0"/>
              </a:p>
              <a:p>
                <a:pPr>
                  <a:buFont typeface="Wingdings" panose="05000000000000000000" pitchFamily="2" charset="2"/>
                  <a:buChar char="q"/>
                </a:pPr>
                <a:r>
                  <a:rPr lang="en-US" sz="1600" b="1" dirty="0"/>
                  <a:t>Parent selection</a:t>
                </a:r>
                <a:r>
                  <a:rPr lang="en-US" sz="1600" dirty="0"/>
                  <a:t> is performed using the </a:t>
                </a:r>
                <a:r>
                  <a:rPr lang="en-US" sz="1600" b="1" dirty="0"/>
                  <a:t>tournament selection</a:t>
                </a:r>
                <a:r>
                  <a:rPr lang="en-US" sz="1600" dirty="0"/>
                  <a:t> method.</a:t>
                </a:r>
              </a:p>
              <a:p>
                <a:pPr>
                  <a:buFont typeface="Wingdings" panose="05000000000000000000" pitchFamily="2" charset="2"/>
                  <a:buChar char="q"/>
                </a:pPr>
                <a:r>
                  <a:rPr lang="en-US" sz="1600" b="1" dirty="0"/>
                  <a:t>Recombination</a:t>
                </a:r>
                <a:r>
                  <a:rPr lang="en-US" sz="1600" dirty="0"/>
                  <a:t> is performed with probability </a:t>
                </a:r>
                <a:r>
                  <a:rPr lang="en-US" sz="1600" b="1" dirty="0"/>
                  <a:t>pr (0.7–0.9)</a:t>
                </a:r>
                <a:r>
                  <a:rPr lang="en-US" sz="1600" dirty="0"/>
                  <a:t>: for two individuals </a:t>
                </a:r>
                <a14:m>
                  <m:oMath xmlns:m="http://schemas.openxmlformats.org/officeDocument/2006/math">
                    <m:sSub>
                      <m:sSubPr>
                        <m:ctrlPr>
                          <a:rPr lang="ar-AE" sz="1600"/>
                        </m:ctrlPr>
                      </m:sSubPr>
                      <m:e>
                        <m:r>
                          <a:rPr lang="ar-AE" sz="1600" i="1"/>
                          <m:t>𝑥</m:t>
                        </m:r>
                      </m:e>
                      <m:sub>
                        <m:r>
                          <a:rPr lang="ar-AE" sz="1600"/>
                          <m:t>1</m:t>
                        </m:r>
                      </m:sub>
                    </m:sSub>
                    <m:r>
                      <a:rPr lang="ar-AE" sz="1600"/>
                      <m:t>,</m:t>
                    </m:r>
                    <m:sSub>
                      <m:sSubPr>
                        <m:ctrlPr>
                          <a:rPr lang="ar-AE" sz="1600" i="1"/>
                        </m:ctrlPr>
                      </m:sSubPr>
                      <m:e>
                        <m:r>
                          <a:rPr lang="ar-AE" sz="1600" i="1"/>
                          <m:t>𝑥</m:t>
                        </m:r>
                      </m:e>
                      <m:sub>
                        <m:r>
                          <a:rPr lang="ar-AE" sz="1600"/>
                          <m:t>2</m:t>
                        </m:r>
                      </m:sub>
                    </m:sSub>
                    <m:r>
                      <a:rPr lang="ar-AE" sz="1600"/>
                      <m:t>∈</m:t>
                    </m:r>
                    <m:r>
                      <a:rPr lang="ar-AE" sz="1600" i="1"/>
                      <m:t>𝐵</m:t>
                    </m:r>
                    <m:sSub>
                      <m:sSubPr>
                        <m:ctrlPr>
                          <a:rPr lang="ar-AE" sz="1600" i="1"/>
                        </m:ctrlPr>
                      </m:sSubPr>
                      <m:e>
                        <m:r>
                          <a:rPr lang="ar-AE" sz="1600" i="1"/>
                          <m:t>𝑃</m:t>
                        </m:r>
                      </m:e>
                      <m:sub>
                        <m:r>
                          <a:rPr lang="ar-AE" sz="1600" i="1"/>
                          <m:t>𝑖</m:t>
                        </m:r>
                      </m:sub>
                    </m:sSub>
                  </m:oMath>
                </a14:m>
                <a:r>
                  <a:rPr lang="en-US" sz="1600" dirty="0"/>
                  <a:t>and for a position </a:t>
                </a:r>
                <a14:m>
                  <m:oMath xmlns:m="http://schemas.openxmlformats.org/officeDocument/2006/math">
                    <m:r>
                      <a:rPr lang="en-US" sz="1600" i="1"/>
                      <m:t>𝑝𝑜𝑠</m:t>
                    </m:r>
                    <m:r>
                      <a:rPr lang="en-US" sz="1600"/>
                      <m:t>∈</m:t>
                    </m:r>
                    <m:r>
                      <a:rPr lang="en-US" sz="1600"/>
                      <m:t>1</m:t>
                    </m:r>
                    <m:r>
                      <a:rPr lang="en-US" sz="1600"/>
                      <m:t>,</m:t>
                    </m:r>
                    <m:r>
                      <a:rPr lang="en-US" sz="1600"/>
                      <m:t>2</m:t>
                    </m:r>
                    <m:r>
                      <a:rPr lang="en-US" sz="1600"/>
                      <m:t>,…,</m:t>
                    </m:r>
                    <m:r>
                      <a:rPr lang="en-US" sz="1600" i="1"/>
                      <m:t>𝑚</m:t>
                    </m:r>
                    <m:r>
                      <a:rPr lang="en-US" sz="1600"/>
                      <m:t>−</m:t>
                    </m:r>
                    <m:r>
                      <a:rPr lang="en-US" sz="1600"/>
                      <m:t>1</m:t>
                    </m:r>
                  </m:oMath>
                </a14:m>
                <a:r>
                  <a:rPr lang="en-US" sz="1600" dirty="0"/>
                  <a:t>generated randomly, the offspring </a:t>
                </a:r>
                <a14:m>
                  <m:oMath xmlns:m="http://schemas.openxmlformats.org/officeDocument/2006/math">
                    <m:sSub>
                      <m:sSubPr>
                        <m:ctrlPr>
                          <a:rPr lang="ar-AE" sz="1600"/>
                        </m:ctrlPr>
                      </m:sSubPr>
                      <m:e>
                        <m:r>
                          <a:rPr lang="ar-AE" sz="1600" i="1"/>
                          <m:t>𝑦</m:t>
                        </m:r>
                      </m:e>
                      <m:sub>
                        <m:r>
                          <a:rPr lang="ar-AE" sz="1600"/>
                          <m:t>1</m:t>
                        </m:r>
                      </m:sub>
                    </m:sSub>
                    <m:r>
                      <a:rPr lang="ar-AE" sz="1600"/>
                      <m:t>,</m:t>
                    </m:r>
                    <m:sSub>
                      <m:sSubPr>
                        <m:ctrlPr>
                          <a:rPr lang="ar-AE" sz="1600" i="1"/>
                        </m:ctrlPr>
                      </m:sSubPr>
                      <m:e>
                        <m:r>
                          <a:rPr lang="ar-AE" sz="1600" i="1"/>
                          <m:t>𝑦</m:t>
                        </m:r>
                      </m:e>
                      <m:sub>
                        <m:r>
                          <a:rPr lang="ar-AE" sz="1600"/>
                          <m:t>2</m:t>
                        </m:r>
                      </m:sub>
                    </m:sSub>
                  </m:oMath>
                </a14:m>
                <a:r>
                  <a:rPr lang="en-US" sz="1600" dirty="0"/>
                  <a:t>are obtained as follows:</a:t>
                </a:r>
              </a:p>
              <a:p>
                <a:pPr>
                  <a:buFont typeface="Wingdings" panose="05000000000000000000" pitchFamily="2" charset="2"/>
                  <a:buChar char="q"/>
                </a:pPr>
                <a:endParaRPr lang="en-US" sz="1600" dirty="0"/>
              </a:p>
              <a:p>
                <a:pPr>
                  <a:buFont typeface="Wingdings" panose="05000000000000000000" pitchFamily="2" charset="2"/>
                  <a:buChar char="q"/>
                </a:pPr>
                <a:r>
                  <a:rPr lang="en-US" sz="1600" dirty="0"/>
                  <a:t>copy the first </a:t>
                </a:r>
                <a:r>
                  <a:rPr lang="en-US" sz="1600" i="1" dirty="0"/>
                  <a:t>pos</a:t>
                </a:r>
                <a:r>
                  <a:rPr lang="en-US" sz="1600" dirty="0"/>
                  <a:t> elements from </a:t>
                </a:r>
                <a14:m>
                  <m:oMath xmlns:m="http://schemas.openxmlformats.org/officeDocument/2006/math">
                    <m:sSub>
                      <m:sSubPr>
                        <m:ctrlPr>
                          <a:rPr lang="ar-AE" sz="1600"/>
                        </m:ctrlPr>
                      </m:sSubPr>
                      <m:e>
                        <m:r>
                          <a:rPr lang="ar-AE" sz="1600" i="1"/>
                          <m:t>𝑥</m:t>
                        </m:r>
                      </m:e>
                      <m:sub>
                        <m:r>
                          <a:rPr lang="ar-AE" sz="1600"/>
                          <m:t>1</m:t>
                        </m:r>
                      </m:sub>
                    </m:sSub>
                  </m:oMath>
                </a14:m>
                <a:r>
                  <a:rPr lang="ar-AE" sz="1600" dirty="0"/>
                  <a:t>, </a:t>
                </a:r>
                <a:r>
                  <a:rPr lang="en-US" sz="1600" dirty="0"/>
                  <a:t>respectively </a:t>
                </a:r>
                <a14:m>
                  <m:oMath xmlns:m="http://schemas.openxmlformats.org/officeDocument/2006/math">
                    <m:sSub>
                      <m:sSubPr>
                        <m:ctrlPr>
                          <a:rPr lang="ar-AE" sz="1600"/>
                        </m:ctrlPr>
                      </m:sSubPr>
                      <m:e>
                        <m:r>
                          <a:rPr lang="ar-AE" sz="1600" i="1"/>
                          <m:t>𝑥</m:t>
                        </m:r>
                      </m:e>
                      <m:sub>
                        <m:r>
                          <a:rPr lang="ar-AE" sz="1600"/>
                          <m:t>2</m:t>
                        </m:r>
                      </m:sub>
                    </m:sSub>
                  </m:oMath>
                </a14:m>
                <a:r>
                  <a:rPr lang="ar-AE" sz="1600" dirty="0"/>
                  <a:t>, </a:t>
                </a:r>
                <a:r>
                  <a:rPr lang="en-US" sz="1600" dirty="0"/>
                  <a:t>into </a:t>
                </a:r>
                <a14:m>
                  <m:oMath xmlns:m="http://schemas.openxmlformats.org/officeDocument/2006/math">
                    <m:sSub>
                      <m:sSubPr>
                        <m:ctrlPr>
                          <a:rPr lang="ar-AE" sz="1600"/>
                        </m:ctrlPr>
                      </m:sSubPr>
                      <m:e>
                        <m:r>
                          <a:rPr lang="ar-AE" sz="1600" i="1"/>
                          <m:t>𝑦</m:t>
                        </m:r>
                      </m:e>
                      <m:sub>
                        <m:r>
                          <a:rPr lang="ar-AE" sz="1600"/>
                          <m:t>1</m:t>
                        </m:r>
                      </m:sub>
                    </m:sSub>
                  </m:oMath>
                </a14:m>
                <a:r>
                  <a:rPr lang="ar-AE" sz="1600" dirty="0"/>
                  <a:t>, </a:t>
                </a:r>
                <a:r>
                  <a:rPr lang="en-US" sz="1600" dirty="0"/>
                  <a:t>respectively </a:t>
                </a:r>
                <a14:m>
                  <m:oMath xmlns:m="http://schemas.openxmlformats.org/officeDocument/2006/math">
                    <m:sSub>
                      <m:sSubPr>
                        <m:ctrlPr>
                          <a:rPr lang="ar-AE" sz="1600"/>
                        </m:ctrlPr>
                      </m:sSubPr>
                      <m:e>
                        <m:r>
                          <a:rPr lang="ar-AE" sz="1600" i="1"/>
                          <m:t>𝑦</m:t>
                        </m:r>
                      </m:e>
                      <m:sub>
                        <m:r>
                          <a:rPr lang="ar-AE" sz="1600"/>
                          <m:t>2</m:t>
                        </m:r>
                      </m:sub>
                    </m:sSub>
                  </m:oMath>
                </a14:m>
                <a:r>
                  <a:rPr lang="ar-AE" sz="1600" dirty="0"/>
                  <a:t>;</a:t>
                </a:r>
              </a:p>
              <a:p>
                <a:pPr>
                  <a:buFont typeface="Wingdings" panose="05000000000000000000" pitchFamily="2" charset="2"/>
                  <a:buChar char="q"/>
                </a:pPr>
                <a:r>
                  <a:rPr lang="en-US" sz="1600" dirty="0"/>
                  <a:t>copy into the last </a:t>
                </a:r>
                <a:r>
                  <a:rPr lang="en-US" sz="1600" i="1" dirty="0"/>
                  <a:t>m − pos + 1</a:t>
                </a:r>
                <a:r>
                  <a:rPr lang="en-US" sz="1600" dirty="0"/>
                  <a:t> positions of </a:t>
                </a:r>
                <a14:m>
                  <m:oMath xmlns:m="http://schemas.openxmlformats.org/officeDocument/2006/math">
                    <m:sSub>
                      <m:sSubPr>
                        <m:ctrlPr>
                          <a:rPr lang="ar-AE" sz="1600"/>
                        </m:ctrlPr>
                      </m:sSubPr>
                      <m:e>
                        <m:r>
                          <a:rPr lang="ar-AE" sz="1600" i="1"/>
                          <m:t>𝑦</m:t>
                        </m:r>
                      </m:e>
                      <m:sub>
                        <m:r>
                          <a:rPr lang="ar-AE" sz="1600"/>
                          <m:t>1</m:t>
                        </m:r>
                      </m:sub>
                    </m:sSub>
                  </m:oMath>
                </a14:m>
                <a:r>
                  <a:rPr lang="ar-AE" sz="1600" dirty="0"/>
                  <a:t>, </a:t>
                </a:r>
                <a:r>
                  <a:rPr lang="en-US" sz="1600" dirty="0"/>
                  <a:t>respectively </a:t>
                </a:r>
                <a14:m>
                  <m:oMath xmlns:m="http://schemas.openxmlformats.org/officeDocument/2006/math">
                    <m:sSub>
                      <m:sSubPr>
                        <m:ctrlPr>
                          <a:rPr lang="ar-AE" sz="1600"/>
                        </m:ctrlPr>
                      </m:sSubPr>
                      <m:e>
                        <m:r>
                          <a:rPr lang="ar-AE" sz="1600" i="1"/>
                          <m:t>𝑦</m:t>
                        </m:r>
                      </m:e>
                      <m:sub>
                        <m:r>
                          <a:rPr lang="ar-AE" sz="1600"/>
                          <m:t>2</m:t>
                        </m:r>
                      </m:sub>
                    </m:sSub>
                  </m:oMath>
                </a14:m>
                <a:r>
                  <a:rPr lang="ar-AE" sz="1600" dirty="0"/>
                  <a:t>, </a:t>
                </a:r>
                <a:r>
                  <a:rPr lang="en-US" sz="1600" dirty="0"/>
                  <a:t>the last </a:t>
                </a:r>
                <a:r>
                  <a:rPr lang="en-US" sz="1600" i="1" dirty="0"/>
                  <a:t>m − pos + 1</a:t>
                </a:r>
                <a:r>
                  <a:rPr lang="en-US" sz="1600" dirty="0"/>
                  <a:t> elements from </a:t>
                </a:r>
                <a14:m>
                  <m:oMath xmlns:m="http://schemas.openxmlformats.org/officeDocument/2006/math">
                    <m:sSub>
                      <m:sSubPr>
                        <m:ctrlPr>
                          <a:rPr lang="ar-AE" sz="1600"/>
                        </m:ctrlPr>
                      </m:sSubPr>
                      <m:e>
                        <m:r>
                          <a:rPr lang="ar-AE" sz="1600" i="1"/>
                          <m:t>𝑥</m:t>
                        </m:r>
                      </m:e>
                      <m:sub>
                        <m:r>
                          <a:rPr lang="ar-AE" sz="1600"/>
                          <m:t>2</m:t>
                        </m:r>
                      </m:sub>
                    </m:sSub>
                  </m:oMath>
                </a14:m>
                <a:r>
                  <a:rPr lang="ar-AE" sz="1600" dirty="0"/>
                  <a:t>, </a:t>
                </a:r>
                <a:r>
                  <a:rPr lang="en-US" sz="1600" dirty="0"/>
                  <a:t>respectively </a:t>
                </a:r>
                <a14:m>
                  <m:oMath xmlns:m="http://schemas.openxmlformats.org/officeDocument/2006/math">
                    <m:sSub>
                      <m:sSubPr>
                        <m:ctrlPr>
                          <a:rPr lang="ar-AE" sz="1600"/>
                        </m:ctrlPr>
                      </m:sSubPr>
                      <m:e>
                        <m:r>
                          <a:rPr lang="ar-AE" sz="1600" i="1"/>
                          <m:t>𝑥</m:t>
                        </m:r>
                      </m:e>
                      <m:sub>
                        <m:r>
                          <a:rPr lang="ar-AE" sz="1600"/>
                          <m:t>1</m:t>
                        </m:r>
                      </m:sub>
                    </m:sSub>
                  </m:oMath>
                </a14:m>
                <a:r>
                  <a:rPr lang="ar-AE" sz="1600" dirty="0"/>
                  <a:t>.</a:t>
                </a:r>
              </a:p>
              <a:p>
                <a:pPr>
                  <a:buFont typeface="Wingdings" panose="05000000000000000000" pitchFamily="2" charset="2"/>
                  <a:buChar char="q"/>
                </a:pPr>
                <a:r>
                  <a:rPr lang="en-US" sz="1600" dirty="0"/>
                  <a:t>If the resulting </a:t>
                </a:r>
                <a14:m>
                  <m:oMath xmlns:m="http://schemas.openxmlformats.org/officeDocument/2006/math">
                    <m:sSub>
                      <m:sSubPr>
                        <m:ctrlPr>
                          <a:rPr lang="ar-AE" sz="1600"/>
                        </m:ctrlPr>
                      </m:sSubPr>
                      <m:e>
                        <m:r>
                          <a:rPr lang="ar-AE" sz="1600" i="1"/>
                          <m:t>𝑦</m:t>
                        </m:r>
                      </m:e>
                      <m:sub>
                        <m:r>
                          <a:rPr lang="ar-AE" sz="1600"/>
                          <m:t>1</m:t>
                        </m:r>
                      </m:sub>
                    </m:sSub>
                  </m:oMath>
                </a14:m>
                <a:r>
                  <a:rPr lang="en-US" sz="1600" dirty="0"/>
                  <a:t>or </a:t>
                </a:r>
                <a14:m>
                  <m:oMath xmlns:m="http://schemas.openxmlformats.org/officeDocument/2006/math">
                    <m:sSub>
                      <m:sSubPr>
                        <m:ctrlPr>
                          <a:rPr lang="ar-AE" sz="1600"/>
                        </m:ctrlPr>
                      </m:sSubPr>
                      <m:e>
                        <m:r>
                          <a:rPr lang="ar-AE" sz="1600" i="1"/>
                          <m:t>𝑦</m:t>
                        </m:r>
                      </m:e>
                      <m:sub>
                        <m:r>
                          <a:rPr lang="ar-AE" sz="1600"/>
                          <m:t>2</m:t>
                        </m:r>
                      </m:sub>
                    </m:sSub>
                  </m:oMath>
                </a14:m>
                <a:r>
                  <a:rPr lang="en-US" sz="1600" dirty="0"/>
                  <a:t>do not satisfy the feasibility condition, another pair of parents is selected and the same mechanism is applied.</a:t>
                </a:r>
              </a:p>
              <a:p>
                <a:pPr marL="0" indent="0">
                  <a:buNone/>
                </a:pPr>
                <a:r>
                  <a:rPr lang="en-US" sz="1600" b="1" dirty="0"/>
                  <a:t>If a pair of parents is not selected for crossover or does not produce feasible offspring, it is preserved in the next population.</a:t>
                </a:r>
              </a:p>
              <a:p>
                <a:pPr algn="just">
                  <a:buFont typeface="Wingdings" panose="05000000000000000000" pitchFamily="2" charset="2"/>
                  <a:buChar char="q"/>
                </a:pPr>
                <a:endParaRPr lang="en-US" sz="1800" b="1" dirty="0">
                  <a:latin typeface="Arial Body"/>
                  <a:cs typeface="Times New Roman" panose="02020603050405020304" pitchFamily="18" charset="0"/>
                </a:endParaRPr>
              </a:p>
            </p:txBody>
          </p:sp>
        </mc:Choice>
        <mc:Fallback>
          <p:sp>
            <p:nvSpPr>
              <p:cNvPr id="17411" name="Rectangle 3"/>
              <p:cNvSpPr>
                <a:spLocks noGrp="1" noRot="1" noChangeAspect="1" noMove="1" noResize="1" noEditPoints="1" noAdjustHandles="1" noChangeArrowheads="1" noChangeShapeType="1" noTextEdit="1"/>
              </p:cNvSpPr>
              <p:nvPr>
                <p:ph type="body" sz="half" idx="1"/>
              </p:nvPr>
            </p:nvSpPr>
            <p:spPr>
              <a:xfrm>
                <a:off x="457200" y="1219200"/>
                <a:ext cx="8229600" cy="5211763"/>
              </a:xfrm>
              <a:blipFill>
                <a:blip r:embed="rId2"/>
                <a:stretch>
                  <a:fillRect l="-370" t="-351" r="-593" b="-1520"/>
                </a:stretch>
              </a:blipFill>
            </p:spPr>
            <p:txBody>
              <a:bodyPr/>
              <a:lstStyle/>
              <a:p>
                <a:r>
                  <a:rPr lang="en-US">
                    <a:noFill/>
                  </a:rPr>
                  <a:t> </a:t>
                </a:r>
              </a:p>
            </p:txBody>
          </p:sp>
        </mc:Fallback>
      </mc:AlternateContent>
      <p:sp>
        <p:nvSpPr>
          <p:cNvPr id="1741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3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extLst>
      <p:ext uri="{BB962C8B-B14F-4D97-AF65-F5344CB8AC3E}">
        <p14:creationId xmlns:p14="http://schemas.microsoft.com/office/powerpoint/2010/main" val="253687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42900" y="381000"/>
            <a:ext cx="8458200" cy="858838"/>
          </a:xfrm>
        </p:spPr>
        <p:txBody>
          <a:bodyPr/>
          <a:lstStyle/>
          <a:p>
            <a:pPr algn="just" eaLnBrk="1" hangingPunct="1"/>
            <a:r>
              <a:rPr lang="en-US" altLang="en-US" sz="2800" b="1" dirty="0">
                <a:solidFill>
                  <a:schemeClr val="bg2"/>
                </a:solidFill>
              </a:rPr>
              <a:t>Example – The 0-1 Knapsack Problem</a:t>
            </a:r>
            <a:endParaRPr lang="en-US" altLang="en-US" sz="2600" b="1" dirty="0">
              <a:solidFill>
                <a:schemeClr val="bg2"/>
              </a:solidFill>
            </a:endParaRPr>
          </a:p>
        </p:txBody>
      </p:sp>
      <mc:AlternateContent xmlns:mc="http://schemas.openxmlformats.org/markup-compatibility/2006">
        <mc:Choice xmlns:a14="http://schemas.microsoft.com/office/drawing/2010/main" Requires="a14">
          <p:sp>
            <p:nvSpPr>
              <p:cNvPr id="17411" name="Rectangle 3"/>
              <p:cNvSpPr>
                <a:spLocks noGrp="1" noChangeArrowheads="1"/>
              </p:cNvSpPr>
              <p:nvPr>
                <p:ph type="body" sz="half" idx="1"/>
              </p:nvPr>
            </p:nvSpPr>
            <p:spPr>
              <a:xfrm>
                <a:off x="457200" y="1219200"/>
                <a:ext cx="8229600" cy="5211763"/>
              </a:xfrm>
            </p:spPr>
            <p:txBody>
              <a:bodyPr/>
              <a:lstStyle/>
              <a:p>
                <a:pPr>
                  <a:buFont typeface="Wingdings" panose="05000000000000000000" pitchFamily="2" charset="2"/>
                  <a:buChar char="q"/>
                </a:pPr>
                <a:r>
                  <a:rPr lang="en-US" sz="1600" dirty="0"/>
                  <a:t>The </a:t>
                </a:r>
                <a:r>
                  <a:rPr lang="en-US" sz="1600" b="1" dirty="0"/>
                  <a:t>mutation operator</a:t>
                </a:r>
                <a:r>
                  <a:rPr lang="en-US" sz="1600" dirty="0"/>
                  <a:t> is applied with probability </a:t>
                </a:r>
                <a:r>
                  <a:rPr lang="en-US" sz="1600" b="1" dirty="0"/>
                  <a:t>pm</a:t>
                </a:r>
                <a:r>
                  <a:rPr lang="en-US" sz="1600" dirty="0"/>
                  <a:t> (generally </a:t>
                </a:r>
                <a14:m>
                  <m:oMath xmlns:m="http://schemas.openxmlformats.org/officeDocument/2006/math">
                    <m:sSub>
                      <m:sSubPr>
                        <m:ctrlPr>
                          <a:rPr lang="ar-AE" sz="1600"/>
                        </m:ctrlPr>
                      </m:sSubPr>
                      <m:e>
                        <m:r>
                          <a:rPr lang="ar-AE" sz="1600" i="1"/>
                          <m:t>𝑝</m:t>
                        </m:r>
                      </m:e>
                      <m:sub>
                        <m:r>
                          <a:rPr lang="ar-AE" sz="1600" i="1"/>
                          <m:t>𝑚</m:t>
                        </m:r>
                      </m:sub>
                    </m:sSub>
                    <m:r>
                      <a:rPr lang="ar-AE" sz="1600"/>
                      <m:t>=</m:t>
                    </m:r>
                    <m:r>
                      <a:rPr lang="ar-AE" sz="1600"/>
                      <m:t>1</m:t>
                    </m:r>
                    <m:r>
                      <a:rPr lang="ar-AE" sz="1600"/>
                      <m:t>/</m:t>
                    </m:r>
                    <m:r>
                      <a:rPr lang="ar-AE" sz="1600" i="1"/>
                      <m:t>𝑚</m:t>
                    </m:r>
                  </m:oMath>
                </a14:m>
                <a:r>
                  <a:rPr lang="ar-AE" sz="1600" dirty="0"/>
                  <a:t>) </a:t>
                </a:r>
                <a:r>
                  <a:rPr lang="en-US" sz="1600" dirty="0"/>
                  <a:t>to an individual </a:t>
                </a:r>
                <a14:m>
                  <m:oMath xmlns:m="http://schemas.openxmlformats.org/officeDocument/2006/math">
                    <m:r>
                      <a:rPr lang="en-US" sz="1600" i="1"/>
                      <m:t>𝑣</m:t>
                    </m:r>
                  </m:oMath>
                </a14:m>
                <a:r>
                  <a:rPr lang="en-US" sz="1600" dirty="0"/>
                  <a:t>. It consists of randomly selecting a position </a:t>
                </a:r>
                <a14:m>
                  <m:oMath xmlns:m="http://schemas.openxmlformats.org/officeDocument/2006/math">
                    <m:r>
                      <a:rPr lang="en-US" sz="1600" i="1"/>
                      <m:t>𝑝𝑜𝑠</m:t>
                    </m:r>
                    <m:r>
                      <a:rPr lang="en-US" sz="1600"/>
                      <m:t>∈</m:t>
                    </m:r>
                    <m:d>
                      <m:dPr>
                        <m:begChr m:val="{"/>
                        <m:endChr m:val="}"/>
                        <m:sepChr m:val=","/>
                        <m:ctrlPr>
                          <a:rPr lang="ar-AE" sz="1600" i="1"/>
                        </m:ctrlPr>
                      </m:dPr>
                      <m:e>
                        <m:r>
                          <a:rPr lang="ar-AE" sz="1600"/>
                          <m:t>1</m:t>
                        </m:r>
                      </m:e>
                      <m:e>
                        <m:r>
                          <a:rPr lang="ar-AE" sz="1600"/>
                          <m:t>2</m:t>
                        </m:r>
                      </m:e>
                      <m:e>
                        <m:r>
                          <a:rPr lang="ar-AE" sz="1600"/>
                          <m:t>…</m:t>
                        </m:r>
                      </m:e>
                      <m:e>
                        <m:r>
                          <a:rPr lang="ar-AE" sz="1600" i="1"/>
                          <m:t>𝑚</m:t>
                        </m:r>
                      </m:e>
                    </m:d>
                  </m:oMath>
                </a14:m>
                <a:r>
                  <a:rPr lang="en-US" sz="1600" dirty="0"/>
                  <a:t>and modifying its value by performing a bit-flip operation:</a:t>
                </a:r>
                <a:br>
                  <a:rPr lang="en-US" sz="1600" dirty="0"/>
                </a:br>
                <a14:m>
                  <m:oMath xmlns:m="http://schemas.openxmlformats.org/officeDocument/2006/math">
                    <m:r>
                      <a:rPr lang="en-US" sz="1600" i="1"/>
                      <m:t>𝑣</m:t>
                    </m:r>
                    <m:d>
                      <m:dPr>
                        <m:ctrlPr>
                          <a:rPr lang="ar-AE" sz="1600" i="1"/>
                        </m:ctrlPr>
                      </m:dPr>
                      <m:e>
                        <m:r>
                          <a:rPr lang="ar-AE" sz="1600" i="1"/>
                          <m:t>𝑝𝑜𝑠</m:t>
                        </m:r>
                      </m:e>
                    </m:d>
                    <m:r>
                      <a:rPr lang="ar-AE" sz="1600"/>
                      <m:t>=</m:t>
                    </m:r>
                    <m:r>
                      <a:rPr lang="ar-AE" sz="1600" i="1"/>
                      <m:t>𝑛𝑜𝑡</m:t>
                    </m:r>
                    <m:d>
                      <m:dPr>
                        <m:ctrlPr>
                          <a:rPr lang="ar-AE" sz="1600" i="1"/>
                        </m:ctrlPr>
                      </m:dPr>
                      <m:e>
                        <m:r>
                          <a:rPr lang="ar-AE" sz="1600" i="1"/>
                          <m:t>𝑣</m:t>
                        </m:r>
                        <m:d>
                          <m:dPr>
                            <m:ctrlPr>
                              <a:rPr lang="ar-AE" sz="1600" i="1"/>
                            </m:ctrlPr>
                          </m:dPr>
                          <m:e>
                            <m:r>
                              <a:rPr lang="ar-AE" sz="1600" i="1"/>
                              <m:t>𝑝𝑜𝑠</m:t>
                            </m:r>
                          </m:e>
                        </m:d>
                      </m:e>
                    </m:d>
                  </m:oMath>
                </a14:m>
                <a:r>
                  <a:rPr lang="ar-AE" sz="1600" dirty="0"/>
                  <a:t>.</a:t>
                </a:r>
                <a:endParaRPr lang="en-US" sz="1600" dirty="0"/>
              </a:p>
              <a:p>
                <a:pPr marL="0" indent="0">
                  <a:buNone/>
                </a:pPr>
                <a:endParaRPr lang="ar-AE" sz="1600" dirty="0"/>
              </a:p>
              <a:p>
                <a:pPr>
                  <a:buFont typeface="Wingdings" panose="05000000000000000000" pitchFamily="2" charset="2"/>
                  <a:buChar char="q"/>
                </a:pPr>
                <a:r>
                  <a:rPr lang="en-US" sz="1600" dirty="0"/>
                  <a:t>If the result is not feasible, another individual is selected for mutation.</a:t>
                </a:r>
              </a:p>
              <a:p>
                <a:pPr marL="0" indent="0">
                  <a:buNone/>
                </a:pPr>
                <a:endParaRPr lang="en-US" sz="1600" dirty="0"/>
              </a:p>
              <a:p>
                <a:pPr>
                  <a:buFont typeface="Wingdings" panose="05000000000000000000" pitchFamily="2" charset="2"/>
                  <a:buChar char="q"/>
                </a:pPr>
                <a:r>
                  <a:rPr lang="en-US" sz="1600" dirty="0"/>
                  <a:t>The </a:t>
                </a:r>
                <a:r>
                  <a:rPr lang="en-US" sz="1600" b="1" dirty="0"/>
                  <a:t>population replacement mechanism</a:t>
                </a:r>
                <a:r>
                  <a:rPr lang="en-US" sz="1600" dirty="0"/>
                  <a:t> consists of selecting those individuals chosen as parents for which crossover was not performed (i.e., the randomly generated value is lower than </a:t>
                </a:r>
                <a14:m>
                  <m:oMath xmlns:m="http://schemas.openxmlformats.org/officeDocument/2006/math">
                    <m:r>
                      <a:rPr lang="en-US" sz="1600" i="1"/>
                      <m:t>𝑝𝑟</m:t>
                    </m:r>
                  </m:oMath>
                </a14:m>
                <a:r>
                  <a:rPr lang="en-US" sz="1600" dirty="0"/>
                  <a:t>) and the resulting offspring (possibly mutated).</a:t>
                </a:r>
              </a:p>
              <a:p>
                <a:pPr marL="0" indent="0">
                  <a:buNone/>
                </a:pPr>
                <a:endParaRPr lang="en-US" sz="1600" dirty="0"/>
              </a:p>
              <a:p>
                <a:pPr>
                  <a:buFont typeface="Wingdings" panose="05000000000000000000" pitchFamily="2" charset="2"/>
                  <a:buChar char="q"/>
                </a:pPr>
                <a:r>
                  <a:rPr lang="en-US" sz="1600" dirty="0"/>
                  <a:t>Each generation therefore has a constant size, </a:t>
                </a:r>
                <a:r>
                  <a:rPr lang="en-US" sz="1600" b="1" dirty="0"/>
                  <a:t>N</a:t>
                </a:r>
                <a:r>
                  <a:rPr lang="en-US" sz="1600" dirty="0"/>
                  <a:t>.</a:t>
                </a:r>
              </a:p>
              <a:p>
                <a:pPr marL="0" indent="0">
                  <a:buNone/>
                </a:pPr>
                <a:endParaRPr lang="en-US" sz="1600" dirty="0"/>
              </a:p>
              <a:p>
                <a:pPr>
                  <a:buFont typeface="Wingdings" panose="05000000000000000000" pitchFamily="2" charset="2"/>
                  <a:buChar char="q"/>
                </a:pPr>
                <a:r>
                  <a:rPr lang="en-US" sz="1600" dirty="0"/>
                  <a:t>The </a:t>
                </a:r>
                <a:r>
                  <a:rPr lang="en-US" sz="1600" b="1" dirty="0"/>
                  <a:t>termination condition</a:t>
                </a:r>
                <a:r>
                  <a:rPr lang="en-US" sz="1600" dirty="0"/>
                  <a:t> controls the number of iterations performed.</a:t>
                </a:r>
              </a:p>
              <a:p>
                <a:pPr>
                  <a:buFont typeface="Wingdings" panose="05000000000000000000" pitchFamily="2" charset="2"/>
                  <a:buChar char="q"/>
                </a:pPr>
                <a:endParaRPr lang="en-US" altLang="en-US" sz="1800" dirty="0">
                  <a:latin typeface="Arial Body"/>
                  <a:cs typeface="Times New Roman" panose="02020603050405020304" pitchFamily="18" charset="0"/>
                </a:endParaRPr>
              </a:p>
            </p:txBody>
          </p:sp>
        </mc:Choice>
        <mc:Fallback>
          <p:sp>
            <p:nvSpPr>
              <p:cNvPr id="17411" name="Rectangle 3"/>
              <p:cNvSpPr>
                <a:spLocks noGrp="1" noRot="1" noChangeAspect="1" noMove="1" noResize="1" noEditPoints="1" noAdjustHandles="1" noChangeArrowheads="1" noChangeShapeType="1" noTextEdit="1"/>
              </p:cNvSpPr>
              <p:nvPr>
                <p:ph type="body" sz="half" idx="1"/>
              </p:nvPr>
            </p:nvSpPr>
            <p:spPr>
              <a:xfrm>
                <a:off x="457200" y="1219200"/>
                <a:ext cx="8229600" cy="5211763"/>
              </a:xfrm>
              <a:blipFill>
                <a:blip r:embed="rId2"/>
                <a:stretch>
                  <a:fillRect t="-351"/>
                </a:stretch>
              </a:blipFill>
            </p:spPr>
            <p:txBody>
              <a:bodyPr/>
              <a:lstStyle/>
              <a:p>
                <a:r>
                  <a:rPr lang="en-US">
                    <a:noFill/>
                  </a:rPr>
                  <a:t> </a:t>
                </a:r>
              </a:p>
            </p:txBody>
          </p:sp>
        </mc:Fallback>
      </mc:AlternateContent>
      <p:sp>
        <p:nvSpPr>
          <p:cNvPr id="1741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3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extLst>
      <p:ext uri="{BB962C8B-B14F-4D97-AF65-F5344CB8AC3E}">
        <p14:creationId xmlns:p14="http://schemas.microsoft.com/office/powerpoint/2010/main" val="2065703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42900" y="381000"/>
            <a:ext cx="8458200" cy="858838"/>
          </a:xfrm>
        </p:spPr>
        <p:txBody>
          <a:bodyPr/>
          <a:lstStyle/>
          <a:p>
            <a:pPr algn="just" eaLnBrk="1" hangingPunct="1"/>
            <a:r>
              <a:rPr lang="en-US" altLang="en-US" sz="2800" b="1" dirty="0">
                <a:solidFill>
                  <a:schemeClr val="bg2"/>
                </a:solidFill>
              </a:rPr>
              <a:t>Example – The 0-1 Knapsack Problem</a:t>
            </a:r>
            <a:endParaRPr lang="en-US" altLang="en-US" sz="2600" b="1" dirty="0">
              <a:solidFill>
                <a:schemeClr val="bg2"/>
              </a:solidFill>
            </a:endParaRPr>
          </a:p>
        </p:txBody>
      </p:sp>
      <p:sp>
        <p:nvSpPr>
          <p:cNvPr id="17411" name="Rectangle 3"/>
          <p:cNvSpPr>
            <a:spLocks noGrp="1" noChangeArrowheads="1"/>
          </p:cNvSpPr>
          <p:nvPr>
            <p:ph type="body" sz="half" idx="1"/>
          </p:nvPr>
        </p:nvSpPr>
        <p:spPr>
          <a:xfrm>
            <a:off x="457200" y="1219200"/>
            <a:ext cx="8229600" cy="5211763"/>
          </a:xfrm>
        </p:spPr>
        <p:txBody>
          <a:bodyPr/>
          <a:lstStyle/>
          <a:p>
            <a:pPr>
              <a:buFont typeface="Wingdings" panose="05000000000000000000" pitchFamily="2" charset="2"/>
              <a:buChar char="q"/>
            </a:pPr>
            <a:r>
              <a:rPr lang="en-US" sz="1800" dirty="0">
                <a:latin typeface="Arial Body"/>
              </a:rPr>
              <a:t>Input</a:t>
            </a:r>
            <a:r>
              <a:rPr lang="ro-RO" sz="1800" dirty="0">
                <a:latin typeface="Arial Body"/>
              </a:rPr>
              <a:t>:</a:t>
            </a:r>
            <a:endParaRPr lang="en-US" sz="1800" dirty="0">
              <a:latin typeface="Arial Body"/>
            </a:endParaRPr>
          </a:p>
          <a:p>
            <a:pPr lvl="1">
              <a:buFont typeface="Wingdings" panose="05000000000000000000" pitchFamily="2" charset="2"/>
              <a:buChar char="q"/>
            </a:pPr>
            <a:r>
              <a:rPr lang="ro-RO" sz="1800" dirty="0">
                <a:latin typeface="Arial Body"/>
              </a:rPr>
              <a:t>Val</a:t>
            </a:r>
            <a:r>
              <a:rPr lang="en-US" sz="1800" dirty="0" err="1">
                <a:latin typeface="Arial Body"/>
              </a:rPr>
              <a:t>ue</a:t>
            </a:r>
            <a:r>
              <a:rPr lang="ro-RO" sz="1800" dirty="0">
                <a:latin typeface="Arial Body"/>
              </a:rPr>
              <a:t> - 4.5 6 8 5.4 10.2 3.2 4.2 8.3 3.2 4.5 9 10.9 5 6.2 7 8.2</a:t>
            </a:r>
            <a:endParaRPr lang="en-US" sz="1800" dirty="0">
              <a:latin typeface="Arial Body"/>
            </a:endParaRPr>
          </a:p>
          <a:p>
            <a:pPr lvl="1">
              <a:buFont typeface="Wingdings" panose="05000000000000000000" pitchFamily="2" charset="2"/>
              <a:buChar char="q"/>
            </a:pPr>
            <a:r>
              <a:rPr lang="ro-RO" sz="1800" dirty="0">
                <a:latin typeface="Arial Body"/>
              </a:rPr>
              <a:t>Cost - 3 2 2.4 6.8 5 6.2 5 4.8 5 0.2 3 4.8 7 7.1 9.7 4</a:t>
            </a:r>
            <a:endParaRPr lang="en-US" sz="1800" dirty="0">
              <a:latin typeface="Arial Body"/>
            </a:endParaRPr>
          </a:p>
          <a:p>
            <a:pPr lvl="1">
              <a:buFont typeface="Wingdings" panose="05000000000000000000" pitchFamily="2" charset="2"/>
              <a:buChar char="q"/>
            </a:pPr>
            <a:r>
              <a:rPr lang="ro-RO" sz="1800" dirty="0">
                <a:latin typeface="Arial Body"/>
              </a:rPr>
              <a:t>Cmax= </a:t>
            </a:r>
            <a:r>
              <a:rPr lang="ro-RO" sz="1400" dirty="0">
                <a:latin typeface="Arial Body"/>
              </a:rPr>
              <a:t>26.3 </a:t>
            </a:r>
          </a:p>
          <a:p>
            <a:pPr>
              <a:buFont typeface="Wingdings" panose="05000000000000000000" pitchFamily="2" charset="2"/>
              <a:buChar char="q"/>
            </a:pPr>
            <a:r>
              <a:rPr lang="en-US" sz="1800" dirty="0"/>
              <a:t>The following results can be obtained (in this example = optimal):</a:t>
            </a:r>
          </a:p>
          <a:p>
            <a:pPr lvl="1">
              <a:buFont typeface="Wingdings" panose="05000000000000000000" pitchFamily="2" charset="2"/>
              <a:buChar char="q"/>
            </a:pPr>
            <a:r>
              <a:rPr lang="en-US" sz="1800" dirty="0"/>
              <a:t>Maximum calculated profit</a:t>
            </a:r>
            <a:r>
              <a:rPr lang="ro-RO" sz="1800" dirty="0">
                <a:latin typeface="Arial Body"/>
              </a:rPr>
              <a:t>:  65.10000000000001</a:t>
            </a:r>
            <a:endParaRPr lang="en-US" sz="1800" dirty="0">
              <a:latin typeface="Arial Body"/>
            </a:endParaRPr>
          </a:p>
          <a:p>
            <a:pPr lvl="1">
              <a:buFont typeface="Wingdings" panose="05000000000000000000" pitchFamily="2" charset="2"/>
              <a:buChar char="q"/>
            </a:pPr>
            <a:r>
              <a:rPr lang="en-US" sz="1800" dirty="0"/>
              <a:t>For the selection of objects: </a:t>
            </a:r>
            <a:r>
              <a:rPr lang="ro-RO" sz="1800" dirty="0">
                <a:latin typeface="Arial Body"/>
              </a:rPr>
              <a:t>[0 1 1 0 1 0 0 1 0 1 1 1 0 0 0 1]</a:t>
            </a:r>
            <a:endParaRPr lang="en-US" sz="1800" dirty="0">
              <a:latin typeface="Arial Body"/>
            </a:endParaRPr>
          </a:p>
          <a:p>
            <a:pPr marL="0" indent="0">
              <a:buNone/>
            </a:pPr>
            <a:r>
              <a:rPr lang="ro-RO" sz="1800" dirty="0">
                <a:latin typeface="Arial Body"/>
              </a:rPr>
              <a:t>	</a:t>
            </a:r>
            <a:endParaRPr lang="en-US" altLang="en-US" sz="1800" dirty="0">
              <a:latin typeface="Arial Body"/>
              <a:cs typeface="Times New Roman" panose="02020603050405020304" pitchFamily="18" charset="0"/>
            </a:endParaRPr>
          </a:p>
        </p:txBody>
      </p:sp>
      <p:sp>
        <p:nvSpPr>
          <p:cNvPr id="1741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3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pic>
        <p:nvPicPr>
          <p:cNvPr id="23" name="Picture 22"/>
          <p:cNvPicPr/>
          <p:nvPr/>
        </p:nvPicPr>
        <p:blipFill rotWithShape="1">
          <a:blip r:embed="rId2">
            <a:extLst>
              <a:ext uri="{28A0092B-C50C-407E-A947-70E740481C1C}">
                <a14:useLocalDpi xmlns:a14="http://schemas.microsoft.com/office/drawing/2010/main" val="0"/>
              </a:ext>
            </a:extLst>
          </a:blip>
          <a:srcRect l="4616" t="11281" r="9048" b="2262"/>
          <a:stretch/>
        </p:blipFill>
        <p:spPr bwMode="auto">
          <a:xfrm>
            <a:off x="2438400" y="3672681"/>
            <a:ext cx="4343400" cy="318531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14077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42900" y="381000"/>
            <a:ext cx="8458200" cy="858838"/>
          </a:xfrm>
        </p:spPr>
        <p:txBody>
          <a:bodyPr/>
          <a:lstStyle/>
          <a:p>
            <a:pPr algn="just" eaLnBrk="1" hangingPunct="1"/>
            <a:r>
              <a:rPr lang="ro-RO" altLang="en-US" sz="2600" b="1" dirty="0">
                <a:solidFill>
                  <a:schemeClr val="bg2"/>
                </a:solidFill>
              </a:rPr>
              <a:t>X.</a:t>
            </a:r>
            <a:r>
              <a:rPr lang="en-US" altLang="en-US" sz="2600" b="1" dirty="0">
                <a:solidFill>
                  <a:schemeClr val="bg2"/>
                </a:solidFill>
              </a:rPr>
              <a:t> </a:t>
            </a:r>
            <a:r>
              <a:rPr lang="en-US" sz="2800" b="1" dirty="0">
                <a:solidFill>
                  <a:schemeClr val="bg2"/>
                </a:solidFill>
              </a:rPr>
              <a:t>Evolution: Direct Search – Stochastic Search</a:t>
            </a:r>
            <a:endParaRPr lang="en-US" altLang="en-US" sz="2600" b="1" dirty="0">
              <a:solidFill>
                <a:schemeClr val="bg2"/>
              </a:solidFill>
            </a:endParaRPr>
          </a:p>
        </p:txBody>
      </p:sp>
      <p:sp>
        <p:nvSpPr>
          <p:cNvPr id="17411" name="Rectangle 3"/>
          <p:cNvSpPr>
            <a:spLocks noGrp="1" noChangeArrowheads="1"/>
          </p:cNvSpPr>
          <p:nvPr>
            <p:ph type="body" sz="half" idx="1"/>
          </p:nvPr>
        </p:nvSpPr>
        <p:spPr>
          <a:xfrm>
            <a:off x="457200" y="1219200"/>
            <a:ext cx="8229600" cy="5211763"/>
          </a:xfrm>
        </p:spPr>
        <p:txBody>
          <a:bodyPr/>
          <a:lstStyle/>
          <a:p>
            <a:pPr>
              <a:buFont typeface="Wingdings" pitchFamily="2" charset="2"/>
              <a:buChar char="q"/>
            </a:pPr>
            <a:r>
              <a:rPr lang="en-US" sz="1800" dirty="0"/>
              <a:t>Evolution: Direct search – stochastic search includes methods such as </a:t>
            </a:r>
            <a:r>
              <a:rPr lang="en-US" sz="1800" b="1" dirty="0"/>
              <a:t>“hill climbing”</a:t>
            </a:r>
            <a:r>
              <a:rPr lang="en-US" sz="1800" dirty="0"/>
              <a:t> and </a:t>
            </a:r>
            <a:r>
              <a:rPr lang="en-US" sz="1800" b="1" dirty="0"/>
              <a:t>“simulated annealing.”</a:t>
            </a:r>
          </a:p>
          <a:p>
            <a:pPr marL="0" indent="0">
              <a:buNone/>
            </a:pPr>
            <a:endParaRPr lang="en-US" altLang="en-US" sz="1800" dirty="0"/>
          </a:p>
          <a:p>
            <a:pPr>
              <a:buFont typeface="Wingdings" pitchFamily="2" charset="2"/>
              <a:buChar char="q"/>
            </a:pPr>
            <a:r>
              <a:rPr lang="en-US" altLang="en-US" sz="1800" b="1" dirty="0"/>
              <a:t>Hill Climbing Methods</a:t>
            </a:r>
            <a:r>
              <a:rPr lang="ro-RO" altLang="en-US" sz="1800" b="1" dirty="0"/>
              <a:t> </a:t>
            </a:r>
            <a:endParaRPr lang="en-US" altLang="en-US" sz="1800" b="1" dirty="0"/>
          </a:p>
          <a:p>
            <a:pPr lvl="1">
              <a:buFont typeface="Wingdings" pitchFamily="2" charset="2"/>
              <a:buChar char="q"/>
            </a:pPr>
            <a:r>
              <a:rPr lang="en-US" sz="1600" dirty="0"/>
              <a:t>An improved iterative technique applied to a single point in the search space.</a:t>
            </a:r>
          </a:p>
          <a:p>
            <a:pPr lvl="1">
              <a:buFont typeface="Wingdings" pitchFamily="2" charset="2"/>
              <a:buChar char="q"/>
            </a:pPr>
            <a:r>
              <a:rPr lang="en-US" sz="1600" dirty="0"/>
              <a:t>At each iteration, a new point located in the neighborhood of the current processed point is selected.</a:t>
            </a:r>
          </a:p>
          <a:p>
            <a:pPr lvl="1">
              <a:buFont typeface="Wingdings" pitchFamily="2" charset="2"/>
              <a:buChar char="q"/>
            </a:pPr>
            <a:r>
              <a:rPr lang="en-US" sz="1600" dirty="0"/>
              <a:t>If this point produces a better value (according to the considered optimization criterion) of the objective function, it becomes the current point.</a:t>
            </a:r>
          </a:p>
          <a:p>
            <a:pPr lvl="1">
              <a:buFont typeface="Wingdings" pitchFamily="2" charset="2"/>
              <a:buChar char="q"/>
            </a:pPr>
            <a:r>
              <a:rPr lang="en-US" sz="1600" dirty="0"/>
              <a:t>Otherwise, another neighbor of the current point is selected, and the process continues similarly.</a:t>
            </a:r>
          </a:p>
          <a:p>
            <a:pPr lvl="1">
              <a:buFont typeface="Wingdings" pitchFamily="2" charset="2"/>
              <a:buChar char="q"/>
            </a:pPr>
            <a:r>
              <a:rPr lang="en-US" sz="1600" dirty="0"/>
              <a:t>The algorithm stops when none of the neighboring points improves the value of the objective function.</a:t>
            </a:r>
          </a:p>
          <a:p>
            <a:pPr lvl="1">
              <a:buFont typeface="Wingdings" pitchFamily="2" charset="2"/>
              <a:buChar char="q"/>
            </a:pPr>
            <a:r>
              <a:rPr lang="en-US" sz="1600" dirty="0"/>
              <a:t>These methods usually converge to a </a:t>
            </a:r>
            <a:r>
              <a:rPr lang="en-US" sz="1600" b="1" dirty="0"/>
              <a:t>local optimum</a:t>
            </a:r>
            <a:r>
              <a:rPr lang="en-US" sz="1600" dirty="0"/>
              <a:t>, depending on the starting point. To increase the performance of such models, they are executed from a large number of starting points.</a:t>
            </a:r>
          </a:p>
          <a:p>
            <a:pPr>
              <a:buFont typeface="Wingdings" pitchFamily="2" charset="2"/>
              <a:buChar char="q"/>
            </a:pPr>
            <a:endParaRPr lang="ro-RO" altLang="en-US" sz="1800" b="1" dirty="0"/>
          </a:p>
        </p:txBody>
      </p:sp>
      <p:sp>
        <p:nvSpPr>
          <p:cNvPr id="1741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3" name="Rectangle 1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4"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5" name="Rectangle 15"/>
          <p:cNvSpPr>
            <a:spLocks noChangeArrowheads="1"/>
          </p:cNvSpPr>
          <p:nvPr/>
        </p:nvSpPr>
        <p:spPr bwMode="auto">
          <a:xfrm>
            <a:off x="0" y="3333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8"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1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1" name="Rectangle 3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2"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3" name="Rectangle 3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4"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5" name="Rectangle 4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6" name="Rectangle 4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7" name="Rectangle 4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8" name="Rectangle 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29" name="Rectangle 52"/>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
        <p:nvSpPr>
          <p:cNvPr id="17430" name="Rectangle 54"/>
          <p:cNvSpPr>
            <a:spLocks noChangeArrowheads="1"/>
          </p:cNvSpPr>
          <p:nvPr/>
        </p:nvSpPr>
        <p:spPr bwMode="auto">
          <a:xfrm>
            <a:off x="0" y="148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itchFamily="2" charset="2"/>
              <a:buChar char="n"/>
              <a:defRPr sz="3200">
                <a:solidFill>
                  <a:schemeClr val="tx1"/>
                </a:solidFill>
                <a:latin typeface="Arial"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charset="0"/>
              </a:defRPr>
            </a:lvl4pPr>
            <a:lvl5pPr marL="2057400" indent="-228600">
              <a:spcBef>
                <a:spcPct val="20000"/>
              </a:spcBef>
              <a:buClr>
                <a:schemeClr val="bg2"/>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charset="0"/>
              </a:defRPr>
            </a:lvl9pPr>
          </a:lstStyle>
          <a:p>
            <a:pPr>
              <a:spcBef>
                <a:spcPct val="0"/>
              </a:spcBef>
              <a:buClrTx/>
              <a:buSzTx/>
              <a:buFontTx/>
              <a:buNone/>
            </a:pPr>
            <a:endParaRPr lang="en-US" altLang="en-US" sz="1800">
              <a:latin typeface="Garamond" pitchFamily="18" charset="0"/>
            </a:endParaRPr>
          </a:p>
        </p:txBody>
      </p:sp>
    </p:spTree>
    <p:extLst>
      <p:ext uri="{BB962C8B-B14F-4D97-AF65-F5344CB8AC3E}">
        <p14:creationId xmlns:p14="http://schemas.microsoft.com/office/powerpoint/2010/main" val="1889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Effect transition="in" filter="fade">
                                      <p:cBhvr>
                                        <p:cTn id="7" dur="500"/>
                                        <p:tgtEl>
                                          <p:spTgt spid="174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11">
                                            <p:txEl>
                                              <p:pRg st="3" end="3"/>
                                            </p:txEl>
                                          </p:spTgt>
                                        </p:tgtEl>
                                        <p:attrNameLst>
                                          <p:attrName>style.visibility</p:attrName>
                                        </p:attrNameLst>
                                      </p:cBhvr>
                                      <p:to>
                                        <p:strVal val="visible"/>
                                      </p:to>
                                    </p:set>
                                    <p:animEffect transition="in" filter="fade">
                                      <p:cBhvr>
                                        <p:cTn id="12" dur="500"/>
                                        <p:tgtEl>
                                          <p:spTgt spid="174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animEffect transition="in" filter="fade">
                                      <p:cBhvr>
                                        <p:cTn id="17" dur="500"/>
                                        <p:tgtEl>
                                          <p:spTgt spid="174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11">
                                            <p:txEl>
                                              <p:pRg st="5" end="5"/>
                                            </p:txEl>
                                          </p:spTgt>
                                        </p:tgtEl>
                                        <p:attrNameLst>
                                          <p:attrName>style.visibility</p:attrName>
                                        </p:attrNameLst>
                                      </p:cBhvr>
                                      <p:to>
                                        <p:strVal val="visible"/>
                                      </p:to>
                                    </p:set>
                                    <p:animEffect transition="in" filter="fade">
                                      <p:cBhvr>
                                        <p:cTn id="22" dur="500"/>
                                        <p:tgtEl>
                                          <p:spTgt spid="1741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411">
                                            <p:txEl>
                                              <p:pRg st="6" end="6"/>
                                            </p:txEl>
                                          </p:spTgt>
                                        </p:tgtEl>
                                        <p:attrNameLst>
                                          <p:attrName>style.visibility</p:attrName>
                                        </p:attrNameLst>
                                      </p:cBhvr>
                                      <p:to>
                                        <p:strVal val="visible"/>
                                      </p:to>
                                    </p:set>
                                    <p:animEffect transition="in" filter="fade">
                                      <p:cBhvr>
                                        <p:cTn id="27" dur="500"/>
                                        <p:tgtEl>
                                          <p:spTgt spid="1741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411">
                                            <p:txEl>
                                              <p:pRg st="7" end="7"/>
                                            </p:txEl>
                                          </p:spTgt>
                                        </p:tgtEl>
                                        <p:attrNameLst>
                                          <p:attrName>style.visibility</p:attrName>
                                        </p:attrNameLst>
                                      </p:cBhvr>
                                      <p:to>
                                        <p:strVal val="visible"/>
                                      </p:to>
                                    </p:set>
                                    <p:animEffect transition="in" filter="fade">
                                      <p:cBhvr>
                                        <p:cTn id="32" dur="500"/>
                                        <p:tgtEl>
                                          <p:spTgt spid="17411">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411">
                                            <p:txEl>
                                              <p:pRg st="8" end="8"/>
                                            </p:txEl>
                                          </p:spTgt>
                                        </p:tgtEl>
                                        <p:attrNameLst>
                                          <p:attrName>style.visibility</p:attrName>
                                        </p:attrNameLst>
                                      </p:cBhvr>
                                      <p:to>
                                        <p:strVal val="visible"/>
                                      </p:to>
                                    </p:set>
                                    <p:animEffect transition="in" filter="fade">
                                      <p:cBhvr>
                                        <p:cTn id="37" dur="500"/>
                                        <p:tgtEl>
                                          <p:spTgt spid="174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6"/>
          <p:cNvSpPr>
            <a:spLocks noGrp="1"/>
          </p:cNvSpPr>
          <p:nvPr>
            <p:ph idx="1"/>
          </p:nvPr>
        </p:nvSpPr>
        <p:spPr/>
        <p:txBody>
          <a:bodyPr/>
          <a:lstStyle/>
          <a:p>
            <a:r>
              <a:rPr lang="en-US" b="1" dirty="0"/>
              <a:t>Neighbor selection</a:t>
            </a:r>
            <a:r>
              <a:rPr lang="en-US" dirty="0"/>
              <a:t> depends on the representation.</a:t>
            </a:r>
            <a:br>
              <a:rPr lang="en-US" dirty="0"/>
            </a:br>
            <a:r>
              <a:rPr lang="en-US" dirty="0"/>
              <a:t>	It can influence the quality of the results.</a:t>
            </a:r>
          </a:p>
          <a:p>
            <a:pPr marL="0" indent="0">
              <a:buNone/>
            </a:pPr>
            <a:endParaRPr lang="ro-RO" sz="1800" dirty="0">
              <a:sym typeface="Wingdings" panose="05000000000000000000" pitchFamily="2" charset="2"/>
            </a:endParaRPr>
          </a:p>
          <a:p>
            <a:pPr>
              <a:buFont typeface="Wingdings" panose="05000000000000000000" pitchFamily="2" charset="2"/>
              <a:buChar char="q"/>
            </a:pPr>
            <a:r>
              <a:rPr lang="ro-RO" dirty="0">
                <a:sym typeface="Wingdings" panose="05000000000000000000" pitchFamily="2" charset="2"/>
              </a:rPr>
              <a:t>Ex</a:t>
            </a:r>
            <a:r>
              <a:rPr lang="en-US" dirty="0" err="1">
                <a:sym typeface="Wingdings" panose="05000000000000000000" pitchFamily="2" charset="2"/>
              </a:rPr>
              <a:t>amples</a:t>
            </a:r>
            <a:endParaRPr lang="ro-RO" dirty="0">
              <a:sym typeface="Wingdings" panose="05000000000000000000" pitchFamily="2" charset="2"/>
            </a:endParaRPr>
          </a:p>
          <a:p>
            <a:pPr lvl="1"/>
            <a:r>
              <a:rPr lang="en-US" sz="1700" dirty="0">
                <a:sym typeface="Wingdings" panose="05000000000000000000" pitchFamily="2" charset="2"/>
              </a:rPr>
              <a:t>Modifying one bit at a time in the representation (e.g., 0–1 Knapsack problem)</a:t>
            </a:r>
          </a:p>
          <a:p>
            <a:pPr lvl="1"/>
            <a:r>
              <a:rPr lang="en-US" sz="1700" dirty="0">
                <a:sym typeface="Wingdings" panose="05000000000000000000" pitchFamily="2" charset="2"/>
              </a:rPr>
              <a:t>Adding/subtracting a “step” (e.g., function optimization)</a:t>
            </a:r>
          </a:p>
          <a:p>
            <a:pPr lvl="1"/>
            <a:r>
              <a:rPr lang="en-US" sz="1700" dirty="0">
                <a:sym typeface="Wingdings" panose="05000000000000000000" pitchFamily="2" charset="2"/>
              </a:rPr>
              <a:t>Transpositions (e.g., N-Queens problem)</a:t>
            </a:r>
            <a:endParaRPr lang="ro-RO" sz="1700" dirty="0">
              <a:sym typeface="Wingdings" panose="05000000000000000000" pitchFamily="2" charset="2"/>
            </a:endParaRPr>
          </a:p>
        </p:txBody>
      </p:sp>
      <p:sp>
        <p:nvSpPr>
          <p:cNvPr id="2" name="Text Placeholder 1">
            <a:extLst>
              <a:ext uri="{FF2B5EF4-FFF2-40B4-BE49-F238E27FC236}">
                <a16:creationId xmlns:a16="http://schemas.microsoft.com/office/drawing/2014/main" id="{F546A4DB-E0A6-2D10-54DD-DBE1DCF6070A}"/>
              </a:ext>
            </a:extLst>
          </p:cNvPr>
          <p:cNvSpPr>
            <a:spLocks noGrp="1"/>
          </p:cNvSpPr>
          <p:nvPr>
            <p:ph type="body" sz="quarter" idx="13"/>
          </p:nvPr>
        </p:nvSpPr>
        <p:spPr>
          <a:xfrm>
            <a:off x="315499" y="88316"/>
            <a:ext cx="8055769" cy="1416050"/>
          </a:xfrm>
        </p:spPr>
        <p:txBody>
          <a:bodyPr/>
          <a:lstStyle/>
          <a:p>
            <a:r>
              <a:rPr lang="ro-RO" sz="2800" dirty="0">
                <a:solidFill>
                  <a:schemeClr val="bg2"/>
                </a:solidFill>
              </a:rPr>
              <a:t>XI. </a:t>
            </a:r>
            <a:r>
              <a:rPr lang="en-US" sz="2800" dirty="0">
                <a:solidFill>
                  <a:schemeClr val="bg2"/>
                </a:solidFill>
              </a:rPr>
              <a:t>Hill Climbing – Neighbor Selection</a:t>
            </a:r>
            <a:endParaRPr lang="ro-RO" sz="2800" dirty="0">
              <a:solidFill>
                <a:schemeClr val="bg2"/>
              </a:solidFill>
            </a:endParaRPr>
          </a:p>
        </p:txBody>
      </p:sp>
      <mc:AlternateContent xmlns:mc="http://schemas.openxmlformats.org/markup-compatibility/2006" xmlns:a14="http://schemas.microsoft.com/office/drawing/2010/main">
        <mc:Choice Requires="a14">
          <p:sp>
            <p:nvSpPr>
              <p:cNvPr id="7" name="Rectangle 6"/>
              <p:cNvSpPr/>
              <p:nvPr/>
            </p:nvSpPr>
            <p:spPr>
              <a:xfrm>
                <a:off x="1197769" y="4011327"/>
                <a:ext cx="6858000" cy="1960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rPr>
                  <a:t>Reprezentare binară: </a:t>
                </a:r>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ea typeface="Cambria Math"/>
                      </a:rPr>
                      <m:t>∈</m:t>
                    </m:r>
                    <m:d>
                      <m:dPr>
                        <m:begChr m:val="["/>
                        <m:endChr m:val="]"/>
                        <m:ctrlPr>
                          <a:rPr lang="ro-RO" altLang="en-US" sz="1500" i="1">
                            <a:solidFill>
                              <a:schemeClr val="tx1"/>
                            </a:solidFill>
                            <a:latin typeface="Cambria Math" panose="02040503050406030204" pitchFamily="18" charset="0"/>
                            <a:ea typeface="Cambria Math"/>
                          </a:rPr>
                        </m:ctrlPr>
                      </m:dPr>
                      <m:e>
                        <m:r>
                          <a:rPr lang="ro-RO" altLang="en-US" sz="1500" i="1">
                            <a:solidFill>
                              <a:schemeClr val="tx1"/>
                            </a:solidFill>
                            <a:latin typeface="Cambria Math"/>
                            <a:ea typeface="Cambria Math"/>
                          </a:rPr>
                          <m:t>𝑎</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𝑏</m:t>
                        </m:r>
                      </m:e>
                    </m:d>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ℝ</m:t>
                    </m:r>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ea typeface="Cambria Math"/>
                      </a:rPr>
                      <m:t>→</m:t>
                    </m:r>
                    <m:sSub>
                      <m:sSubPr>
                        <m:ctrlPr>
                          <a:rPr lang="ro-RO" altLang="en-US" sz="1500" i="1">
                            <a:solidFill>
                              <a:schemeClr val="tx1"/>
                            </a:solidFill>
                            <a:latin typeface="Cambria Math" panose="02040503050406030204" pitchFamily="18" charset="0"/>
                            <a:ea typeface="Cambria Math"/>
                          </a:rPr>
                        </m:ctrlPr>
                      </m:sSubPr>
                      <m:e>
                        <m:r>
                          <a:rPr lang="ro-RO" altLang="en-US" sz="1500" i="1">
                            <a:solidFill>
                              <a:schemeClr val="tx1"/>
                            </a:solidFill>
                            <a:latin typeface="Cambria Math"/>
                            <a:ea typeface="Cambria Math"/>
                          </a:rPr>
                          <m:t> </m:t>
                        </m:r>
                        <m:r>
                          <a:rPr lang="ro-RO" altLang="en-US" sz="1500" i="1">
                            <a:solidFill>
                              <a:schemeClr val="tx1"/>
                            </a:solidFill>
                            <a:latin typeface="Cambria Math"/>
                            <a:ea typeface="Cambria Math"/>
                          </a:rPr>
                          <m:t>𝑥</m:t>
                        </m:r>
                      </m:e>
                      <m:sub>
                        <m:r>
                          <a:rPr lang="ro-RO" altLang="en-US" sz="1500" i="1">
                            <a:solidFill>
                              <a:schemeClr val="tx1"/>
                            </a:solidFill>
                            <a:latin typeface="Cambria Math"/>
                            <a:ea typeface="Cambria Math"/>
                          </a:rPr>
                          <m:t>𝑐</m:t>
                        </m:r>
                      </m:sub>
                    </m:sSub>
                  </m:oMath>
                </a14:m>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500" i="1">
                        <a:solidFill>
                          <a:schemeClr val="tx1"/>
                        </a:solidFill>
                        <a:latin typeface="Cambria Math"/>
                        <a:ea typeface="Cambria Math"/>
                      </a:rPr>
                      <m:t>=</m:t>
                    </m:r>
                    <m:d>
                      <m:dPr>
                        <m:begChr m:val="["/>
                        <m:endChr m:val="]"/>
                        <m:ctrlPr>
                          <a:rPr lang="en-US" sz="1500" i="1">
                            <a:solidFill>
                              <a:schemeClr val="tx1"/>
                            </a:solidFill>
                            <a:latin typeface="Cambria Math" panose="02040503050406030204" pitchFamily="18" charset="0"/>
                            <a:ea typeface="Cambria Math"/>
                          </a:rPr>
                        </m:ctrlPr>
                      </m:dPr>
                      <m:e>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1</m:t>
                        </m:r>
                        <m:r>
                          <a:rPr lang="en-US" sz="1500" i="1">
                            <a:solidFill>
                              <a:schemeClr val="tx1"/>
                            </a:solidFill>
                            <a:latin typeface="Cambria Math"/>
                            <a:ea typeface="Cambria Math"/>
                          </a:rPr>
                          <m:t>     </m:t>
                        </m:r>
                        <m:r>
                          <a:rPr lang="en-US" sz="1500" i="1">
                            <a:solidFill>
                              <a:schemeClr val="tx1"/>
                            </a:solidFill>
                            <a:latin typeface="Cambria Math"/>
                            <a:ea typeface="Cambria Math"/>
                          </a:rPr>
                          <m:t>1</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1</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1</m:t>
                        </m:r>
                        <m:r>
                          <a:rPr lang="en-US" sz="1500" b="1" i="1">
                            <a:solidFill>
                              <a:schemeClr val="tx1"/>
                            </a:solidFill>
                            <a:latin typeface="Cambria Math"/>
                            <a:ea typeface="Cambria Math"/>
                          </a:rPr>
                          <m:t>  </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1</m:t>
                        </m:r>
                        <m:r>
                          <a:rPr lang="en-US" sz="1500" i="1">
                            <a:solidFill>
                              <a:schemeClr val="tx1"/>
                            </a:solidFill>
                            <a:latin typeface="Cambria Math"/>
                            <a:ea typeface="Cambria Math"/>
                          </a:rPr>
                          <m:t>     </m:t>
                        </m:r>
                        <m:r>
                          <a:rPr lang="en-US" sz="1500" i="1">
                            <a:solidFill>
                              <a:schemeClr val="tx1"/>
                            </a:solidFill>
                            <a:latin typeface="Cambria Math"/>
                            <a:ea typeface="Cambria Math"/>
                          </a:rPr>
                          <m:t>0</m:t>
                        </m:r>
                        <m:r>
                          <a:rPr lang="en-US" sz="1500" i="1">
                            <a:solidFill>
                              <a:schemeClr val="tx1"/>
                            </a:solidFill>
                            <a:latin typeface="Cambria Math"/>
                            <a:ea typeface="Cambria Math"/>
                          </a:rPr>
                          <m:t>     </m:t>
                        </m:r>
                        <m:r>
                          <a:rPr lang="en-US" sz="1500" i="1">
                            <a:solidFill>
                              <a:schemeClr val="tx1"/>
                            </a:solidFill>
                            <a:latin typeface="Cambria Math"/>
                            <a:ea typeface="Cambria Math"/>
                          </a:rPr>
                          <m:t>1</m:t>
                        </m:r>
                      </m:e>
                    </m:d>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𝑛</m:t>
                        </m:r>
                      </m:e>
                      <m:sub>
                        <m:r>
                          <a:rPr lang="ro-RO" altLang="en-US" sz="1500" i="1">
                            <a:solidFill>
                              <a:schemeClr val="tx1"/>
                            </a:solidFill>
                            <a:latin typeface="Cambria Math"/>
                          </a:rPr>
                          <m:t>𝑐</m:t>
                        </m:r>
                      </m:sub>
                    </m:sSub>
                    <m:r>
                      <a:rPr lang="ro-RO" altLang="en-US" sz="1500" i="1">
                        <a:solidFill>
                          <a:schemeClr val="tx1"/>
                        </a:solidFill>
                        <a:latin typeface="Cambria Math"/>
                        <a:ea typeface="Cambria Math"/>
                      </a:rPr>
                      <m:t>→</m:t>
                    </m:r>
                    <m:sSub>
                      <m:sSubPr>
                        <m:ctrlPr>
                          <a:rPr lang="ro-RO" altLang="en-US" sz="1500" i="1">
                            <a:solidFill>
                              <a:schemeClr val="tx1"/>
                            </a:solidFill>
                            <a:latin typeface="Cambria Math" panose="02040503050406030204" pitchFamily="18" charset="0"/>
                            <a:ea typeface="Cambria Math"/>
                          </a:rPr>
                        </m:ctrlPr>
                      </m:sSubPr>
                      <m:e>
                        <m:r>
                          <a:rPr lang="ro-RO" altLang="en-US" sz="1500" i="1">
                            <a:solidFill>
                              <a:schemeClr val="tx1"/>
                            </a:solidFill>
                            <a:latin typeface="Cambria Math"/>
                            <a:ea typeface="Cambria Math"/>
                          </a:rPr>
                          <m:t> </m:t>
                        </m:r>
                        <m:r>
                          <a:rPr lang="ro-RO" altLang="en-US" sz="1500" i="1">
                            <a:solidFill>
                              <a:schemeClr val="tx1"/>
                            </a:solidFill>
                            <a:latin typeface="Cambria Math"/>
                            <a:ea typeface="Cambria Math"/>
                          </a:rPr>
                          <m:t>𝑥</m:t>
                        </m:r>
                      </m:e>
                      <m:sub>
                        <m:r>
                          <a:rPr lang="ro-RO" altLang="en-US" sz="1500" i="1">
                            <a:solidFill>
                              <a:schemeClr val="tx1"/>
                            </a:solidFill>
                            <a:latin typeface="Cambria Math"/>
                            <a:ea typeface="Cambria Math"/>
                          </a:rPr>
                          <m:t>𝑛𝑐</m:t>
                        </m:r>
                      </m:sub>
                    </m:sSub>
                  </m:oMath>
                </a14:m>
                <a:r>
                  <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500">
                        <a:solidFill>
                          <a:schemeClr val="tx1"/>
                        </a:solidFill>
                        <a:latin typeface="Cambria Math"/>
                        <a:ea typeface="Cambria Math"/>
                      </a:rPr>
                      <m:t>=</m:t>
                    </m:r>
                    <m:d>
                      <m:dPr>
                        <m:begChr m:val="["/>
                        <m:endChr m:val="]"/>
                        <m:ctrlPr>
                          <a:rPr lang="en-US" sz="1500" i="1">
                            <a:solidFill>
                              <a:schemeClr val="tx1"/>
                            </a:solidFill>
                            <a:latin typeface="Cambria Math" panose="02040503050406030204" pitchFamily="18" charset="0"/>
                            <a:ea typeface="Cambria Math"/>
                          </a:rPr>
                        </m:ctrlPr>
                      </m:dPr>
                      <m:e>
                        <m:r>
                          <a:rPr lang="en-US" sz="1500">
                            <a:solidFill>
                              <a:srgbClr val="FF0000"/>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ro-RO" sz="1500" i="1">
                            <a:solidFill>
                              <a:schemeClr val="tx1"/>
                            </a:solidFill>
                            <a:latin typeface="Cambria Math"/>
                            <a:ea typeface="Cambria Math"/>
                          </a:rPr>
                          <m:t>0</m:t>
                        </m:r>
                        <m:r>
                          <a:rPr lang="en-US" sz="1500" b="1">
                            <a:solidFill>
                              <a:schemeClr val="tx1"/>
                            </a:solidFill>
                            <a:latin typeface="Cambria Math"/>
                            <a:ea typeface="Cambria Math"/>
                          </a:rPr>
                          <m:t>  </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e>
                    </m:d>
                  </m:oMath>
                </a14:m>
                <a:endPar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500">
                        <a:solidFill>
                          <a:schemeClr val="tx1"/>
                        </a:solidFill>
                        <a:latin typeface="Cambria Math"/>
                        <a:ea typeface="Cambria Math"/>
                      </a:rPr>
                      <m:t>=</m:t>
                    </m:r>
                    <m:d>
                      <m:dPr>
                        <m:begChr m:val="["/>
                        <m:endChr m:val="]"/>
                        <m:ctrlPr>
                          <a:rPr lang="en-US" sz="1500" i="1">
                            <a:solidFill>
                              <a:schemeClr val="tx1"/>
                            </a:solidFill>
                            <a:latin typeface="Cambria Math" panose="02040503050406030204" pitchFamily="18" charset="0"/>
                            <a:ea typeface="Cambria Math"/>
                          </a:rPr>
                        </m:ctrlPr>
                      </m:dPr>
                      <m:e>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rgbClr val="FF0000"/>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ro-RO" sz="1500" i="1">
                            <a:solidFill>
                              <a:schemeClr val="tx1"/>
                            </a:solidFill>
                            <a:latin typeface="Cambria Math"/>
                            <a:ea typeface="Cambria Math"/>
                          </a:rPr>
                          <m:t>0</m:t>
                        </m:r>
                        <m:r>
                          <a:rPr lang="en-US" sz="1500" b="1">
                            <a:solidFill>
                              <a:schemeClr val="tx1"/>
                            </a:solidFill>
                            <a:latin typeface="Cambria Math"/>
                            <a:ea typeface="Cambria Math"/>
                          </a:rPr>
                          <m:t>  </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e>
                    </m:d>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500">
                        <a:solidFill>
                          <a:schemeClr val="tx1"/>
                        </a:solidFill>
                        <a:latin typeface="Cambria Math"/>
                        <a:ea typeface="Cambria Math"/>
                      </a:rPr>
                      <m:t>=</m:t>
                    </m:r>
                    <m:d>
                      <m:dPr>
                        <m:begChr m:val="["/>
                        <m:endChr m:val="]"/>
                        <m:ctrlPr>
                          <a:rPr lang="en-US" sz="1500" i="1">
                            <a:solidFill>
                              <a:schemeClr val="tx1"/>
                            </a:solidFill>
                            <a:latin typeface="Cambria Math" panose="02040503050406030204" pitchFamily="18" charset="0"/>
                            <a:ea typeface="Cambria Math"/>
                          </a:rPr>
                        </m:ctrlPr>
                      </m:dPr>
                      <m:e>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rgbClr val="FF0000"/>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ro-RO" sz="1500" i="1">
                            <a:solidFill>
                              <a:schemeClr val="tx1"/>
                            </a:solidFill>
                            <a:latin typeface="Cambria Math"/>
                            <a:ea typeface="Cambria Math"/>
                          </a:rPr>
                          <m:t>0</m:t>
                        </m:r>
                        <m:r>
                          <a:rPr lang="en-US" sz="1500" b="1">
                            <a:solidFill>
                              <a:schemeClr val="tx1"/>
                            </a:solidFill>
                            <a:latin typeface="Cambria Math"/>
                            <a:ea typeface="Cambria Math"/>
                          </a:rPr>
                          <m:t>  </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e>
                    </m:d>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p>
              <a:p>
                <a:pPr lvl="1"/>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500">
                        <a:solidFill>
                          <a:schemeClr val="tx1"/>
                        </a:solidFill>
                        <a:latin typeface="Cambria Math"/>
                        <a:ea typeface="Cambria Math"/>
                      </a:rPr>
                      <m:t>=</m:t>
                    </m:r>
                    <m:d>
                      <m:dPr>
                        <m:begChr m:val="["/>
                        <m:endChr m:val="]"/>
                        <m:ctrlPr>
                          <a:rPr lang="en-US" sz="1500" i="1">
                            <a:solidFill>
                              <a:schemeClr val="tx1"/>
                            </a:solidFill>
                            <a:latin typeface="Cambria Math" panose="02040503050406030204" pitchFamily="18" charset="0"/>
                            <a:ea typeface="Cambria Math"/>
                          </a:rPr>
                        </m:ctrlPr>
                      </m:dPr>
                      <m:e>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ro-RO" sz="1500" i="1">
                            <a:solidFill>
                              <a:schemeClr val="tx1"/>
                            </a:solidFill>
                            <a:latin typeface="Cambria Math"/>
                            <a:ea typeface="Cambria Math"/>
                          </a:rPr>
                          <m:t>0</m:t>
                        </m:r>
                        <m:r>
                          <a:rPr lang="en-US" sz="1500" b="1">
                            <a:solidFill>
                              <a:schemeClr val="tx1"/>
                            </a:solidFill>
                            <a:latin typeface="Cambria Math"/>
                            <a:ea typeface="Cambria Math"/>
                          </a:rPr>
                          <m:t>  </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chemeClr val="tx1"/>
                            </a:solidFill>
                            <a:latin typeface="Cambria Math"/>
                            <a:ea typeface="Cambria Math"/>
                          </a:rPr>
                          <m:t>1</m:t>
                        </m:r>
                        <m:r>
                          <a:rPr lang="en-US" sz="1500">
                            <a:solidFill>
                              <a:schemeClr val="tx1"/>
                            </a:solidFill>
                            <a:latin typeface="Cambria Math"/>
                            <a:ea typeface="Cambria Math"/>
                          </a:rPr>
                          <m:t>     </m:t>
                        </m:r>
                        <m:r>
                          <a:rPr lang="en-US" sz="1500">
                            <a:solidFill>
                              <a:schemeClr val="tx1"/>
                            </a:solidFill>
                            <a:latin typeface="Cambria Math"/>
                            <a:ea typeface="Cambria Math"/>
                          </a:rPr>
                          <m:t>0</m:t>
                        </m:r>
                        <m:r>
                          <a:rPr lang="en-US" sz="1500">
                            <a:solidFill>
                              <a:schemeClr val="tx1"/>
                            </a:solidFill>
                            <a:latin typeface="Cambria Math"/>
                            <a:ea typeface="Cambria Math"/>
                          </a:rPr>
                          <m:t>     </m:t>
                        </m:r>
                        <m:r>
                          <a:rPr lang="en-US" sz="1500">
                            <a:solidFill>
                              <a:srgbClr val="FF0000"/>
                            </a:solidFill>
                            <a:latin typeface="Cambria Math"/>
                            <a:ea typeface="Cambria Math"/>
                          </a:rPr>
                          <m:t>0</m:t>
                        </m:r>
                      </m:e>
                    </m:d>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mc:Choice>
        <mc:Fallback xmlns="">
          <p:sp>
            <p:nvSpPr>
              <p:cNvPr id="7" name="Rectangle 6"/>
              <p:cNvSpPr>
                <a:spLocks noRot="1" noChangeAspect="1" noMove="1" noResize="1" noEditPoints="1" noAdjustHandles="1" noChangeArrowheads="1" noChangeShapeType="1" noTextEdit="1"/>
              </p:cNvSpPr>
              <p:nvPr/>
            </p:nvSpPr>
            <p:spPr>
              <a:xfrm>
                <a:off x="1197769" y="4011327"/>
                <a:ext cx="6858000" cy="196083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197769" y="4024094"/>
                <a:ext cx="6858000" cy="1960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rPr>
                  <a:t>Reprezentare ca numere reale: </a:t>
                </a:r>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ea typeface="Cambria Math"/>
                      </a:rPr>
                      <m:t>∈</m:t>
                    </m:r>
                    <m:d>
                      <m:dPr>
                        <m:begChr m:val="["/>
                        <m:endChr m:val="]"/>
                        <m:ctrlPr>
                          <a:rPr lang="ro-RO" altLang="en-US" sz="1500" i="1">
                            <a:solidFill>
                              <a:schemeClr val="tx1"/>
                            </a:solidFill>
                            <a:latin typeface="Cambria Math" panose="02040503050406030204" pitchFamily="18" charset="0"/>
                            <a:ea typeface="Cambria Math"/>
                          </a:rPr>
                        </m:ctrlPr>
                      </m:dPr>
                      <m:e>
                        <m:r>
                          <a:rPr lang="ro-RO" altLang="en-US" sz="1500" i="1">
                            <a:solidFill>
                              <a:schemeClr val="tx1"/>
                            </a:solidFill>
                            <a:latin typeface="Cambria Math"/>
                            <a:ea typeface="Cambria Math"/>
                          </a:rPr>
                          <m:t>𝑎</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𝑏</m:t>
                        </m:r>
                      </m:e>
                    </m:d>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ℝ</m:t>
                    </m:r>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rPr>
                      <m:t>=</m:t>
                    </m:r>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ea typeface="Cambria Math"/>
                      </a:rPr>
                      <m:t>±</m:t>
                    </m:r>
                    <m:r>
                      <a:rPr lang="ro-RO" altLang="en-US" sz="1500" i="1">
                        <a:solidFill>
                          <a:schemeClr val="tx1"/>
                        </a:solidFill>
                        <a:latin typeface="Cambria Math"/>
                      </a:rPr>
                      <m:t>𝑖</m:t>
                    </m:r>
                    <m:r>
                      <a:rPr lang="ro-RO" altLang="en-US" sz="1500" i="1">
                        <a:solidFill>
                          <a:schemeClr val="tx1"/>
                        </a:solidFill>
                        <a:latin typeface="Cambria Math"/>
                      </a:rPr>
                      <m:t>∗</m:t>
                    </m:r>
                    <m:r>
                      <a:rPr lang="ro-RO" altLang="en-US" sz="1500" i="1">
                        <a:solidFill>
                          <a:schemeClr val="tx1"/>
                        </a:solidFill>
                        <a:latin typeface="Cambria Math"/>
                        <a:ea typeface="Cambria Math"/>
                      </a:rPr>
                      <m:t>𝜀</m:t>
                    </m:r>
                  </m:oMath>
                </a14:m>
                <a:r>
                  <a:rPr lang="ro-RO" altLang="en-US" sz="1500" dirty="0">
                    <a:solidFill>
                      <a:schemeClr val="tx1"/>
                    </a:solidFill>
                  </a:rPr>
                  <a:t>, 	</a:t>
                </a:r>
                <a14:m>
                  <m:oMath xmlns:m="http://schemas.openxmlformats.org/officeDocument/2006/math">
                    <m:r>
                      <a:rPr lang="ro-RO" altLang="en-US" sz="1500" i="1">
                        <a:solidFill>
                          <a:schemeClr val="tx1"/>
                        </a:solidFill>
                        <a:latin typeface="Cambria Math"/>
                        <a:ea typeface="Cambria Math"/>
                      </a:rPr>
                      <m:t>𝜀</m:t>
                    </m:r>
                    <m:r>
                      <a:rPr lang="ro-RO" altLang="en-US" sz="1500">
                        <a:solidFill>
                          <a:schemeClr val="tx1"/>
                        </a:solidFill>
                        <a:latin typeface="Cambria Math"/>
                        <a:ea typeface="Cambria Math"/>
                      </a:rPr>
                      <m:t>=</m:t>
                    </m:r>
                    <m:sSup>
                      <m:sSupPr>
                        <m:ctrlPr>
                          <a:rPr lang="ro-RO" altLang="en-US" sz="1500" i="1">
                            <a:solidFill>
                              <a:schemeClr val="tx1"/>
                            </a:solidFill>
                            <a:latin typeface="Cambria Math" panose="02040503050406030204" pitchFamily="18" charset="0"/>
                            <a:ea typeface="Cambria Math"/>
                          </a:rPr>
                        </m:ctrlPr>
                      </m:sSupPr>
                      <m:e>
                        <m:r>
                          <a:rPr lang="ro-RO" altLang="en-US" sz="1500" i="1">
                            <a:solidFill>
                              <a:schemeClr val="tx1"/>
                            </a:solidFill>
                            <a:latin typeface="Cambria Math"/>
                            <a:ea typeface="Cambria Math"/>
                          </a:rPr>
                          <m:t>10</m:t>
                        </m:r>
                      </m:e>
                      <m:sup>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𝑛𝑧</m:t>
                        </m:r>
                      </m:sup>
                    </m:sSup>
                  </m:oMath>
                </a14:m>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lvl="1"/>
                <a14:m>
                  <m:oMath xmlns:m="http://schemas.openxmlformats.org/officeDocument/2006/math">
                    <m:sSub>
                      <m:sSubPr>
                        <m:ctrlPr>
                          <a:rPr lang="ro-RO" altLang="en-US" sz="1500" i="1">
                            <a:solidFill>
                              <a:schemeClr val="tx1"/>
                            </a:solidFill>
                            <a:latin typeface="Cambria Math" panose="02040503050406030204" pitchFamily="18" charset="0"/>
                          </a:rPr>
                        </m:ctrlPr>
                      </m:sSubPr>
                      <m:e>
                        <m:r>
                          <a:rPr lang="ro-RO" altLang="en-US" sz="1500" i="1">
                            <a:solidFill>
                              <a:schemeClr val="tx1"/>
                            </a:solidFill>
                            <a:latin typeface="Cambria Math"/>
                          </a:rPr>
                          <m:t>𝑣</m:t>
                        </m:r>
                      </m:e>
                      <m:sub>
                        <m:r>
                          <a:rPr lang="ro-RO" altLang="en-US" sz="1500" i="1">
                            <a:solidFill>
                              <a:schemeClr val="tx1"/>
                            </a:solidFill>
                            <a:latin typeface="Cambria Math"/>
                          </a:rPr>
                          <m:t>𝑐</m:t>
                        </m:r>
                      </m:sub>
                    </m:sSub>
                    <m:r>
                      <a:rPr lang="ro-RO" altLang="en-US" sz="1500" i="1">
                        <a:solidFill>
                          <a:schemeClr val="tx1"/>
                        </a:solidFill>
                        <a:latin typeface="Cambria Math"/>
                      </a:rPr>
                      <m:t>=</m:t>
                    </m:r>
                    <m:r>
                      <a:rPr lang="ro-RO" altLang="en-US" sz="1500" i="1">
                        <a:solidFill>
                          <a:schemeClr val="tx1"/>
                        </a:solidFill>
                        <a:latin typeface="Cambria Math"/>
                      </a:rPr>
                      <m:t>4</m:t>
                    </m:r>
                    <m:r>
                      <a:rPr lang="ro-RO" altLang="en-US" sz="1500" i="1">
                        <a:solidFill>
                          <a:schemeClr val="tx1"/>
                        </a:solidFill>
                        <a:latin typeface="Cambria Math"/>
                        <a:ea typeface="Cambria Math"/>
                      </a:rPr>
                      <m:t>∈</m:t>
                    </m:r>
                    <m:d>
                      <m:dPr>
                        <m:begChr m:val="["/>
                        <m:endChr m:val="]"/>
                        <m:ctrlPr>
                          <a:rPr lang="ro-RO" altLang="en-US" sz="1500" i="1">
                            <a:solidFill>
                              <a:schemeClr val="tx1"/>
                            </a:solidFill>
                            <a:latin typeface="Cambria Math" panose="02040503050406030204" pitchFamily="18" charset="0"/>
                            <a:ea typeface="Cambria Math"/>
                          </a:rPr>
                        </m:ctrlPr>
                      </m:dPr>
                      <m:e>
                        <m:r>
                          <a:rPr lang="ro-RO" altLang="en-US" sz="1500" i="1">
                            <a:solidFill>
                              <a:schemeClr val="tx1"/>
                            </a:solidFill>
                            <a:latin typeface="Cambria Math"/>
                            <a:ea typeface="Cambria Math"/>
                          </a:rPr>
                          <m:t>1</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0</m:t>
                        </m:r>
                        <m:r>
                          <a:rPr lang="ro-RO" altLang="en-US" sz="1500" i="1">
                            <a:solidFill>
                              <a:schemeClr val="tx1"/>
                            </a:solidFill>
                            <a:latin typeface="Cambria Math"/>
                            <a:ea typeface="Cambria Math"/>
                          </a:rPr>
                          <m:t>, </m:t>
                        </m:r>
                        <m:r>
                          <a:rPr lang="ro-RO" altLang="en-US" sz="1500" i="1">
                            <a:solidFill>
                              <a:schemeClr val="tx1"/>
                            </a:solidFill>
                            <a:latin typeface="Cambria Math"/>
                            <a:ea typeface="Cambria Math"/>
                          </a:rPr>
                          <m:t>5</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0</m:t>
                        </m:r>
                      </m:e>
                    </m:d>
                  </m:oMath>
                </a14:m>
                <a:r>
                  <a:rPr lang="ro-RO" altLang="en-US" sz="1500" dirty="0">
                    <a:solidFill>
                      <a:schemeClr val="tx1"/>
                    </a:solidFill>
                  </a:rPr>
                  <a:t>, 	</a:t>
                </a:r>
                <a:r>
                  <a:rPr lang="ro-RO" altLang="en-US" sz="1500" dirty="0">
                    <a:solidFill>
                      <a:schemeClr val="tx1"/>
                    </a:solidFill>
                    <a:ea typeface="Cambria Math"/>
                  </a:rPr>
                  <a:t> </a:t>
                </a:r>
                <a14:m>
                  <m:oMath xmlns:m="http://schemas.openxmlformats.org/officeDocument/2006/math">
                    <m:r>
                      <a:rPr lang="ro-RO" altLang="en-US" sz="1500" i="1">
                        <a:solidFill>
                          <a:schemeClr val="tx1"/>
                        </a:solidFill>
                        <a:latin typeface="Cambria Math"/>
                        <a:ea typeface="Cambria Math"/>
                      </a:rPr>
                      <m:t>𝜀</m:t>
                    </m:r>
                    <m:r>
                      <a:rPr lang="ro-RO" altLang="en-US" sz="1500">
                        <a:solidFill>
                          <a:schemeClr val="tx1"/>
                        </a:solidFill>
                        <a:latin typeface="Cambria Math"/>
                        <a:ea typeface="Cambria Math"/>
                      </a:rPr>
                      <m:t>=</m:t>
                    </m:r>
                    <m:sSup>
                      <m:sSupPr>
                        <m:ctrlPr>
                          <a:rPr lang="ro-RO" altLang="en-US" sz="1500" i="1">
                            <a:solidFill>
                              <a:schemeClr val="tx1"/>
                            </a:solidFill>
                            <a:latin typeface="Cambria Math" panose="02040503050406030204" pitchFamily="18" charset="0"/>
                            <a:ea typeface="Cambria Math"/>
                          </a:rPr>
                        </m:ctrlPr>
                      </m:sSupPr>
                      <m:e>
                        <m:r>
                          <a:rPr lang="ro-RO" altLang="en-US" sz="1500" i="1">
                            <a:solidFill>
                              <a:schemeClr val="tx1"/>
                            </a:solidFill>
                            <a:latin typeface="Cambria Math"/>
                            <a:ea typeface="Cambria Math"/>
                          </a:rPr>
                          <m:t>10</m:t>
                        </m:r>
                      </m:e>
                      <m:sup>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1</m:t>
                        </m:r>
                      </m:sup>
                    </m:sSup>
                    <m:r>
                      <a:rPr lang="ro-RO" altLang="en-US" sz="1500" i="1">
                        <a:solidFill>
                          <a:schemeClr val="tx1"/>
                        </a:solidFill>
                        <a:latin typeface="Cambria Math"/>
                        <a:ea typeface="Cambria Math"/>
                      </a:rPr>
                      <m:t>,  </m:t>
                    </m:r>
                    <m:r>
                      <a:rPr lang="ro-RO" altLang="en-US" sz="1500" i="1">
                        <a:solidFill>
                          <a:schemeClr val="tx1"/>
                        </a:solidFill>
                        <a:latin typeface="Cambria Math"/>
                        <a:ea typeface="Cambria Math"/>
                      </a:rPr>
                      <m:t>1</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𝑖</m:t>
                    </m:r>
                    <m:r>
                      <a:rPr lang="ro-RO" altLang="en-US" sz="1500" i="1">
                        <a:solidFill>
                          <a:schemeClr val="tx1"/>
                        </a:solidFill>
                        <a:latin typeface="Cambria Math"/>
                        <a:ea typeface="Cambria Math"/>
                      </a:rPr>
                      <m:t>≤</m:t>
                    </m:r>
                    <m:r>
                      <a:rPr lang="ro-RO" altLang="en-US" sz="1500" i="1">
                        <a:solidFill>
                          <a:schemeClr val="tx1"/>
                        </a:solidFill>
                        <a:latin typeface="Cambria Math"/>
                        <a:ea typeface="Cambria Math"/>
                      </a:rPr>
                      <m:t>3</m:t>
                    </m:r>
                  </m:oMath>
                </a14:m>
                <a:endParaRPr lang="ro-RO" altLang="en-US" sz="1500" dirty="0">
                  <a:solidFill>
                    <a:schemeClr val="tx1"/>
                  </a:solidFill>
                </a:endParaRPr>
              </a:p>
              <a:p>
                <a:pPr lvl="1"/>
                <a:r>
                  <a:rPr lang="ro-RO" altLang="en-US" sz="1500" dirty="0">
                    <a:solidFill>
                      <a:schemeClr val="tx1"/>
                    </a:solidFill>
                    <a:latin typeface="Times New Roman"/>
                    <a:cs typeface="Times New Roman"/>
                  </a:rPr>
                  <a:t>Vecini → 	</a:t>
                </a:r>
                <a14:m>
                  <m:oMath xmlns:m="http://schemas.openxmlformats.org/officeDocument/2006/math">
                    <m:d>
                      <m:dPr>
                        <m:begChr m:val="{"/>
                        <m:endChr m:val="}"/>
                        <m:ctrlPr>
                          <a:rPr lang="ro-RO" altLang="en-US" sz="1500" i="1">
                            <a:solidFill>
                              <a:schemeClr val="tx1"/>
                            </a:solidFill>
                            <a:latin typeface="Cambria Math" panose="02040503050406030204" pitchFamily="18" charset="0"/>
                          </a:rPr>
                        </m:ctrlPr>
                      </m:dPr>
                      <m:e>
                        <m:r>
                          <a:rPr lang="ro-RO" altLang="en-US" sz="1500" i="1">
                            <a:solidFill>
                              <a:schemeClr val="tx1"/>
                            </a:solidFill>
                            <a:latin typeface="Cambria Math"/>
                          </a:rPr>
                          <m:t>3</m:t>
                        </m:r>
                        <m:r>
                          <a:rPr lang="ro-RO" altLang="en-US" sz="1500" i="1">
                            <a:solidFill>
                              <a:schemeClr val="tx1"/>
                            </a:solidFill>
                            <a:latin typeface="Cambria Math"/>
                          </a:rPr>
                          <m:t>.</m:t>
                        </m:r>
                        <m:r>
                          <a:rPr lang="ro-RO" altLang="en-US" sz="1500" i="1">
                            <a:solidFill>
                              <a:schemeClr val="tx1"/>
                            </a:solidFill>
                            <a:latin typeface="Cambria Math"/>
                          </a:rPr>
                          <m:t>7</m:t>
                        </m:r>
                        <m:r>
                          <a:rPr lang="ro-RO" altLang="en-US" sz="1500" i="1">
                            <a:solidFill>
                              <a:schemeClr val="tx1"/>
                            </a:solidFill>
                            <a:latin typeface="Cambria Math"/>
                          </a:rPr>
                          <m:t>,  </m:t>
                        </m:r>
                        <m:r>
                          <a:rPr lang="ro-RO" altLang="en-US" sz="1500" i="1">
                            <a:solidFill>
                              <a:schemeClr val="tx1"/>
                            </a:solidFill>
                            <a:latin typeface="Cambria Math"/>
                          </a:rPr>
                          <m:t>3</m:t>
                        </m:r>
                        <m:r>
                          <a:rPr lang="ro-RO" altLang="en-US" sz="1500" i="1">
                            <a:solidFill>
                              <a:schemeClr val="tx1"/>
                            </a:solidFill>
                            <a:latin typeface="Cambria Math"/>
                          </a:rPr>
                          <m:t>.</m:t>
                        </m:r>
                        <m:r>
                          <a:rPr lang="ro-RO" altLang="en-US" sz="1500" i="1">
                            <a:solidFill>
                              <a:schemeClr val="tx1"/>
                            </a:solidFill>
                            <a:latin typeface="Cambria Math"/>
                          </a:rPr>
                          <m:t>8</m:t>
                        </m:r>
                        <m:r>
                          <a:rPr lang="ro-RO" altLang="en-US" sz="1500" i="1">
                            <a:solidFill>
                              <a:schemeClr val="tx1"/>
                            </a:solidFill>
                            <a:latin typeface="Cambria Math"/>
                          </a:rPr>
                          <m:t>,  </m:t>
                        </m:r>
                        <m:r>
                          <a:rPr lang="ro-RO" altLang="en-US" sz="1500" i="1">
                            <a:solidFill>
                              <a:schemeClr val="tx1"/>
                            </a:solidFill>
                            <a:latin typeface="Cambria Math"/>
                          </a:rPr>
                          <m:t>3</m:t>
                        </m:r>
                        <m:r>
                          <a:rPr lang="ro-RO" altLang="en-US" sz="1500" i="1">
                            <a:solidFill>
                              <a:schemeClr val="tx1"/>
                            </a:solidFill>
                            <a:latin typeface="Cambria Math"/>
                          </a:rPr>
                          <m:t>.</m:t>
                        </m:r>
                        <m:r>
                          <a:rPr lang="ro-RO" altLang="en-US" sz="1500" i="1">
                            <a:solidFill>
                              <a:schemeClr val="tx1"/>
                            </a:solidFill>
                            <a:latin typeface="Cambria Math"/>
                          </a:rPr>
                          <m:t>9</m:t>
                        </m:r>
                        <m:r>
                          <a:rPr lang="ro-RO" altLang="en-US" sz="1500" i="1">
                            <a:solidFill>
                              <a:schemeClr val="tx1"/>
                            </a:solidFill>
                            <a:latin typeface="Cambria Math"/>
                          </a:rPr>
                          <m:t>,  </m:t>
                        </m:r>
                        <m:r>
                          <a:rPr lang="ro-RO" altLang="en-US" sz="1500" i="1">
                            <a:solidFill>
                              <a:schemeClr val="tx1"/>
                            </a:solidFill>
                            <a:latin typeface="Cambria Math"/>
                          </a:rPr>
                          <m:t>4</m:t>
                        </m:r>
                        <m:r>
                          <a:rPr lang="ro-RO" altLang="en-US" sz="1500" i="1">
                            <a:solidFill>
                              <a:schemeClr val="tx1"/>
                            </a:solidFill>
                            <a:latin typeface="Cambria Math"/>
                          </a:rPr>
                          <m:t>.</m:t>
                        </m:r>
                        <m:r>
                          <a:rPr lang="ro-RO" altLang="en-US" sz="1500" i="1">
                            <a:solidFill>
                              <a:schemeClr val="tx1"/>
                            </a:solidFill>
                            <a:latin typeface="Cambria Math"/>
                          </a:rPr>
                          <m:t>1</m:t>
                        </m:r>
                        <m:r>
                          <a:rPr lang="ro-RO" altLang="en-US" sz="1500" i="1">
                            <a:solidFill>
                              <a:schemeClr val="tx1"/>
                            </a:solidFill>
                            <a:latin typeface="Cambria Math"/>
                          </a:rPr>
                          <m:t>,  </m:t>
                        </m:r>
                        <m:r>
                          <a:rPr lang="ro-RO" altLang="en-US" sz="1500" i="1">
                            <a:solidFill>
                              <a:schemeClr val="tx1"/>
                            </a:solidFill>
                            <a:latin typeface="Cambria Math"/>
                          </a:rPr>
                          <m:t>4</m:t>
                        </m:r>
                        <m:r>
                          <a:rPr lang="ro-RO" altLang="en-US" sz="1500" i="1">
                            <a:solidFill>
                              <a:schemeClr val="tx1"/>
                            </a:solidFill>
                            <a:latin typeface="Cambria Math"/>
                          </a:rPr>
                          <m:t>.</m:t>
                        </m:r>
                        <m:r>
                          <a:rPr lang="ro-RO" altLang="en-US" sz="1500" i="1">
                            <a:solidFill>
                              <a:schemeClr val="tx1"/>
                            </a:solidFill>
                            <a:latin typeface="Cambria Math"/>
                          </a:rPr>
                          <m:t>2</m:t>
                        </m:r>
                        <m:r>
                          <a:rPr lang="ro-RO" altLang="en-US" sz="1500" i="1">
                            <a:solidFill>
                              <a:schemeClr val="tx1"/>
                            </a:solidFill>
                            <a:latin typeface="Cambria Math"/>
                          </a:rPr>
                          <m:t>,  </m:t>
                        </m:r>
                        <m:r>
                          <a:rPr lang="ro-RO" altLang="en-US" sz="1500" i="1">
                            <a:solidFill>
                              <a:schemeClr val="tx1"/>
                            </a:solidFill>
                            <a:latin typeface="Cambria Math"/>
                          </a:rPr>
                          <m:t>4</m:t>
                        </m:r>
                        <m:r>
                          <a:rPr lang="ro-RO" altLang="en-US" sz="1500" i="1">
                            <a:solidFill>
                              <a:schemeClr val="tx1"/>
                            </a:solidFill>
                            <a:latin typeface="Cambria Math"/>
                          </a:rPr>
                          <m:t>.</m:t>
                        </m:r>
                        <m:r>
                          <a:rPr lang="ro-RO" altLang="en-US" sz="1500" i="1">
                            <a:solidFill>
                              <a:schemeClr val="tx1"/>
                            </a:solidFill>
                            <a:latin typeface="Cambria Math"/>
                          </a:rPr>
                          <m:t>3</m:t>
                        </m:r>
                      </m:e>
                    </m:d>
                    <m:r>
                      <a:rPr lang="ro-RO" altLang="en-US" sz="1500" i="1">
                        <a:solidFill>
                          <a:schemeClr val="tx1"/>
                        </a:solidFill>
                        <a:latin typeface="Cambria Math"/>
                      </a:rPr>
                      <m:t> </m:t>
                    </m:r>
                  </m:oMath>
                </a14:m>
                <a:r>
                  <a:rPr lang="en-US" sz="1500" dirty="0">
                    <a:solidFill>
                      <a:schemeClr val="tx1"/>
                    </a:solidFill>
                    <a:latin typeface="Arial" panose="020B0604020202020204" pitchFamily="34" charset="0"/>
                    <a:cs typeface="Arial" panose="020B0604020202020204" pitchFamily="34" charset="0"/>
                    <a:sym typeface="Wingdings" panose="05000000000000000000" pitchFamily="2" charset="2"/>
                  </a:rPr>
                  <a:t>	</a:t>
                </a:r>
                <a:endParaRPr lang="ro-RO" sz="15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mc:Choice>
        <mc:Fallback xmlns="">
          <p:sp>
            <p:nvSpPr>
              <p:cNvPr id="8" name="Rectangle 7"/>
              <p:cNvSpPr>
                <a:spLocks noRot="1" noChangeAspect="1" noMove="1" noResize="1" noEditPoints="1" noAdjustHandles="1" noChangeArrowheads="1" noChangeShapeType="1" noTextEdit="1"/>
              </p:cNvSpPr>
              <p:nvPr/>
            </p:nvSpPr>
            <p:spPr>
              <a:xfrm>
                <a:off x="1197769" y="4024094"/>
                <a:ext cx="6858000" cy="1960836"/>
              </a:xfrm>
              <a:prstGeom prst="rect">
                <a:avLst/>
              </a:prstGeom>
              <a:blipFill>
                <a:blip r:embed="rId3"/>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DB5A3288-5288-4036-BD05-D6E5985064C4}"/>
              </a:ext>
            </a:extLst>
          </p:cNvPr>
          <p:cNvSpPr/>
          <p:nvPr/>
        </p:nvSpPr>
        <p:spPr>
          <a:xfrm>
            <a:off x="1197769" y="4017710"/>
            <a:ext cx="6858000" cy="19608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en-US" sz="1500" b="1" dirty="0">
                <a:solidFill>
                  <a:schemeClr val="tx1"/>
                </a:solidFill>
                <a:latin typeface="Cambria Math"/>
              </a:rPr>
              <a:t>P = (2, 7, 5, 1, 4, 6, 3) </a:t>
            </a:r>
            <a:r>
              <a:rPr lang="en-US" sz="1500" b="1" dirty="0">
                <a:solidFill>
                  <a:schemeClr val="tx1"/>
                </a:solidFill>
                <a:latin typeface="Cambria Math"/>
                <a:sym typeface="Wingdings" panose="05000000000000000000" pitchFamily="2" charset="2"/>
              </a:rPr>
              <a:t></a:t>
            </a:r>
          </a:p>
          <a:p>
            <a:pPr lvl="1"/>
            <a:endParaRPr lang="en-US" sz="1500" b="1" dirty="0">
              <a:solidFill>
                <a:schemeClr val="tx1"/>
              </a:solidFill>
              <a:latin typeface="Cambria Math"/>
            </a:endParaRPr>
          </a:p>
          <a:p>
            <a:pPr marL="676275" lvl="1"/>
            <a:r>
              <a:rPr lang="en-US" sz="1500" b="1" dirty="0">
                <a:solidFill>
                  <a:schemeClr val="tx1"/>
                </a:solidFill>
                <a:latin typeface="Cambria Math"/>
              </a:rPr>
              <a:t>(7, 2, 5, 1, 4, 6, 3)</a:t>
            </a:r>
          </a:p>
          <a:p>
            <a:pPr marL="676275" lvl="1"/>
            <a:r>
              <a:rPr lang="en-US" sz="1500" b="1" dirty="0">
                <a:solidFill>
                  <a:schemeClr val="tx1"/>
                </a:solidFill>
                <a:latin typeface="Cambria Math"/>
              </a:rPr>
              <a:t>(5, 7, 2, 1, 4, 6, 3)</a:t>
            </a:r>
          </a:p>
          <a:p>
            <a:pPr marL="676275" lvl="1"/>
            <a:r>
              <a:rPr lang="en-US" sz="1500" b="1" dirty="0">
                <a:solidFill>
                  <a:schemeClr val="tx1"/>
                </a:solidFill>
                <a:latin typeface="Cambria Math"/>
              </a:rPr>
              <a:t>(1, 7, 5, 2, 4, 6, 3)</a:t>
            </a:r>
          </a:p>
          <a:p>
            <a:pPr marL="676275" lvl="1"/>
            <a:r>
              <a:rPr lang="en-US" sz="1500" b="1" dirty="0">
                <a:solidFill>
                  <a:schemeClr val="tx1"/>
                </a:solidFill>
                <a:latin typeface="Cambria Math"/>
              </a:rPr>
              <a:t>…</a:t>
            </a:r>
          </a:p>
          <a:p>
            <a:pPr marL="676275" lvl="1"/>
            <a:r>
              <a:rPr lang="en-US" sz="1500" b="1" dirty="0">
                <a:solidFill>
                  <a:schemeClr val="tx1"/>
                </a:solidFill>
                <a:latin typeface="Cambria Math"/>
              </a:rPr>
              <a:t>(2, 7, 5, 1, 4, 3, 6)</a:t>
            </a:r>
          </a:p>
        </p:txBody>
      </p:sp>
    </p:spTree>
    <p:extLst>
      <p:ext uri="{BB962C8B-B14F-4D97-AF65-F5344CB8AC3E}">
        <p14:creationId xmlns:p14="http://schemas.microsoft.com/office/powerpoint/2010/main" val="365210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9">
                                            <p:txEl>
                                              <p:pRg st="2" end="2"/>
                                            </p:txEl>
                                          </p:spTgt>
                                        </p:tgtEl>
                                        <p:attrNameLst>
                                          <p:attrName>style.visibility</p:attrName>
                                        </p:attrNameLst>
                                      </p:cBhvr>
                                      <p:to>
                                        <p:strVal val="visible"/>
                                      </p:to>
                                    </p:set>
                                    <p:animEffect transition="in" filter="dissolve">
                                      <p:cBhvr>
                                        <p:cTn id="7" dur="500"/>
                                        <p:tgtEl>
                                          <p:spTgt spid="14339">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339">
                                            <p:txEl>
                                              <p:pRg st="3" end="3"/>
                                            </p:txEl>
                                          </p:spTgt>
                                        </p:tgtEl>
                                        <p:attrNameLst>
                                          <p:attrName>style.visibility</p:attrName>
                                        </p:attrNameLst>
                                      </p:cBhvr>
                                      <p:to>
                                        <p:strVal val="visible"/>
                                      </p:to>
                                    </p:set>
                                    <p:animEffect transition="in" filter="dissolve">
                                      <p:cBhvr>
                                        <p:cTn id="10" dur="500"/>
                                        <p:tgtEl>
                                          <p:spTgt spid="14339">
                                            <p:txEl>
                                              <p:pRg st="3" end="3"/>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339">
                                            <p:txEl>
                                              <p:pRg st="4" end="4"/>
                                            </p:txEl>
                                          </p:spTgt>
                                        </p:tgtEl>
                                        <p:attrNameLst>
                                          <p:attrName>style.visibility</p:attrName>
                                        </p:attrNameLst>
                                      </p:cBhvr>
                                      <p:to>
                                        <p:strVal val="visible"/>
                                      </p:to>
                                    </p:set>
                                    <p:animEffect transition="in" filter="dissolve">
                                      <p:cBhvr>
                                        <p:cTn id="13" dur="500"/>
                                        <p:tgtEl>
                                          <p:spTgt spid="14339">
                                            <p:txEl>
                                              <p:pRg st="4" end="4"/>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4339">
                                            <p:txEl>
                                              <p:pRg st="5" end="5"/>
                                            </p:txEl>
                                          </p:spTgt>
                                        </p:tgtEl>
                                        <p:attrNameLst>
                                          <p:attrName>style.visibility</p:attrName>
                                        </p:attrNameLst>
                                      </p:cBhvr>
                                      <p:to>
                                        <p:strVal val="visible"/>
                                      </p:to>
                                    </p:set>
                                    <p:animEffect transition="in" filter="dissolve">
                                      <p:cBhvr>
                                        <p:cTn id="16" dur="500"/>
                                        <p:tgtEl>
                                          <p:spTgt spid="14339">
                                            <p:txEl>
                                              <p:pRg st="5" end="5"/>
                                            </p:txEl>
                                          </p:spTgt>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par>
                          <p:cTn id="25" fill="hold">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339" name="Content Placeholder 6"/>
              <p:cNvSpPr>
                <a:spLocks noGrp="1"/>
              </p:cNvSpPr>
              <p:nvPr>
                <p:ph idx="1"/>
              </p:nvPr>
            </p:nvSpPr>
            <p:spPr>
              <a:xfrm>
                <a:off x="990600" y="990600"/>
                <a:ext cx="6572250" cy="4018359"/>
              </a:xfrm>
            </p:spPr>
            <p:txBody>
              <a:bodyPr/>
              <a:lstStyle/>
              <a:p>
                <a:pPr>
                  <a:buFont typeface="Wingdings" panose="05000000000000000000" pitchFamily="2" charset="2"/>
                  <a:buChar char="q"/>
                </a:pPr>
                <a:r>
                  <a:rPr lang="ro-RO" sz="1800" dirty="0">
                    <a:latin typeface="Arial" panose="020B0604020202020204" pitchFamily="34" charset="0"/>
                    <a:cs typeface="Arial" panose="020B0604020202020204" pitchFamily="34" charset="0"/>
                    <a:sym typeface="Wingdings" panose="05000000000000000000" pitchFamily="2" charset="2"/>
                  </a:rPr>
                  <a:t>Func</a:t>
                </a:r>
                <a:r>
                  <a:rPr lang="en-US" sz="1800" dirty="0" err="1">
                    <a:latin typeface="Arial" panose="020B0604020202020204" pitchFamily="34" charset="0"/>
                    <a:cs typeface="Arial" panose="020B0604020202020204" pitchFamily="34" charset="0"/>
                    <a:sym typeface="Wingdings" panose="05000000000000000000" pitchFamily="2" charset="2"/>
                  </a:rPr>
                  <a:t>tion</a:t>
                </a:r>
                <a:r>
                  <a:rPr lang="en-US" sz="1800" dirty="0">
                    <a:latin typeface="Arial" panose="020B0604020202020204" pitchFamily="34" charset="0"/>
                    <a:cs typeface="Arial" panose="020B0604020202020204" pitchFamily="34" charset="0"/>
                    <a:sym typeface="Wingdings" panose="05000000000000000000" pitchFamily="2" charset="2"/>
                  </a:rPr>
                  <a:t> of several variables</a:t>
                </a:r>
                <a:endParaRPr lang="ro-RO" sz="1800" dirty="0">
                  <a:latin typeface="Arial" panose="020B0604020202020204" pitchFamily="34" charset="0"/>
                  <a:cs typeface="Arial" panose="020B0604020202020204" pitchFamily="34" charset="0"/>
                  <a:sym typeface="Wingdings" panose="05000000000000000000" pitchFamily="2" charset="2"/>
                </a:endParaRPr>
              </a:p>
              <a:p>
                <a:pPr>
                  <a:buFont typeface="Wingdings" panose="05000000000000000000" pitchFamily="2" charset="2"/>
                  <a:buChar char="q"/>
                </a:pPr>
                <a:r>
                  <a:rPr lang="en-US" sz="1800" dirty="0">
                    <a:latin typeface="Arial" panose="020B0604020202020204" pitchFamily="34" charset="0"/>
                    <a:cs typeface="Arial" panose="020B0604020202020204" pitchFamily="34" charset="0"/>
                    <a:sym typeface="Wingdings" panose="05000000000000000000" pitchFamily="2" charset="2"/>
                  </a:rPr>
                  <a:t>Binary representation</a:t>
                </a:r>
                <a:endParaRPr lang="ro-RO" sz="1800" dirty="0">
                  <a:latin typeface="Arial" panose="020B0604020202020204" pitchFamily="34" charset="0"/>
                  <a:cs typeface="Arial" panose="020B0604020202020204" pitchFamily="34" charset="0"/>
                  <a:sym typeface="Wingdings" panose="05000000000000000000" pitchFamily="2" charset="2"/>
                </a:endParaRPr>
              </a:p>
              <a:p>
                <a:pPr lvl="1">
                  <a:buFont typeface="Wingdings" panose="05000000000000000000" pitchFamily="2" charset="2"/>
                  <a:buChar char="q"/>
                </a:pP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𝑎</m:t>
                            </m:r>
                          </m:e>
                          <m:sub>
                            <m:r>
                              <a:rPr lang="ro-RO" altLang="en-US" sz="1800" i="1">
                                <a:latin typeface="Cambria Math"/>
                                <a:ea typeface="Cambria Math"/>
                              </a:rPr>
                              <m:t>1</m:t>
                            </m:r>
                          </m:sub>
                        </m:sSub>
                        <m:r>
                          <a:rPr lang="ro-RO" altLang="en-US" sz="1800" i="1">
                            <a:latin typeface="Cambria Math"/>
                            <a:ea typeface="Cambria Math"/>
                          </a:rPr>
                          <m:t>,</m:t>
                        </m:r>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𝑏</m:t>
                            </m:r>
                          </m:e>
                          <m:sub>
                            <m:r>
                              <a:rPr lang="ro-RO" altLang="en-US" sz="1800" i="1">
                                <a:latin typeface="Cambria Math"/>
                                <a:ea typeface="Cambria Math"/>
                              </a:rPr>
                              <m:t>1</m:t>
                            </m:r>
                          </m:sub>
                        </m:sSub>
                      </m:e>
                    </m:d>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𝑎</m:t>
                            </m:r>
                          </m:e>
                          <m:sub>
                            <m:r>
                              <a:rPr lang="ro-RO" altLang="en-US" sz="1800" i="1">
                                <a:latin typeface="Cambria Math"/>
                                <a:ea typeface="Cambria Math"/>
                              </a:rPr>
                              <m:t>𝑛</m:t>
                            </m:r>
                          </m:sub>
                        </m:sSub>
                        <m:r>
                          <a:rPr lang="ro-RO" altLang="en-US" sz="1800" i="1">
                            <a:latin typeface="Cambria Math"/>
                            <a:ea typeface="Cambria Math"/>
                          </a:rPr>
                          <m:t>,</m:t>
                        </m:r>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𝑏</m:t>
                            </m:r>
                          </m:e>
                          <m:sub>
                            <m:r>
                              <a:rPr lang="ro-RO" altLang="en-US" sz="1800" i="1">
                                <a:latin typeface="Cambria Math"/>
                                <a:ea typeface="Cambria Math"/>
                              </a:rPr>
                              <m:t>𝑛</m:t>
                            </m:r>
                          </m:sub>
                        </m:sSub>
                      </m:e>
                    </m:d>
                    <m:r>
                      <a:rPr lang="ro-RO" altLang="en-US" sz="1800" i="1">
                        <a:latin typeface="Cambria Math"/>
                        <a:ea typeface="Cambria Math"/>
                      </a:rPr>
                      <m:t>⊂</m:t>
                    </m:r>
                    <m:r>
                      <a:rPr lang="ro-RO" altLang="en-US" sz="1800" i="1">
                        <a:latin typeface="Cambria Math"/>
                        <a:ea typeface="Cambria Math"/>
                      </a:rPr>
                      <m:t>ℝ</m:t>
                    </m:r>
                    <m:r>
                      <a:rPr lang="en-US" altLang="en-US" sz="1800" i="1" baseline="30000">
                        <a:latin typeface="Cambria Math" panose="02040503050406030204" pitchFamily="18" charset="0"/>
                        <a:ea typeface="Cambria Math"/>
                      </a:rPr>
                      <m:t>𝑛</m:t>
                    </m:r>
                    <m:r>
                      <a:rPr lang="ro-RO" altLang="en-US" sz="1800" i="1">
                        <a:latin typeface="Cambria Math"/>
                        <a:ea typeface="Cambria Math"/>
                      </a:rPr>
                      <m:t> </m:t>
                    </m:r>
                  </m:oMath>
                </a14:m>
                <a:r>
                  <a:rPr lang="ro-RO" altLang="en-US" sz="1800" dirty="0">
                    <a:latin typeface="Arial" panose="020B0604020202020204" pitchFamily="34" charset="0"/>
                    <a:cs typeface="Arial" panose="020B0604020202020204" pitchFamily="34" charset="0"/>
                  </a:rPr>
                  <a:t>e</a:t>
                </a:r>
                <a:r>
                  <a:rPr lang="en-US" altLang="en-US" sz="1800" dirty="0">
                    <a:latin typeface="Arial" panose="020B0604020202020204" pitchFamily="34" charset="0"/>
                    <a:cs typeface="Arial" panose="020B0604020202020204" pitchFamily="34" charset="0"/>
                  </a:rPr>
                  <a:t> is represented in bits by concatenating the it representations of </a:t>
                </a: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1</m:t>
                        </m:r>
                      </m:e>
                    </m:d>
                    <m:r>
                      <a:rPr lang="ro-RO" altLang="en-US" sz="1800" i="1">
                        <a:latin typeface="Cambria Math"/>
                      </a:rPr>
                      <m:t>…</m:t>
                    </m:r>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𝑛</m:t>
                        </m:r>
                      </m:e>
                    </m:d>
                  </m:oMath>
                </a14:m>
                <a:endParaRPr lang="ro-RO" sz="1800" dirty="0">
                  <a:latin typeface="Arial" panose="020B0604020202020204" pitchFamily="34" charset="0"/>
                  <a:cs typeface="Arial" panose="020B0604020202020204" pitchFamily="34" charset="0"/>
                  <a:sym typeface="Wingdings" panose="05000000000000000000" pitchFamily="2" charset="2"/>
                </a:endParaRPr>
              </a:p>
              <a:p>
                <a:pPr lvl="2">
                  <a:buFont typeface="Wingdings" panose="05000000000000000000" pitchFamily="2" charset="2"/>
                  <a:buChar char="q"/>
                </a:pPr>
                <a:r>
                  <a:rPr lang="en-US" sz="1800" dirty="0">
                    <a:latin typeface="Arial" panose="020B0604020202020204" pitchFamily="34" charset="0"/>
                    <a:cs typeface="Arial" panose="020B0604020202020204" pitchFamily="34" charset="0"/>
                    <a:sym typeface="Wingdings" panose="05000000000000000000" pitchFamily="2" charset="2"/>
                  </a:rPr>
                  <a:t>Modify one bit</a:t>
                </a:r>
                <a:endParaRPr lang="ro-RO" sz="1800" dirty="0">
                  <a:latin typeface="Arial" panose="020B0604020202020204" pitchFamily="34" charset="0"/>
                  <a:cs typeface="Arial" panose="020B0604020202020204" pitchFamily="34" charset="0"/>
                  <a:sym typeface="Wingdings" panose="05000000000000000000" pitchFamily="2" charset="2"/>
                </a:endParaRPr>
              </a:p>
              <a:p>
                <a:pPr lvl="2">
                  <a:buFont typeface="Wingdings" panose="05000000000000000000" pitchFamily="2" charset="2"/>
                  <a:buChar char="q"/>
                </a:pPr>
                <a:r>
                  <a:rPr lang="en-US" sz="1800" dirty="0">
                    <a:latin typeface="Arial" panose="020B0604020202020204" pitchFamily="34" charset="0"/>
                    <a:cs typeface="Arial" panose="020B0604020202020204" pitchFamily="34" charset="0"/>
                    <a:sym typeface="Wingdings" panose="05000000000000000000" pitchFamily="2" charset="2"/>
                  </a:rPr>
                  <a:t>Modify one bit from the representation of each component (all combinations)</a:t>
                </a:r>
                <a:endParaRPr lang="ro-RO" sz="1800" dirty="0">
                  <a:latin typeface="Arial" panose="020B0604020202020204" pitchFamily="34" charset="0"/>
                  <a:cs typeface="Arial" panose="020B0604020202020204" pitchFamily="34" charset="0"/>
                  <a:sym typeface="Wingdings" panose="05000000000000000000" pitchFamily="2" charset="2"/>
                </a:endParaRPr>
              </a:p>
              <a:p>
                <a:pPr>
                  <a:buFont typeface="Wingdings" panose="05000000000000000000" pitchFamily="2" charset="2"/>
                  <a:buChar char="q"/>
                </a:pPr>
                <a:endParaRPr lang="ro-RO" sz="1800" dirty="0">
                  <a:latin typeface="Arial" panose="020B0604020202020204" pitchFamily="34" charset="0"/>
                  <a:cs typeface="Arial" panose="020B0604020202020204" pitchFamily="34" charset="0"/>
                  <a:sym typeface="Wingdings" panose="05000000000000000000" pitchFamily="2" charset="2"/>
                </a:endParaRPr>
              </a:p>
              <a:p>
                <a:pPr>
                  <a:buFont typeface="Wingdings" panose="05000000000000000000" pitchFamily="2" charset="2"/>
                  <a:buChar char="q"/>
                </a:pPr>
                <a:r>
                  <a:rPr lang="en-US" sz="1800" dirty="0">
                    <a:latin typeface="Arial" panose="020B0604020202020204" pitchFamily="34" charset="0"/>
                    <a:cs typeface="Arial" panose="020B0604020202020204" pitchFamily="34" charset="0"/>
                    <a:sym typeface="Wingdings" panose="05000000000000000000" pitchFamily="2" charset="2"/>
                  </a:rPr>
                  <a:t>Real-number representation</a:t>
                </a:r>
                <a:endParaRPr lang="ro-RO" sz="1800" dirty="0">
                  <a:latin typeface="Arial" panose="020B0604020202020204" pitchFamily="34" charset="0"/>
                  <a:cs typeface="Arial" panose="020B0604020202020204" pitchFamily="34" charset="0"/>
                  <a:sym typeface="Wingdings" panose="05000000000000000000" pitchFamily="2" charset="2"/>
                </a:endParaRPr>
              </a:p>
              <a:p>
                <a:pPr lvl="1">
                  <a:buFont typeface="Wingdings" panose="05000000000000000000" pitchFamily="2" charset="2"/>
                  <a:buChar char="q"/>
                </a:pP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𝑎</m:t>
                            </m:r>
                          </m:e>
                          <m:sub>
                            <m:r>
                              <a:rPr lang="ro-RO" altLang="en-US" sz="1800" i="1">
                                <a:latin typeface="Cambria Math"/>
                                <a:ea typeface="Cambria Math"/>
                              </a:rPr>
                              <m:t>1</m:t>
                            </m:r>
                          </m:sub>
                        </m:sSub>
                        <m:r>
                          <a:rPr lang="ro-RO" altLang="en-US" sz="1800" i="1">
                            <a:latin typeface="Cambria Math"/>
                            <a:ea typeface="Cambria Math"/>
                          </a:rPr>
                          <m:t>,</m:t>
                        </m:r>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𝑏</m:t>
                            </m:r>
                          </m:e>
                          <m:sub>
                            <m:r>
                              <a:rPr lang="ro-RO" altLang="en-US" sz="1800" i="1">
                                <a:latin typeface="Cambria Math"/>
                                <a:ea typeface="Cambria Math"/>
                              </a:rPr>
                              <m:t>1</m:t>
                            </m:r>
                          </m:sub>
                        </m:sSub>
                      </m:e>
                    </m:d>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𝑎</m:t>
                            </m:r>
                          </m:e>
                          <m:sub>
                            <m:r>
                              <a:rPr lang="ro-RO" altLang="en-US" sz="1800" i="1">
                                <a:latin typeface="Cambria Math"/>
                                <a:ea typeface="Cambria Math"/>
                              </a:rPr>
                              <m:t>𝑛</m:t>
                            </m:r>
                          </m:sub>
                        </m:sSub>
                        <m:r>
                          <a:rPr lang="ro-RO" altLang="en-US" sz="1800" i="1">
                            <a:latin typeface="Cambria Math"/>
                            <a:ea typeface="Cambria Math"/>
                          </a:rPr>
                          <m:t>,</m:t>
                        </m:r>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𝑏</m:t>
                            </m:r>
                          </m:e>
                          <m:sub>
                            <m:r>
                              <a:rPr lang="ro-RO" altLang="en-US" sz="1800" i="1">
                                <a:latin typeface="Cambria Math"/>
                                <a:ea typeface="Cambria Math"/>
                              </a:rPr>
                              <m:t>𝑛</m:t>
                            </m:r>
                          </m:sub>
                        </m:sSub>
                      </m:e>
                    </m:d>
                    <m:r>
                      <a:rPr lang="ro-RO" altLang="en-US" sz="1800" i="1">
                        <a:latin typeface="Cambria Math"/>
                        <a:ea typeface="Cambria Math"/>
                      </a:rPr>
                      <m:t>⊂</m:t>
                    </m:r>
                    <m:r>
                      <a:rPr lang="ro-RO" altLang="en-US" sz="1800" i="1">
                        <a:latin typeface="Cambria Math"/>
                        <a:ea typeface="Cambria Math"/>
                      </a:rPr>
                      <m:t>ℝ</m:t>
                    </m:r>
                    <m:r>
                      <a:rPr lang="en-US" altLang="en-US" sz="1800" i="1" baseline="30000" smtClean="0">
                        <a:latin typeface="Cambria Math" panose="02040503050406030204" pitchFamily="18" charset="0"/>
                        <a:ea typeface="Cambria Math"/>
                      </a:rPr>
                      <m:t>𝑛</m:t>
                    </m:r>
                  </m:oMath>
                </a14:m>
                <a:r>
                  <a:rPr lang="en-US" altLang="en-US" sz="1800" dirty="0">
                    <a:latin typeface="Arial" panose="020B0604020202020204" pitchFamily="34" charset="0"/>
                    <a:cs typeface="Arial" panose="020B0604020202020204" pitchFamily="34" charset="0"/>
                  </a:rPr>
                  <a:t> is represented as a sequence of real numbers</a:t>
                </a:r>
                <a:r>
                  <a:rPr lang="ro-RO" altLang="en-US" sz="1800" dirty="0"/>
                  <a:t> </a:t>
                </a:r>
                <a14:m>
                  <m:oMath xmlns:m="http://schemas.openxmlformats.org/officeDocument/2006/math">
                    <m:d>
                      <m:dPr>
                        <m:begChr m:val="["/>
                        <m:endChr m:val="]"/>
                        <m:ctrlPr>
                          <a:rPr lang="ro-RO" altLang="en-US" sz="1800" i="1">
                            <a:latin typeface="Cambria Math" panose="02040503050406030204" pitchFamily="18" charset="0"/>
                          </a:rPr>
                        </m:ctrlPr>
                      </m:dPr>
                      <m:e>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1</m:t>
                            </m:r>
                          </m:e>
                        </m:d>
                        <m:r>
                          <a:rPr lang="ro-RO" altLang="en-US" sz="1800" i="1">
                            <a:latin typeface="Cambria Math"/>
                          </a:rPr>
                          <m:t>…</m:t>
                        </m:r>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𝑛</m:t>
                            </m:r>
                          </m:e>
                        </m:d>
                      </m:e>
                    </m:d>
                  </m:oMath>
                </a14:m>
                <a:endParaRPr lang="ro-RO" sz="1800" dirty="0">
                  <a:latin typeface="Arial" panose="020B0604020202020204" pitchFamily="34" charset="0"/>
                  <a:cs typeface="Arial" panose="020B0604020202020204" pitchFamily="34" charset="0"/>
                  <a:sym typeface="Wingdings" panose="05000000000000000000" pitchFamily="2" charset="2"/>
                </a:endParaRPr>
              </a:p>
              <a:p>
                <a:pPr lvl="2">
                  <a:buFont typeface="Wingdings" panose="05000000000000000000" pitchFamily="2" charset="2"/>
                  <a:buChar char="q"/>
                </a:pPr>
                <a:r>
                  <a:rPr lang="ro-RO" sz="1800" dirty="0">
                    <a:latin typeface="Arial" panose="020B0604020202020204" pitchFamily="34" charset="0"/>
                    <a:cs typeface="Arial" panose="020B0604020202020204" pitchFamily="34" charset="0"/>
                    <a:sym typeface="Wingdings" panose="05000000000000000000" pitchFamily="2" charset="2"/>
                  </a:rPr>
                  <a:t>Modif</a:t>
                </a:r>
                <a:r>
                  <a:rPr lang="en-US" sz="1800" dirty="0">
                    <a:latin typeface="Arial" panose="020B0604020202020204" pitchFamily="34" charset="0"/>
                    <a:cs typeface="Arial" panose="020B0604020202020204" pitchFamily="34" charset="0"/>
                    <a:sym typeface="Wingdings" panose="05000000000000000000" pitchFamily="2" charset="2"/>
                  </a:rPr>
                  <a:t>y a single component</a:t>
                </a:r>
                <a:r>
                  <a:rPr lang="ro-RO" sz="1800" dirty="0">
                    <a:latin typeface="Arial" panose="020B0604020202020204" pitchFamily="34" charset="0"/>
                    <a:cs typeface="Arial" panose="020B0604020202020204" pitchFamily="34" charset="0"/>
                    <a:sym typeface="Wingdings" panose="05000000000000000000" pitchFamily="2" charset="2"/>
                  </a:rPr>
                  <a:t> </a:t>
                </a:r>
                <a:r>
                  <a:rPr lang="ro-RO" sz="1800" i="1" dirty="0">
                    <a:latin typeface="Arial" panose="020B0604020202020204" pitchFamily="34" charset="0"/>
                    <a:cs typeface="Arial" panose="020B0604020202020204" pitchFamily="34" charset="0"/>
                    <a:sym typeface="Wingdings" panose="05000000000000000000" pitchFamily="2" charset="2"/>
                  </a:rPr>
                  <a:t>k</a:t>
                </a:r>
                <a:r>
                  <a:rPr lang="ro-RO" sz="18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𝑘</m:t>
                        </m:r>
                      </m:e>
                    </m:d>
                    <m:r>
                      <a:rPr lang="ro-RO" altLang="en-US" sz="1800" i="1">
                        <a:latin typeface="Cambria Math"/>
                      </a:rPr>
                      <m:t>=</m:t>
                    </m:r>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𝑘</m:t>
                        </m:r>
                      </m:e>
                    </m:d>
                    <m:r>
                      <a:rPr lang="ro-RO" altLang="en-US" sz="1800" i="1">
                        <a:latin typeface="Cambria Math"/>
                        <a:ea typeface="Cambria Math"/>
                      </a:rPr>
                      <m:t>±</m:t>
                    </m:r>
                    <m:r>
                      <a:rPr lang="ro-RO" altLang="en-US" sz="1800" i="1">
                        <a:latin typeface="Cambria Math"/>
                      </a:rPr>
                      <m:t>𝑖</m:t>
                    </m:r>
                    <m:r>
                      <a:rPr lang="ro-RO" altLang="en-US" sz="1800" i="1">
                        <a:latin typeface="Cambria Math"/>
                      </a:rPr>
                      <m:t>∗</m:t>
                    </m:r>
                    <m:r>
                      <a:rPr lang="ro-RO" altLang="en-US" sz="1800" i="1">
                        <a:latin typeface="Cambria Math"/>
                        <a:ea typeface="Cambria Math"/>
                      </a:rPr>
                      <m:t>𝜀</m:t>
                    </m:r>
                  </m:oMath>
                </a14:m>
                <a:r>
                  <a:rPr lang="ro-RO" altLang="en-US" sz="1800" dirty="0"/>
                  <a:t>, </a:t>
                </a:r>
                <a14:m>
                  <m:oMath xmlns:m="http://schemas.openxmlformats.org/officeDocument/2006/math">
                    <m:r>
                      <a:rPr lang="ro-RO" altLang="en-US" sz="1800" i="1">
                        <a:latin typeface="Cambria Math"/>
                        <a:ea typeface="Cambria Math"/>
                      </a:rPr>
                      <m:t>𝜀</m:t>
                    </m:r>
                    <m:r>
                      <a:rPr lang="ro-RO" altLang="en-US" sz="1800">
                        <a:latin typeface="Cambria Math"/>
                        <a:ea typeface="Cambria Math"/>
                      </a:rPr>
                      <m:t>=</m:t>
                    </m:r>
                    <m:sSup>
                      <m:sSupPr>
                        <m:ctrlPr>
                          <a:rPr lang="ro-RO" altLang="en-US" sz="1800" i="1">
                            <a:latin typeface="Cambria Math" panose="02040503050406030204" pitchFamily="18" charset="0"/>
                            <a:ea typeface="Cambria Math"/>
                          </a:rPr>
                        </m:ctrlPr>
                      </m:sSupPr>
                      <m:e>
                        <m:r>
                          <a:rPr lang="ro-RO" altLang="en-US" sz="1800" i="1">
                            <a:latin typeface="Cambria Math"/>
                            <a:ea typeface="Cambria Math"/>
                          </a:rPr>
                          <m:t>10</m:t>
                        </m:r>
                      </m:e>
                      <m:sup>
                        <m:r>
                          <a:rPr lang="ro-RO" altLang="en-US" sz="1800" i="1">
                            <a:latin typeface="Cambria Math"/>
                            <a:ea typeface="Cambria Math"/>
                          </a:rPr>
                          <m:t>−</m:t>
                        </m:r>
                        <m:r>
                          <a:rPr lang="ro-RO" altLang="en-US" sz="1800" i="1">
                            <a:latin typeface="Cambria Math"/>
                            <a:ea typeface="Cambria Math"/>
                          </a:rPr>
                          <m:t>𝑛𝑧</m:t>
                        </m:r>
                      </m:sup>
                    </m:sSup>
                  </m:oMath>
                </a14:m>
                <a:endParaRPr lang="ro-RO" sz="1800" dirty="0">
                  <a:latin typeface="Arial" panose="020B0604020202020204" pitchFamily="34" charset="0"/>
                  <a:cs typeface="Arial" panose="020B0604020202020204" pitchFamily="34" charset="0"/>
                  <a:sym typeface="Wingdings" panose="05000000000000000000" pitchFamily="2" charset="2"/>
                </a:endParaRPr>
              </a:p>
              <a:p>
                <a:pPr lvl="2">
                  <a:buFont typeface="Wingdings" panose="05000000000000000000" pitchFamily="2" charset="2"/>
                  <a:buChar char="q"/>
                </a:pPr>
                <a:r>
                  <a:rPr lang="ro-RO" sz="1800" dirty="0">
                    <a:latin typeface="Arial" panose="020B0604020202020204" pitchFamily="34" charset="0"/>
                    <a:cs typeface="Arial" panose="020B0604020202020204" pitchFamily="34" charset="0"/>
                    <a:sym typeface="Wingdings" panose="05000000000000000000" pitchFamily="2" charset="2"/>
                  </a:rPr>
                  <a:t>Modif</a:t>
                </a:r>
                <a:r>
                  <a:rPr lang="en-US" sz="1800" dirty="0">
                    <a:latin typeface="Arial" panose="020B0604020202020204" pitchFamily="34" charset="0"/>
                    <a:cs typeface="Arial" panose="020B0604020202020204" pitchFamily="34" charset="0"/>
                    <a:sym typeface="Wingdings" panose="05000000000000000000" pitchFamily="2" charset="2"/>
                  </a:rPr>
                  <a:t>y all components</a:t>
                </a:r>
                <a:r>
                  <a:rPr lang="ro-RO" sz="1800" dirty="0">
                    <a:latin typeface="Arial" panose="020B0604020202020204" pitchFamily="34" charset="0"/>
                    <a:cs typeface="Arial" panose="020B0604020202020204" pitchFamily="34" charset="0"/>
                    <a:sym typeface="Wingdings" panose="05000000000000000000" pitchFamily="2" charset="2"/>
                  </a:rPr>
                  <a:t> </a:t>
                </a:r>
                <a:r>
                  <a:rPr lang="ro-RO" sz="1800" i="1" dirty="0">
                    <a:latin typeface="Arial" panose="020B0604020202020204" pitchFamily="34" charset="0"/>
                    <a:cs typeface="Arial" panose="020B0604020202020204" pitchFamily="34" charset="0"/>
                    <a:sym typeface="Wingdings" panose="05000000000000000000" pitchFamily="2" charset="2"/>
                  </a:rPr>
                  <a:t>k</a:t>
                </a:r>
                <a:r>
                  <a:rPr lang="ro-RO" sz="1800" dirty="0">
                    <a:latin typeface="Arial" panose="020B0604020202020204" pitchFamily="34" charset="0"/>
                    <a:cs typeface="Arial" panose="020B0604020202020204" pitchFamily="34" charset="0"/>
                    <a:sym typeface="Wingdings" panose="05000000000000000000" pitchFamily="2" charset="2"/>
                  </a:rPr>
                  <a:t> (</a:t>
                </a:r>
                <a:r>
                  <a:rPr lang="en-US" sz="1800">
                    <a:latin typeface="Arial" panose="020B0604020202020204" pitchFamily="34" charset="0"/>
                    <a:cs typeface="Arial" panose="020B0604020202020204" pitchFamily="34" charset="0"/>
                    <a:sym typeface="Wingdings" panose="05000000000000000000" pitchFamily="2" charset="2"/>
                  </a:rPr>
                  <a:t>all combinations</a:t>
                </a:r>
                <a:r>
                  <a:rPr lang="ro-RO" sz="1800">
                    <a:latin typeface="Arial" panose="020B0604020202020204" pitchFamily="34" charset="0"/>
                    <a:cs typeface="Arial" panose="020B0604020202020204" pitchFamily="34" charset="0"/>
                    <a:sym typeface="Wingdings" panose="05000000000000000000" pitchFamily="2" charset="2"/>
                  </a:rPr>
                  <a:t>):</a:t>
                </a:r>
                <a:endParaRPr lang="ro-RO" sz="1800" dirty="0">
                  <a:latin typeface="Arial" panose="020B0604020202020204" pitchFamily="34" charset="0"/>
                  <a:cs typeface="Arial" panose="020B0604020202020204" pitchFamily="34" charset="0"/>
                  <a:sym typeface="Wingdings" panose="05000000000000000000" pitchFamily="2" charset="2"/>
                </a:endParaRPr>
              </a:p>
              <a:p>
                <a:pPr lvl="2">
                  <a:buFont typeface="Wingdings" panose="05000000000000000000" pitchFamily="2" charset="2"/>
                  <a:buChar char="q"/>
                </a:pPr>
                <a14:m>
                  <m:oMath xmlns:m="http://schemas.openxmlformats.org/officeDocument/2006/math">
                    <m:r>
                      <a:rPr lang="ro-RO" altLang="en-US" sz="1800" i="1">
                        <a:latin typeface="Cambria Math"/>
                      </a:rPr>
                      <m:t>1</m:t>
                    </m:r>
                    <m:r>
                      <a:rPr lang="ro-RO" altLang="en-US" sz="1800" i="1">
                        <a:latin typeface="Cambria Math"/>
                      </a:rPr>
                      <m:t>≤</m:t>
                    </m:r>
                    <m:r>
                      <a:rPr lang="ro-RO" altLang="en-US" sz="1800" i="1">
                        <a:latin typeface="Cambria Math"/>
                        <a:ea typeface="Cambria Math"/>
                      </a:rPr>
                      <m:t>𝑘</m:t>
                    </m:r>
                    <m:r>
                      <a:rPr lang="ro-RO" altLang="en-US" sz="1800" i="1">
                        <a:latin typeface="Cambria Math"/>
                        <a:ea typeface="Cambria Math"/>
                      </a:rPr>
                      <m:t>≤</m:t>
                    </m:r>
                    <m:r>
                      <a:rPr lang="ro-RO" altLang="en-US" sz="1800" i="1">
                        <a:latin typeface="Cambria Math"/>
                        <a:ea typeface="Cambria Math"/>
                      </a:rPr>
                      <m:t>𝑛</m:t>
                    </m:r>
                  </m:oMath>
                </a14:m>
                <a:r>
                  <a:rPr lang="ro-RO" altLang="en-US" sz="1800" dirty="0"/>
                  <a:t>, </a:t>
                </a: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𝑘</m:t>
                        </m:r>
                      </m:e>
                    </m:d>
                    <m:r>
                      <a:rPr lang="ro-RO" altLang="en-US" sz="1800" i="1">
                        <a:latin typeface="Cambria Math"/>
                      </a:rPr>
                      <m:t>=</m:t>
                    </m:r>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d>
                      <m:dPr>
                        <m:ctrlPr>
                          <a:rPr lang="ro-RO" altLang="en-US" sz="1800" i="1">
                            <a:latin typeface="Cambria Math" panose="02040503050406030204" pitchFamily="18" charset="0"/>
                          </a:rPr>
                        </m:ctrlPr>
                      </m:dPr>
                      <m:e>
                        <m:r>
                          <a:rPr lang="ro-RO" altLang="en-US" sz="1800" i="1">
                            <a:latin typeface="Cambria Math"/>
                          </a:rPr>
                          <m:t>𝑘</m:t>
                        </m:r>
                      </m:e>
                    </m:d>
                    <m:r>
                      <a:rPr lang="ro-RO" altLang="en-US" sz="1800" i="1">
                        <a:latin typeface="Cambria Math"/>
                        <a:ea typeface="Cambria Math"/>
                      </a:rPr>
                      <m:t>±</m:t>
                    </m:r>
                    <m:sSub>
                      <m:sSubPr>
                        <m:ctrlPr>
                          <a:rPr lang="ro-RO" altLang="en-US" sz="1800" i="1">
                            <a:latin typeface="Cambria Math" panose="02040503050406030204" pitchFamily="18" charset="0"/>
                            <a:ea typeface="Cambria Math"/>
                          </a:rPr>
                        </m:ctrlPr>
                      </m:sSubPr>
                      <m:e>
                        <m:r>
                          <a:rPr lang="ro-RO" altLang="en-US" sz="1800" i="1">
                            <a:latin typeface="Cambria Math"/>
                            <a:ea typeface="Cambria Math"/>
                          </a:rPr>
                          <m:t>𝑖</m:t>
                        </m:r>
                      </m:e>
                      <m:sub>
                        <m:r>
                          <a:rPr lang="ro-RO" altLang="en-US" sz="1800" i="1">
                            <a:latin typeface="Cambria Math"/>
                            <a:ea typeface="Cambria Math"/>
                          </a:rPr>
                          <m:t>𝑡</m:t>
                        </m:r>
                      </m:sub>
                    </m:sSub>
                    <m:r>
                      <a:rPr lang="ro-RO" altLang="en-US" sz="1800" i="1">
                        <a:latin typeface="Cambria Math"/>
                      </a:rPr>
                      <m:t>∗</m:t>
                    </m:r>
                    <m:r>
                      <a:rPr lang="ro-RO" altLang="en-US" sz="1800" i="1">
                        <a:latin typeface="Cambria Math"/>
                        <a:ea typeface="Cambria Math"/>
                      </a:rPr>
                      <m:t>𝜀</m:t>
                    </m:r>
                  </m:oMath>
                </a14:m>
                <a:r>
                  <a:rPr lang="ro-RO" altLang="en-US" sz="1800" dirty="0"/>
                  <a:t>, </a:t>
                </a:r>
                <a14:m>
                  <m:oMath xmlns:m="http://schemas.openxmlformats.org/officeDocument/2006/math">
                    <m:r>
                      <a:rPr lang="ro-RO" altLang="en-US" sz="1800" i="1">
                        <a:latin typeface="Cambria Math"/>
                        <a:ea typeface="Cambria Math"/>
                      </a:rPr>
                      <m:t>𝜀</m:t>
                    </m:r>
                    <m:r>
                      <a:rPr lang="ro-RO" altLang="en-US" sz="1800">
                        <a:latin typeface="Cambria Math"/>
                        <a:ea typeface="Cambria Math"/>
                      </a:rPr>
                      <m:t>=</m:t>
                    </m:r>
                    <m:sSup>
                      <m:sSupPr>
                        <m:ctrlPr>
                          <a:rPr lang="ro-RO" altLang="en-US" sz="1800" i="1">
                            <a:latin typeface="Cambria Math" panose="02040503050406030204" pitchFamily="18" charset="0"/>
                            <a:ea typeface="Cambria Math"/>
                          </a:rPr>
                        </m:ctrlPr>
                      </m:sSupPr>
                      <m:e>
                        <m:r>
                          <a:rPr lang="ro-RO" altLang="en-US" sz="1800" i="1">
                            <a:latin typeface="Cambria Math"/>
                            <a:ea typeface="Cambria Math"/>
                          </a:rPr>
                          <m:t>10</m:t>
                        </m:r>
                      </m:e>
                      <m:sup>
                        <m:r>
                          <a:rPr lang="ro-RO" altLang="en-US" sz="1800" i="1">
                            <a:latin typeface="Cambria Math"/>
                            <a:ea typeface="Cambria Math"/>
                          </a:rPr>
                          <m:t>−</m:t>
                        </m:r>
                        <m:r>
                          <a:rPr lang="ro-RO" altLang="en-US" sz="1800" i="1">
                            <a:latin typeface="Cambria Math"/>
                            <a:ea typeface="Cambria Math"/>
                          </a:rPr>
                          <m:t>𝑛𝑧</m:t>
                        </m:r>
                      </m:sup>
                    </m:sSup>
                  </m:oMath>
                </a14:m>
                <a:r>
                  <a:rPr lang="ro-RO" sz="18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ro-RO" altLang="en-US" sz="1800" i="1">
                        <a:latin typeface="Cambria Math"/>
                      </a:rPr>
                      <m:t>1</m:t>
                    </m:r>
                    <m:r>
                      <a:rPr lang="ro-RO" altLang="en-US" sz="1800" i="1">
                        <a:latin typeface="Cambria Math"/>
                        <a:ea typeface="Cambria Math"/>
                      </a:rPr>
                      <m:t>≤</m:t>
                    </m:r>
                    <m:r>
                      <a:rPr lang="ro-RO" altLang="en-US" sz="1800" i="1">
                        <a:latin typeface="Cambria Math"/>
                        <a:ea typeface="Cambria Math"/>
                      </a:rPr>
                      <m:t>𝑡</m:t>
                    </m:r>
                    <m:r>
                      <a:rPr lang="ro-RO" altLang="en-US" sz="1800" i="1">
                        <a:latin typeface="Cambria Math"/>
                        <a:ea typeface="Cambria Math"/>
                      </a:rPr>
                      <m:t>≤</m:t>
                    </m:r>
                    <m:r>
                      <a:rPr lang="ro-RO" altLang="en-US" sz="1800" i="1">
                        <a:latin typeface="Cambria Math"/>
                        <a:ea typeface="Cambria Math"/>
                      </a:rPr>
                      <m:t>𝑛𝑟𝑣</m:t>
                    </m:r>
                  </m:oMath>
                </a14:m>
                <a:endParaRPr lang="ro-RO" sz="1800" dirty="0">
                  <a:latin typeface="Arial" panose="020B0604020202020204" pitchFamily="34" charset="0"/>
                  <a:cs typeface="Arial" panose="020B0604020202020204" pitchFamily="34" charset="0"/>
                  <a:sym typeface="Wingdings" panose="05000000000000000000" pitchFamily="2" charset="2"/>
                </a:endParaRPr>
              </a:p>
              <a:p>
                <a:pPr lvl="3">
                  <a:buFont typeface="Wingdings" panose="05000000000000000000" pitchFamily="2" charset="2"/>
                  <a:buChar char="q"/>
                </a:pPr>
                <a14:m>
                  <m:oMath xmlns:m="http://schemas.openxmlformats.org/officeDocument/2006/math">
                    <m:sSub>
                      <m:sSubPr>
                        <m:ctrlPr>
                          <a:rPr lang="ro-RO" altLang="en-US" sz="1800" i="1">
                            <a:latin typeface="Cambria Math" panose="02040503050406030204" pitchFamily="18" charset="0"/>
                          </a:rPr>
                        </m:ctrlPr>
                      </m:sSubPr>
                      <m:e>
                        <m:r>
                          <a:rPr lang="ro-RO" altLang="en-US" sz="1800" i="1">
                            <a:latin typeface="Cambria Math"/>
                          </a:rPr>
                          <m:t>𝑣</m:t>
                        </m:r>
                      </m:e>
                      <m:sub>
                        <m:r>
                          <a:rPr lang="ro-RO" altLang="en-US" sz="1800" i="1">
                            <a:latin typeface="Cambria Math"/>
                          </a:rPr>
                          <m:t>𝑐</m:t>
                        </m:r>
                      </m:sub>
                    </m:sSub>
                    <m:r>
                      <a:rPr lang="ro-RO" altLang="en-US" sz="1800" i="1">
                        <a:latin typeface="Cambria Math"/>
                      </a:rPr>
                      <m:t>=</m:t>
                    </m:r>
                    <m:d>
                      <m:dPr>
                        <m:ctrlPr>
                          <a:rPr lang="ro-RO" altLang="en-US" sz="1800" i="1">
                            <a:latin typeface="Cambria Math" panose="02040503050406030204" pitchFamily="18" charset="0"/>
                          </a:rPr>
                        </m:ctrlPr>
                      </m:dPr>
                      <m:e>
                        <m:r>
                          <a:rPr lang="ro-RO" altLang="en-US" sz="1800" i="1">
                            <a:latin typeface="Cambria Math"/>
                          </a:rPr>
                          <m:t>1</m:t>
                        </m:r>
                        <m:r>
                          <a:rPr lang="ro-RO" altLang="en-US" sz="1800" i="1">
                            <a:latin typeface="Cambria Math"/>
                          </a:rPr>
                          <m:t>,</m:t>
                        </m:r>
                        <m:r>
                          <a:rPr lang="ro-RO" altLang="en-US" sz="1800" i="1">
                            <a:latin typeface="Cambria Math"/>
                          </a:rPr>
                          <m:t>1</m:t>
                        </m:r>
                      </m:e>
                    </m:d>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r>
                          <a:rPr lang="ro-RO" altLang="en-US" sz="1800" i="1">
                            <a:latin typeface="Cambria Math"/>
                            <a:ea typeface="Cambria Math"/>
                          </a:rPr>
                          <m:t>−</m:t>
                        </m:r>
                        <m:r>
                          <a:rPr lang="ro-RO" altLang="en-US" sz="1800" i="1">
                            <a:latin typeface="Cambria Math"/>
                            <a:ea typeface="Cambria Math"/>
                          </a:rPr>
                          <m:t>2</m:t>
                        </m:r>
                        <m:r>
                          <a:rPr lang="ro-RO" altLang="en-US" sz="1800" i="1">
                            <a:latin typeface="Cambria Math"/>
                            <a:ea typeface="Cambria Math"/>
                          </a:rPr>
                          <m:t>, </m:t>
                        </m:r>
                        <m:r>
                          <a:rPr lang="ro-RO" altLang="en-US" sz="1800" i="1">
                            <a:latin typeface="Cambria Math"/>
                            <a:ea typeface="Cambria Math"/>
                          </a:rPr>
                          <m:t>4</m:t>
                        </m:r>
                      </m:e>
                    </m:d>
                    <m:r>
                      <a:rPr lang="ro-RO" altLang="en-US" sz="1800" i="1">
                        <a:latin typeface="Cambria Math"/>
                        <a:ea typeface="Cambria Math"/>
                      </a:rPr>
                      <m:t>×</m:t>
                    </m:r>
                    <m:d>
                      <m:dPr>
                        <m:begChr m:val="["/>
                        <m:endChr m:val="]"/>
                        <m:ctrlPr>
                          <a:rPr lang="ro-RO" altLang="en-US" sz="1800" i="1">
                            <a:latin typeface="Cambria Math" panose="02040503050406030204" pitchFamily="18" charset="0"/>
                            <a:ea typeface="Cambria Math"/>
                          </a:rPr>
                        </m:ctrlPr>
                      </m:dPr>
                      <m:e>
                        <m:r>
                          <a:rPr lang="ro-RO" altLang="en-US" sz="1800" i="1">
                            <a:latin typeface="Cambria Math"/>
                            <a:ea typeface="Cambria Math"/>
                          </a:rPr>
                          <m:t>−</m:t>
                        </m:r>
                        <m:r>
                          <a:rPr lang="ro-RO" altLang="en-US" sz="1800" i="1">
                            <a:latin typeface="Cambria Math"/>
                            <a:ea typeface="Cambria Math"/>
                          </a:rPr>
                          <m:t>1</m:t>
                        </m:r>
                        <m:r>
                          <a:rPr lang="ro-RO" altLang="en-US" sz="1800" i="1">
                            <a:latin typeface="Cambria Math"/>
                            <a:ea typeface="Cambria Math"/>
                          </a:rPr>
                          <m:t>, </m:t>
                        </m:r>
                        <m:r>
                          <a:rPr lang="ro-RO" altLang="en-US" sz="1800" i="1">
                            <a:latin typeface="Cambria Math"/>
                            <a:ea typeface="Cambria Math"/>
                          </a:rPr>
                          <m:t>2</m:t>
                        </m:r>
                      </m:e>
                    </m:d>
                    <m:r>
                      <a:rPr lang="ro-RO" altLang="en-US" sz="1800" i="1">
                        <a:latin typeface="Cambria Math"/>
                        <a:ea typeface="Cambria Math"/>
                      </a:rPr>
                      <m:t>, </m:t>
                    </m:r>
                    <m:r>
                      <a:rPr lang="ro-RO" altLang="en-US" sz="1800" i="1">
                        <a:latin typeface="Cambria Math"/>
                        <a:ea typeface="Cambria Math"/>
                      </a:rPr>
                      <m:t>𝜀</m:t>
                    </m:r>
                    <m:r>
                      <a:rPr lang="ro-RO" altLang="en-US" sz="1800">
                        <a:latin typeface="Cambria Math"/>
                        <a:ea typeface="Cambria Math"/>
                      </a:rPr>
                      <m:t>=</m:t>
                    </m:r>
                    <m:sSup>
                      <m:sSupPr>
                        <m:ctrlPr>
                          <a:rPr lang="ro-RO" altLang="en-US" sz="1800" i="1">
                            <a:latin typeface="Cambria Math" panose="02040503050406030204" pitchFamily="18" charset="0"/>
                            <a:ea typeface="Cambria Math"/>
                          </a:rPr>
                        </m:ctrlPr>
                      </m:sSupPr>
                      <m:e>
                        <m:r>
                          <a:rPr lang="ro-RO" altLang="en-US" sz="1800" i="1">
                            <a:latin typeface="Cambria Math"/>
                            <a:ea typeface="Cambria Math"/>
                          </a:rPr>
                          <m:t>10</m:t>
                        </m:r>
                      </m:e>
                      <m:sup>
                        <m:r>
                          <a:rPr lang="ro-RO" altLang="en-US" sz="1800" i="1">
                            <a:latin typeface="Cambria Math"/>
                            <a:ea typeface="Cambria Math"/>
                          </a:rPr>
                          <m:t>−</m:t>
                        </m:r>
                        <m:r>
                          <a:rPr lang="ro-RO" altLang="en-US" sz="1800" i="1">
                            <a:latin typeface="Cambria Math"/>
                            <a:ea typeface="Cambria Math"/>
                          </a:rPr>
                          <m:t>1</m:t>
                        </m:r>
                      </m:sup>
                    </m:sSup>
                    <m:r>
                      <a:rPr lang="ro-RO" altLang="en-US" sz="1800" i="1">
                        <a:latin typeface="Cambria Math"/>
                        <a:ea typeface="Cambria Math"/>
                      </a:rPr>
                      <m:t>,  </m:t>
                    </m:r>
                    <m:r>
                      <a:rPr lang="ro-RO" altLang="en-US" sz="1800" i="1">
                        <a:latin typeface="Cambria Math"/>
                        <a:ea typeface="Cambria Math"/>
                      </a:rPr>
                      <m:t>1</m:t>
                    </m:r>
                    <m:r>
                      <a:rPr lang="ro-RO" altLang="en-US" sz="1800" i="1">
                        <a:latin typeface="Cambria Math"/>
                        <a:ea typeface="Cambria Math"/>
                      </a:rPr>
                      <m:t>≤</m:t>
                    </m:r>
                    <m:r>
                      <a:rPr lang="ro-RO" altLang="en-US" sz="1800" i="1">
                        <a:latin typeface="Cambria Math"/>
                        <a:ea typeface="Cambria Math"/>
                      </a:rPr>
                      <m:t>𝑖</m:t>
                    </m:r>
                    <m:r>
                      <a:rPr lang="ro-RO" altLang="en-US" sz="1800" i="1">
                        <a:latin typeface="Cambria Math"/>
                        <a:ea typeface="Cambria Math"/>
                      </a:rPr>
                      <m:t>,</m:t>
                    </m:r>
                    <m:r>
                      <a:rPr lang="ro-RO" altLang="en-US" sz="1800" i="1">
                        <a:latin typeface="Cambria Math"/>
                        <a:ea typeface="Cambria Math"/>
                      </a:rPr>
                      <m:t>𝑗</m:t>
                    </m:r>
                    <m:r>
                      <a:rPr lang="ro-RO" altLang="en-US" sz="1800" i="1">
                        <a:latin typeface="Cambria Math"/>
                        <a:ea typeface="Cambria Math"/>
                      </a:rPr>
                      <m:t>≤</m:t>
                    </m:r>
                    <m:r>
                      <a:rPr lang="ro-RO" altLang="en-US" sz="1800" i="1">
                        <a:latin typeface="Cambria Math"/>
                        <a:ea typeface="Cambria Math"/>
                      </a:rPr>
                      <m:t>2</m:t>
                    </m:r>
                  </m:oMath>
                </a14:m>
                <a:endParaRPr lang="ro-RO" sz="1800" dirty="0">
                  <a:latin typeface="Arial" panose="020B0604020202020204" pitchFamily="34" charset="0"/>
                  <a:cs typeface="Arial" panose="020B0604020202020204" pitchFamily="34" charset="0"/>
                  <a:sym typeface="Wingdings" panose="05000000000000000000" pitchFamily="2" charset="2"/>
                </a:endParaRPr>
              </a:p>
            </p:txBody>
          </p:sp>
        </mc:Choice>
        <mc:Fallback>
          <p:sp>
            <p:nvSpPr>
              <p:cNvPr id="14339" name="Content Placeholder 6"/>
              <p:cNvSpPr>
                <a:spLocks noGrp="1" noRot="1" noChangeAspect="1" noMove="1" noResize="1" noEditPoints="1" noAdjustHandles="1" noChangeArrowheads="1" noChangeShapeType="1" noTextEdit="1"/>
              </p:cNvSpPr>
              <p:nvPr>
                <p:ph idx="1"/>
              </p:nvPr>
            </p:nvSpPr>
            <p:spPr>
              <a:xfrm>
                <a:off x="990600" y="990600"/>
                <a:ext cx="6572250" cy="4018359"/>
              </a:xfrm>
              <a:blipFill>
                <a:blip r:embed="rId2"/>
                <a:stretch>
                  <a:fillRect l="-93" t="-910" b="-39909"/>
                </a:stretch>
              </a:blipFill>
            </p:spPr>
            <p:txBody>
              <a:bodyPr/>
              <a:lstStyle/>
              <a:p>
                <a:r>
                  <a:rPr lang="en-US">
                    <a:noFill/>
                  </a:rPr>
                  <a:t> </a:t>
                </a:r>
              </a:p>
            </p:txBody>
          </p:sp>
        </mc:Fallback>
      </mc:AlternateContent>
      <p:sp>
        <p:nvSpPr>
          <p:cNvPr id="6" name="TextBox 5" hidden="1"/>
          <p:cNvSpPr txBox="1"/>
          <p:nvPr/>
        </p:nvSpPr>
        <p:spPr>
          <a:xfrm>
            <a:off x="5886450" y="1982392"/>
            <a:ext cx="2057400" cy="3970318"/>
          </a:xfrm>
          <a:prstGeom prst="rect">
            <a:avLst/>
          </a:prstGeom>
          <a:solidFill>
            <a:schemeClr val="accent1">
              <a:lumMod val="20000"/>
              <a:lumOff val="80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050" dirty="0">
                <a:latin typeface="Consolas" panose="020B0609020204030204" pitchFamily="49" charset="0"/>
                <a:cs typeface="Consolas" panose="020B0609020204030204" pitchFamily="49" charset="0"/>
              </a:rPr>
              <a:t>    </a:t>
            </a:r>
            <a:r>
              <a:rPr lang="en-US" sz="1050" b="1" dirty="0">
                <a:latin typeface="Consolas" panose="020B0609020204030204" pitchFamily="49" charset="0"/>
                <a:cs typeface="Consolas" panose="020B0609020204030204" pitchFamily="49" charset="0"/>
              </a:rPr>
              <a:t>0.8000    0.8000</a:t>
            </a:r>
          </a:p>
          <a:p>
            <a:r>
              <a:rPr lang="en-US" sz="1050" b="1" dirty="0">
                <a:latin typeface="Consolas" panose="020B0609020204030204" pitchFamily="49" charset="0"/>
                <a:cs typeface="Consolas" panose="020B0609020204030204" pitchFamily="49" charset="0"/>
              </a:rPr>
              <a:t>    0.8000    0.9000</a:t>
            </a:r>
          </a:p>
          <a:p>
            <a:r>
              <a:rPr lang="en-US" sz="1050" b="1" dirty="0">
                <a:latin typeface="Consolas" panose="020B0609020204030204" pitchFamily="49" charset="0"/>
                <a:cs typeface="Consolas" panose="020B0609020204030204" pitchFamily="49" charset="0"/>
              </a:rPr>
              <a:t>    0.8000    1.0000</a:t>
            </a:r>
          </a:p>
          <a:p>
            <a:r>
              <a:rPr lang="en-US" sz="1050" b="1" dirty="0">
                <a:latin typeface="Consolas" panose="020B0609020204030204" pitchFamily="49" charset="0"/>
                <a:cs typeface="Consolas" panose="020B0609020204030204" pitchFamily="49" charset="0"/>
              </a:rPr>
              <a:t>    0.8000    1.1000</a:t>
            </a:r>
          </a:p>
          <a:p>
            <a:r>
              <a:rPr lang="en-US" sz="1050" b="1" dirty="0">
                <a:latin typeface="Consolas" panose="020B0609020204030204" pitchFamily="49" charset="0"/>
                <a:cs typeface="Consolas" panose="020B0609020204030204" pitchFamily="49" charset="0"/>
              </a:rPr>
              <a:t>    0.8000    1.2000</a:t>
            </a:r>
          </a:p>
          <a:p>
            <a:r>
              <a:rPr lang="en-US" sz="1050" b="1" dirty="0">
                <a:latin typeface="Consolas" panose="020B0609020204030204" pitchFamily="49" charset="0"/>
                <a:cs typeface="Consolas" panose="020B0609020204030204" pitchFamily="49" charset="0"/>
              </a:rPr>
              <a:t>    0.9000    0.8000</a:t>
            </a:r>
          </a:p>
          <a:p>
            <a:r>
              <a:rPr lang="en-US" sz="1050" b="1" dirty="0">
                <a:latin typeface="Consolas" panose="020B0609020204030204" pitchFamily="49" charset="0"/>
                <a:cs typeface="Consolas" panose="020B0609020204030204" pitchFamily="49" charset="0"/>
              </a:rPr>
              <a:t>    0.9000    0.9000</a:t>
            </a:r>
          </a:p>
          <a:p>
            <a:r>
              <a:rPr lang="en-US" sz="1050" b="1" dirty="0">
                <a:latin typeface="Consolas" panose="020B0609020204030204" pitchFamily="49" charset="0"/>
                <a:cs typeface="Consolas" panose="020B0609020204030204" pitchFamily="49" charset="0"/>
              </a:rPr>
              <a:t>    0.9000    1.0000</a:t>
            </a:r>
          </a:p>
          <a:p>
            <a:r>
              <a:rPr lang="en-US" sz="1050" b="1" dirty="0">
                <a:latin typeface="Consolas" panose="020B0609020204030204" pitchFamily="49" charset="0"/>
                <a:cs typeface="Consolas" panose="020B0609020204030204" pitchFamily="49" charset="0"/>
              </a:rPr>
              <a:t>    0.9000    1.1000</a:t>
            </a:r>
          </a:p>
          <a:p>
            <a:r>
              <a:rPr lang="en-US" sz="1050" b="1" dirty="0">
                <a:latin typeface="Consolas" panose="020B0609020204030204" pitchFamily="49" charset="0"/>
                <a:cs typeface="Consolas" panose="020B0609020204030204" pitchFamily="49" charset="0"/>
              </a:rPr>
              <a:t>    0.9000    1.2000</a:t>
            </a:r>
          </a:p>
          <a:p>
            <a:r>
              <a:rPr lang="en-US" sz="1050" b="1" dirty="0">
                <a:latin typeface="Consolas" panose="020B0609020204030204" pitchFamily="49" charset="0"/>
                <a:cs typeface="Consolas" panose="020B0609020204030204" pitchFamily="49" charset="0"/>
              </a:rPr>
              <a:t>    1.0000    0.8000</a:t>
            </a:r>
          </a:p>
          <a:p>
            <a:r>
              <a:rPr lang="en-US" sz="1050" b="1" dirty="0">
                <a:latin typeface="Consolas" panose="020B0609020204030204" pitchFamily="49" charset="0"/>
                <a:cs typeface="Consolas" panose="020B0609020204030204" pitchFamily="49" charset="0"/>
              </a:rPr>
              <a:t>    1.0000    0.9000</a:t>
            </a:r>
          </a:p>
          <a:p>
            <a:r>
              <a:rPr lang="en-US" sz="1050" b="1" dirty="0">
                <a:latin typeface="Consolas" panose="020B0609020204030204" pitchFamily="49" charset="0"/>
                <a:cs typeface="Consolas" panose="020B0609020204030204" pitchFamily="49" charset="0"/>
              </a:rPr>
              <a:t>    1.0000    1.1000</a:t>
            </a:r>
          </a:p>
          <a:p>
            <a:r>
              <a:rPr lang="en-US" sz="1050" b="1" dirty="0">
                <a:latin typeface="Consolas" panose="020B0609020204030204" pitchFamily="49" charset="0"/>
                <a:cs typeface="Consolas" panose="020B0609020204030204" pitchFamily="49" charset="0"/>
              </a:rPr>
              <a:t>    1.0000    1.2000</a:t>
            </a:r>
          </a:p>
          <a:p>
            <a:r>
              <a:rPr lang="en-US" sz="1050" b="1" dirty="0">
                <a:latin typeface="Consolas" panose="020B0609020204030204" pitchFamily="49" charset="0"/>
                <a:cs typeface="Consolas" panose="020B0609020204030204" pitchFamily="49" charset="0"/>
              </a:rPr>
              <a:t>    1.1000    0.8000</a:t>
            </a:r>
          </a:p>
          <a:p>
            <a:r>
              <a:rPr lang="en-US" sz="1050" b="1" dirty="0">
                <a:latin typeface="Consolas" panose="020B0609020204030204" pitchFamily="49" charset="0"/>
                <a:cs typeface="Consolas" panose="020B0609020204030204" pitchFamily="49" charset="0"/>
              </a:rPr>
              <a:t>    1.1000    0.9000</a:t>
            </a:r>
          </a:p>
          <a:p>
            <a:r>
              <a:rPr lang="en-US" sz="1050" b="1" dirty="0">
                <a:latin typeface="Consolas" panose="020B0609020204030204" pitchFamily="49" charset="0"/>
                <a:cs typeface="Consolas" panose="020B0609020204030204" pitchFamily="49" charset="0"/>
              </a:rPr>
              <a:t>    1.1000    1.0000</a:t>
            </a:r>
          </a:p>
          <a:p>
            <a:r>
              <a:rPr lang="en-US" sz="1050" b="1" dirty="0">
                <a:latin typeface="Consolas" panose="020B0609020204030204" pitchFamily="49" charset="0"/>
                <a:cs typeface="Consolas" panose="020B0609020204030204" pitchFamily="49" charset="0"/>
              </a:rPr>
              <a:t>    1.1000    1.1000</a:t>
            </a:r>
          </a:p>
          <a:p>
            <a:r>
              <a:rPr lang="en-US" sz="1050" b="1" dirty="0">
                <a:latin typeface="Consolas" panose="020B0609020204030204" pitchFamily="49" charset="0"/>
                <a:cs typeface="Consolas" panose="020B0609020204030204" pitchFamily="49" charset="0"/>
              </a:rPr>
              <a:t>    1.1000    1.2000</a:t>
            </a:r>
          </a:p>
          <a:p>
            <a:r>
              <a:rPr lang="en-US" sz="1050" b="1" dirty="0">
                <a:latin typeface="Consolas" panose="020B0609020204030204" pitchFamily="49" charset="0"/>
                <a:cs typeface="Consolas" panose="020B0609020204030204" pitchFamily="49" charset="0"/>
              </a:rPr>
              <a:t>    1.2000    0.8000</a:t>
            </a:r>
          </a:p>
          <a:p>
            <a:r>
              <a:rPr lang="en-US" sz="1050" b="1" dirty="0">
                <a:latin typeface="Consolas" panose="020B0609020204030204" pitchFamily="49" charset="0"/>
                <a:cs typeface="Consolas" panose="020B0609020204030204" pitchFamily="49" charset="0"/>
              </a:rPr>
              <a:t>    1.2000    0.9000</a:t>
            </a:r>
          </a:p>
          <a:p>
            <a:r>
              <a:rPr lang="en-US" sz="1050" b="1" dirty="0">
                <a:latin typeface="Consolas" panose="020B0609020204030204" pitchFamily="49" charset="0"/>
                <a:cs typeface="Consolas" panose="020B0609020204030204" pitchFamily="49" charset="0"/>
              </a:rPr>
              <a:t>    1.2000    1.0000</a:t>
            </a:r>
          </a:p>
          <a:p>
            <a:r>
              <a:rPr lang="en-US" sz="1050" b="1" dirty="0">
                <a:latin typeface="Consolas" panose="020B0609020204030204" pitchFamily="49" charset="0"/>
                <a:cs typeface="Consolas" panose="020B0609020204030204" pitchFamily="49" charset="0"/>
              </a:rPr>
              <a:t>    1.2000    1.1000</a:t>
            </a:r>
          </a:p>
          <a:p>
            <a:r>
              <a:rPr lang="en-US" sz="1050" b="1" dirty="0">
                <a:latin typeface="Consolas" panose="020B0609020204030204" pitchFamily="49" charset="0"/>
                <a:cs typeface="Consolas" panose="020B0609020204030204" pitchFamily="49" charset="0"/>
              </a:rPr>
              <a:t>    1.2000    1.2000</a:t>
            </a:r>
          </a:p>
        </p:txBody>
      </p:sp>
      <p:graphicFrame>
        <p:nvGraphicFramePr>
          <p:cNvPr id="3" name="Object 2" hidden="1"/>
          <p:cNvGraphicFramePr>
            <a:graphicFrameLocks noChangeAspect="1"/>
          </p:cNvGraphicFramePr>
          <p:nvPr>
            <p:extLst>
              <p:ext uri="{D42A27DB-BD31-4B8C-83A1-F6EECF244321}">
                <p14:modId xmlns:p14="http://schemas.microsoft.com/office/powerpoint/2010/main" val="1164569194"/>
              </p:ext>
            </p:extLst>
          </p:nvPr>
        </p:nvGraphicFramePr>
        <p:xfrm>
          <a:off x="2140611" y="2212096"/>
          <a:ext cx="3486150" cy="3487826"/>
        </p:xfrm>
        <a:graphic>
          <a:graphicData uri="http://schemas.openxmlformats.org/presentationml/2006/ole">
            <mc:AlternateContent xmlns:mc="http://schemas.openxmlformats.org/markup-compatibility/2006">
              <mc:Choice xmlns:v="urn:schemas-microsoft-com:vml" Requires="v">
                <p:oleObj name="Visio" r:id="rId3" imgW="3302645" imgH="3302811" progId="Visio.Drawing.11">
                  <p:embed/>
                </p:oleObj>
              </mc:Choice>
              <mc:Fallback>
                <p:oleObj name="Visio" r:id="rId3" imgW="3302645" imgH="3302811" progId="Visio.Drawing.1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611" y="2212096"/>
                        <a:ext cx="3486150" cy="3487826"/>
                      </a:xfrm>
                      <a:prstGeom prst="rect">
                        <a:avLst/>
                      </a:prstGeom>
                      <a:noFill/>
                      <a:ln>
                        <a:noFill/>
                      </a:ln>
                      <a:effectLst/>
                    </p:spPr>
                  </p:pic>
                </p:oleObj>
              </mc:Fallback>
            </mc:AlternateContent>
          </a:graphicData>
        </a:graphic>
      </p:graphicFrame>
      <p:sp>
        <p:nvSpPr>
          <p:cNvPr id="2" name="Text Placeholder 1">
            <a:extLst>
              <a:ext uri="{FF2B5EF4-FFF2-40B4-BE49-F238E27FC236}">
                <a16:creationId xmlns:a16="http://schemas.microsoft.com/office/drawing/2014/main" id="{A731E7B5-BF18-3DAC-95F4-A17F3C9724F1}"/>
              </a:ext>
            </a:extLst>
          </p:cNvPr>
          <p:cNvSpPr txBox="1">
            <a:spLocks/>
          </p:cNvSpPr>
          <p:nvPr/>
        </p:nvSpPr>
        <p:spPr>
          <a:xfrm>
            <a:off x="381000" y="450053"/>
            <a:ext cx="8055769" cy="1416050"/>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pPr marL="0" indent="0">
              <a:buNone/>
            </a:pPr>
            <a:r>
              <a:rPr lang="ro-RO" sz="2800" b="1" kern="0" dirty="0">
                <a:solidFill>
                  <a:schemeClr val="bg2"/>
                </a:solidFill>
                <a:latin typeface="+mj-lt"/>
              </a:rPr>
              <a:t>XI. </a:t>
            </a:r>
            <a:r>
              <a:rPr lang="en-US" sz="2800" b="1" dirty="0">
                <a:solidFill>
                  <a:schemeClr val="bg2"/>
                </a:solidFill>
              </a:rPr>
              <a:t>Hill Climbing – Neighbor Selection</a:t>
            </a:r>
            <a:endParaRPr lang="ro-RO" sz="2800" b="1" kern="0" dirty="0">
              <a:solidFill>
                <a:schemeClr val="bg2"/>
              </a:solidFill>
              <a:latin typeface="+mj-lt"/>
            </a:endParaRPr>
          </a:p>
        </p:txBody>
      </p:sp>
    </p:spTree>
    <p:extLst>
      <p:ext uri="{BB962C8B-B14F-4D97-AF65-F5344CB8AC3E}">
        <p14:creationId xmlns:p14="http://schemas.microsoft.com/office/powerpoint/2010/main" val="411184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dissolve">
                                      <p:cBhvr>
                                        <p:cTn id="12" dur="500"/>
                                        <p:tgtEl>
                                          <p:spTgt spid="14339">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animEffect transition="in" filter="dissolve">
                                      <p:cBhvr>
                                        <p:cTn id="15" dur="500"/>
                                        <p:tgtEl>
                                          <p:spTgt spid="14339">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4339">
                                            <p:txEl>
                                              <p:pRg st="3" end="3"/>
                                            </p:txEl>
                                          </p:spTgt>
                                        </p:tgtEl>
                                        <p:attrNameLst>
                                          <p:attrName>style.visibility</p:attrName>
                                        </p:attrNameLst>
                                      </p:cBhvr>
                                      <p:to>
                                        <p:strVal val="visible"/>
                                      </p:to>
                                    </p:set>
                                    <p:animEffect transition="in" filter="dissolve">
                                      <p:cBhvr>
                                        <p:cTn id="18" dur="500"/>
                                        <p:tgtEl>
                                          <p:spTgt spid="14339">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4339">
                                            <p:txEl>
                                              <p:pRg st="4" end="4"/>
                                            </p:txEl>
                                          </p:spTgt>
                                        </p:tgtEl>
                                        <p:attrNameLst>
                                          <p:attrName>style.visibility</p:attrName>
                                        </p:attrNameLst>
                                      </p:cBhvr>
                                      <p:to>
                                        <p:strVal val="visible"/>
                                      </p:to>
                                    </p:set>
                                    <p:animEffect transition="in" filter="dissolve">
                                      <p:cBhvr>
                                        <p:cTn id="21" dur="500"/>
                                        <p:tgtEl>
                                          <p:spTgt spid="1433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339">
                                            <p:txEl>
                                              <p:pRg st="6" end="6"/>
                                            </p:txEl>
                                          </p:spTgt>
                                        </p:tgtEl>
                                        <p:attrNameLst>
                                          <p:attrName>style.visibility</p:attrName>
                                        </p:attrNameLst>
                                      </p:cBhvr>
                                      <p:to>
                                        <p:strVal val="visible"/>
                                      </p:to>
                                    </p:set>
                                    <p:animEffect transition="in" filter="dissolve">
                                      <p:cBhvr>
                                        <p:cTn id="26" dur="500"/>
                                        <p:tgtEl>
                                          <p:spTgt spid="14339">
                                            <p:txEl>
                                              <p:pRg st="6" end="6"/>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4339">
                                            <p:txEl>
                                              <p:pRg st="7" end="7"/>
                                            </p:txEl>
                                          </p:spTgt>
                                        </p:tgtEl>
                                        <p:attrNameLst>
                                          <p:attrName>style.visibility</p:attrName>
                                        </p:attrNameLst>
                                      </p:cBhvr>
                                      <p:to>
                                        <p:strVal val="visible"/>
                                      </p:to>
                                    </p:set>
                                    <p:animEffect transition="in" filter="dissolve">
                                      <p:cBhvr>
                                        <p:cTn id="29" dur="500"/>
                                        <p:tgtEl>
                                          <p:spTgt spid="14339">
                                            <p:txEl>
                                              <p:pRg st="7" end="7"/>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4339">
                                            <p:txEl>
                                              <p:pRg st="8" end="8"/>
                                            </p:txEl>
                                          </p:spTgt>
                                        </p:tgtEl>
                                        <p:attrNameLst>
                                          <p:attrName>style.visibility</p:attrName>
                                        </p:attrNameLst>
                                      </p:cBhvr>
                                      <p:to>
                                        <p:strVal val="visible"/>
                                      </p:to>
                                    </p:set>
                                    <p:animEffect transition="in" filter="dissolve">
                                      <p:cBhvr>
                                        <p:cTn id="32" dur="500"/>
                                        <p:tgtEl>
                                          <p:spTgt spid="14339">
                                            <p:txEl>
                                              <p:pRg st="8" end="8"/>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339">
                                            <p:txEl>
                                              <p:pRg st="9" end="9"/>
                                            </p:txEl>
                                          </p:spTgt>
                                        </p:tgtEl>
                                        <p:attrNameLst>
                                          <p:attrName>style.visibility</p:attrName>
                                        </p:attrNameLst>
                                      </p:cBhvr>
                                      <p:to>
                                        <p:strVal val="visible"/>
                                      </p:to>
                                    </p:set>
                                    <p:animEffect transition="in" filter="dissolve">
                                      <p:cBhvr>
                                        <p:cTn id="35" dur="500"/>
                                        <p:tgtEl>
                                          <p:spTgt spid="14339">
                                            <p:txEl>
                                              <p:pRg st="9" end="9"/>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339">
                                            <p:txEl>
                                              <p:pRg st="10" end="10"/>
                                            </p:txEl>
                                          </p:spTgt>
                                        </p:tgtEl>
                                        <p:attrNameLst>
                                          <p:attrName>style.visibility</p:attrName>
                                        </p:attrNameLst>
                                      </p:cBhvr>
                                      <p:to>
                                        <p:strVal val="visible"/>
                                      </p:to>
                                    </p:set>
                                    <p:animEffect transition="in" filter="dissolve">
                                      <p:cBhvr>
                                        <p:cTn id="38" dur="500"/>
                                        <p:tgtEl>
                                          <p:spTgt spid="14339">
                                            <p:txEl>
                                              <p:pRg st="10" end="10"/>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4339">
                                            <p:txEl>
                                              <p:pRg st="11" end="11"/>
                                            </p:txEl>
                                          </p:spTgt>
                                        </p:tgtEl>
                                        <p:attrNameLst>
                                          <p:attrName>style.visibility</p:attrName>
                                        </p:attrNameLst>
                                      </p:cBhvr>
                                      <p:to>
                                        <p:strVal val="visible"/>
                                      </p:to>
                                    </p:set>
                                    <p:animEffect transition="in" filter="dissolve">
                                      <p:cBhvr>
                                        <p:cTn id="41" dur="500"/>
                                        <p:tgtEl>
                                          <p:spTgt spid="14339">
                                            <p:txEl>
                                              <p:pRg st="11" end="1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dissolv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339" name="Content Placeholder 6"/>
              <p:cNvSpPr>
                <a:spLocks noGrp="1"/>
              </p:cNvSpPr>
              <p:nvPr>
                <p:ph idx="1"/>
              </p:nvPr>
            </p:nvSpPr>
            <p:spPr/>
            <p:txBody>
              <a:bodyPr/>
              <a:lstStyle/>
              <a:p>
                <a14:m>
                  <m:oMath xmlns:m="http://schemas.openxmlformats.org/officeDocument/2006/math">
                    <m:r>
                      <a:rPr lang="ro-RO" sz="1500" i="1">
                        <a:latin typeface="Cambria Math"/>
                        <a:sym typeface="Wingdings" panose="05000000000000000000" pitchFamily="2" charset="2"/>
                      </a:rPr>
                      <m:t>𝑓</m:t>
                    </m:r>
                  </m:oMath>
                </a14:m>
                <a:r>
                  <a:rPr lang="ro-RO" sz="1500" dirty="0">
                    <a:sym typeface="Wingdings" panose="05000000000000000000" pitchFamily="2" charset="2"/>
                  </a:rPr>
                  <a:t> – </a:t>
                </a:r>
                <a:r>
                  <a:rPr lang="en-US" sz="1500" dirty="0">
                    <a:sym typeface="Wingdings" panose="05000000000000000000" pitchFamily="2" charset="2"/>
                  </a:rPr>
                  <a:t>function to be maximized</a:t>
                </a:r>
                <a:endParaRPr lang="ro-RO" sz="1500" dirty="0">
                  <a:sym typeface="Wingdings" panose="05000000000000000000" pitchFamily="2" charset="2"/>
                </a:endParaRPr>
              </a:p>
              <a:p>
                <a:endParaRPr lang="ro-RO" sz="1500" dirty="0">
                  <a:sym typeface="Wingdings" panose="05000000000000000000" pitchFamily="2" charset="2"/>
                </a:endParaRPr>
              </a:p>
              <a:p>
                <a:r>
                  <a:rPr lang="ro-RO" sz="1500" dirty="0">
                    <a:sym typeface="Wingdings" panose="05000000000000000000" pitchFamily="2" charset="2"/>
                  </a:rPr>
                  <a:t>MAX – nr. puncte de start</a:t>
                </a:r>
              </a:p>
              <a:p>
                <a:endParaRPr lang="ro-RO" sz="1500" dirty="0">
                  <a:sym typeface="Wingdings" panose="05000000000000000000" pitchFamily="2" charset="2"/>
                </a:endParaRPr>
              </a:p>
              <a:p>
                <a:r>
                  <a:rPr lang="ro-RO" sz="1500" dirty="0">
                    <a:sym typeface="Wingdings" panose="05000000000000000000" pitchFamily="2" charset="2"/>
                  </a:rPr>
                  <a:t>local – bloca</a:t>
                </a:r>
                <a:r>
                  <a:rPr lang="en-US" sz="1500" dirty="0">
                    <a:sym typeface="Wingdings" panose="05000000000000000000" pitchFamily="2" charset="2"/>
                  </a:rPr>
                  <a:t>t</a:t>
                </a:r>
                <a:r>
                  <a:rPr lang="ro-RO" sz="1500" dirty="0">
                    <a:sym typeface="Wingdings" panose="05000000000000000000" pitchFamily="2" charset="2"/>
                  </a:rPr>
                  <a:t> în maxim local? (adevărat / fals)</a:t>
                </a:r>
              </a:p>
              <a:p>
                <a:endParaRPr lang="ro-RO" sz="1500" dirty="0">
                  <a:sym typeface="Wingdings" panose="05000000000000000000" pitchFamily="2" charset="2"/>
                </a:endParaRPr>
              </a:p>
              <a:p>
                <a:r>
                  <a:rPr lang="ro-RO" sz="1500" dirty="0">
                    <a:sym typeface="Wingdings" panose="05000000000000000000" pitchFamily="2" charset="2"/>
                  </a:rPr>
                  <a:t>V – vector cu puncte finale</a:t>
                </a:r>
              </a:p>
              <a:p>
                <a:endParaRPr lang="ro-RO" sz="1500" dirty="0">
                  <a:sym typeface="Wingdings" panose="05000000000000000000" pitchFamily="2" charset="2"/>
                </a:endParaRPr>
              </a:p>
              <a:p>
                <a:r>
                  <a:rPr lang="ro-RO" sz="1500" dirty="0">
                    <a:sym typeface="Wingdings" panose="05000000000000000000" pitchFamily="2" charset="2"/>
                  </a:rPr>
                  <a:t>v – cel mai bun punct obținut</a:t>
                </a:r>
              </a:p>
              <a:p>
                <a:endParaRPr lang="ro-RO" sz="1500" dirty="0">
                  <a:sym typeface="Wingdings" panose="05000000000000000000" pitchFamily="2" charset="2"/>
                </a:endParaRPr>
              </a:p>
              <a:p>
                <a:r>
                  <a:rPr lang="ro-RO" sz="1500" dirty="0">
                    <a:sym typeface="Wingdings" panose="05000000000000000000" pitchFamily="2" charset="2"/>
                  </a:rPr>
                  <a:t>t – contor puncte</a:t>
                </a:r>
              </a:p>
            </p:txBody>
          </p:sp>
        </mc:Choice>
        <mc:Fallback>
          <p:sp>
            <p:nvSpPr>
              <p:cNvPr id="14339" name="Content Placeholder 6"/>
              <p:cNvSpPr>
                <a:spLocks noGrp="1" noRot="1" noChangeAspect="1" noMove="1" noResize="1" noEditPoints="1" noAdjustHandles="1" noChangeArrowheads="1" noChangeShapeType="1" noTextEdit="1"/>
              </p:cNvSpPr>
              <p:nvPr>
                <p:ph idx="1"/>
              </p:nvPr>
            </p:nvSpPr>
            <p:spPr>
              <a:blipFill>
                <a:blip r:embed="rId3"/>
                <a:stretch>
                  <a:fillRect t="-245"/>
                </a:stretch>
              </a:blipFill>
            </p:spPr>
            <p:txBody>
              <a:bodyPr/>
              <a:lstStyle/>
              <a:p>
                <a:r>
                  <a:rPr lang="en-US">
                    <a:noFill/>
                  </a:rPr>
                  <a:t> </a:t>
                </a:r>
              </a:p>
            </p:txBody>
          </p:sp>
        </mc:Fallback>
      </mc:AlternateContent>
      <p:sp>
        <p:nvSpPr>
          <p:cNvPr id="2" name="Rectangle 1"/>
          <p:cNvSpPr/>
          <p:nvPr/>
        </p:nvSpPr>
        <p:spPr>
          <a:xfrm>
            <a:off x="1143000" y="1963162"/>
            <a:ext cx="6858000" cy="4015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t=0</a:t>
            </a:r>
          </a:p>
          <a:p>
            <a:pPr>
              <a:buNone/>
            </a:pP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repe</a:t>
            </a:r>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at</a:t>
            </a:r>
            <a:endPar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endParaRPr>
          </a:p>
          <a:p>
            <a:pPr>
              <a:buNone/>
            </a:pP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local=fals</a:t>
            </a:r>
          </a:p>
          <a:p>
            <a:pPr>
              <a:buNone/>
            </a:pP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choose randomly a current point</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p>
          <a:p>
            <a:pPr>
              <a:buNone/>
            </a:pP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evalu</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ate</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repeat</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consider</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the points in the neighborhood of</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choose the point</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n</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with the highest function value</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if</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f(v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)&lt;f(v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n</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then</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=v</a:t>
            </a:r>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n</a:t>
            </a:r>
          </a:p>
          <a:p>
            <a:pPr marL="0" lvl="1"/>
            <a:r>
              <a:rPr lang="ro-RO" sz="1500" b="1" baseline="-25000"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else</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local=</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true</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until</a:t>
            </a:r>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local == </a:t>
            </a:r>
            <a:r>
              <a:rPr lang="en-US"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true</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t=t+1</a:t>
            </a:r>
          </a:p>
          <a:p>
            <a:pPr marL="0" lvl="1"/>
            <a:r>
              <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rPr>
              <a:t>  V(t)=</a:t>
            </a:r>
            <a:r>
              <a:rPr lang="ro-RO" sz="1500" b="1" dirty="0" err="1">
                <a:solidFill>
                  <a:srgbClr val="0000FF"/>
                </a:solidFill>
                <a:latin typeface="Courier New" panose="02070309020205020404" pitchFamily="49" charset="0"/>
                <a:cs typeface="Courier New" panose="02070309020205020404" pitchFamily="49" charset="0"/>
                <a:sym typeface="Wingdings" panose="05000000000000000000" pitchFamily="2" charset="2"/>
              </a:rPr>
              <a:t>v</a:t>
            </a:r>
            <a:r>
              <a:rPr lang="ro-RO" sz="1500" b="1" baseline="-25000" dirty="0" err="1">
                <a:solidFill>
                  <a:srgbClr val="0000FF"/>
                </a:solidFill>
                <a:latin typeface="Courier New" panose="02070309020205020404" pitchFamily="49" charset="0"/>
                <a:cs typeface="Courier New" panose="02070309020205020404" pitchFamily="49" charset="0"/>
                <a:sym typeface="Wingdings" panose="05000000000000000000" pitchFamily="2" charset="2"/>
              </a:rPr>
              <a:t>c</a:t>
            </a:r>
            <a:endParaRPr lang="ro-RO" sz="1500" b="1" dirty="0">
              <a:solidFill>
                <a:srgbClr val="0000FF"/>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until</a:t>
            </a: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t == MAX</a:t>
            </a:r>
          </a:p>
          <a:p>
            <a:pPr marL="0" lvl="1"/>
            <a:endPar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endParaRPr>
          </a:p>
          <a:p>
            <a:pPr marL="0" lvl="1"/>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choose</a:t>
            </a: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v </a:t>
            </a:r>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from</a:t>
            </a: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V </a:t>
            </a:r>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such that</a:t>
            </a: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f(v)&gt;=f(V(i)) </a:t>
            </a:r>
            <a:r>
              <a:rPr lang="en-US"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for all</a:t>
            </a:r>
            <a:r>
              <a:rPr lang="ro-RO" sz="1500" b="1" dirty="0">
                <a:solidFill>
                  <a:schemeClr val="tx1"/>
                </a:solidFill>
                <a:latin typeface="Courier New" panose="02070309020205020404" pitchFamily="49" charset="0"/>
                <a:cs typeface="Courier New" panose="02070309020205020404" pitchFamily="49" charset="0"/>
                <a:sym typeface="Wingdings" panose="05000000000000000000" pitchFamily="2" charset="2"/>
              </a:rPr>
              <a:t> i=1..MAX</a:t>
            </a:r>
          </a:p>
        </p:txBody>
      </p:sp>
      <p:sp>
        <p:nvSpPr>
          <p:cNvPr id="5" name="Text Placeholder 1">
            <a:extLst>
              <a:ext uri="{FF2B5EF4-FFF2-40B4-BE49-F238E27FC236}">
                <a16:creationId xmlns:a16="http://schemas.microsoft.com/office/drawing/2014/main" id="{FD785B26-66F7-71C1-D8DB-50A0BEA14DAA}"/>
              </a:ext>
            </a:extLst>
          </p:cNvPr>
          <p:cNvSpPr>
            <a:spLocks noGrp="1"/>
          </p:cNvSpPr>
          <p:nvPr>
            <p:ph type="body" sz="quarter" idx="13"/>
          </p:nvPr>
        </p:nvSpPr>
        <p:spPr>
          <a:xfrm>
            <a:off x="315499" y="88316"/>
            <a:ext cx="8055769" cy="1416050"/>
          </a:xfrm>
        </p:spPr>
        <p:txBody>
          <a:bodyPr/>
          <a:lstStyle/>
          <a:p>
            <a:r>
              <a:rPr lang="ro-RO" sz="2800" dirty="0">
                <a:solidFill>
                  <a:schemeClr val="bg2"/>
                </a:solidFill>
              </a:rPr>
              <a:t>XI. Hillclimbing</a:t>
            </a:r>
            <a:r>
              <a:rPr lang="en-US" sz="2800" dirty="0">
                <a:solidFill>
                  <a:schemeClr val="bg2"/>
                </a:solidFill>
              </a:rPr>
              <a:t> algorithm</a:t>
            </a:r>
            <a:r>
              <a:rPr lang="ro-RO" sz="2800" dirty="0">
                <a:solidFill>
                  <a:schemeClr val="bg2"/>
                </a:solidFill>
              </a:rPr>
              <a:t>. </a:t>
            </a:r>
            <a:r>
              <a:rPr lang="en-US" sz="2800" dirty="0">
                <a:solidFill>
                  <a:schemeClr val="bg2"/>
                </a:solidFill>
              </a:rPr>
              <a:t>General scheme</a:t>
            </a:r>
            <a:endParaRPr lang="ro-RO" sz="2800" dirty="0">
              <a:solidFill>
                <a:schemeClr val="bg2"/>
              </a:solidFill>
            </a:endParaRPr>
          </a:p>
        </p:txBody>
      </p:sp>
    </p:spTree>
    <p:extLst>
      <p:ext uri="{BB962C8B-B14F-4D97-AF65-F5344CB8AC3E}">
        <p14:creationId xmlns:p14="http://schemas.microsoft.com/office/powerpoint/2010/main" val="45583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dissolv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dissolv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dissolv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dissolv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dissolv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dissolv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dissolv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dissolve">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dissolve">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dissolve">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dissolve">
                                      <p:cBhvr>
                                        <p:cTn id="62" dur="500"/>
                                        <p:tgtEl>
                                          <p:spTgt spid="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2">
                                            <p:txEl>
                                              <p:pRg st="11" end="11"/>
                                            </p:txEl>
                                          </p:spTgt>
                                        </p:tgtEl>
                                        <p:attrNameLst>
                                          <p:attrName>style.visibility</p:attrName>
                                        </p:attrNameLst>
                                      </p:cBhvr>
                                      <p:to>
                                        <p:strVal val="visible"/>
                                      </p:to>
                                    </p:set>
                                    <p:animEffect transition="in" filter="dissolve">
                                      <p:cBhvr>
                                        <p:cTn id="67" dur="500"/>
                                        <p:tgtEl>
                                          <p:spTgt spid="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2">
                                            <p:txEl>
                                              <p:pRg st="12" end="12"/>
                                            </p:txEl>
                                          </p:spTgt>
                                        </p:tgtEl>
                                        <p:attrNameLst>
                                          <p:attrName>style.visibility</p:attrName>
                                        </p:attrNameLst>
                                      </p:cBhvr>
                                      <p:to>
                                        <p:strVal val="visible"/>
                                      </p:to>
                                    </p:set>
                                    <p:animEffect transition="in" filter="dissolve">
                                      <p:cBhvr>
                                        <p:cTn id="72" dur="500"/>
                                        <p:tgtEl>
                                          <p:spTgt spid="2">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2">
                                            <p:txEl>
                                              <p:pRg st="13" end="13"/>
                                            </p:txEl>
                                          </p:spTgt>
                                        </p:tgtEl>
                                        <p:attrNameLst>
                                          <p:attrName>style.visibility</p:attrName>
                                        </p:attrNameLst>
                                      </p:cBhvr>
                                      <p:to>
                                        <p:strVal val="visible"/>
                                      </p:to>
                                    </p:set>
                                    <p:animEffect transition="in" filter="dissolve">
                                      <p:cBhvr>
                                        <p:cTn id="77" dur="500"/>
                                        <p:tgtEl>
                                          <p:spTgt spid="2">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2">
                                            <p:txEl>
                                              <p:pRg st="14" end="14"/>
                                            </p:txEl>
                                          </p:spTgt>
                                        </p:tgtEl>
                                        <p:attrNameLst>
                                          <p:attrName>style.visibility</p:attrName>
                                        </p:attrNameLst>
                                      </p:cBhvr>
                                      <p:to>
                                        <p:strVal val="visible"/>
                                      </p:to>
                                    </p:set>
                                    <p:animEffect transition="in" filter="dissolve">
                                      <p:cBhvr>
                                        <p:cTn id="82" dur="500"/>
                                        <p:tgtEl>
                                          <p:spTgt spid="2">
                                            <p:txEl>
                                              <p:pRg st="14" end="1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2">
                                            <p:txEl>
                                              <p:pRg st="16" end="16"/>
                                            </p:txEl>
                                          </p:spTgt>
                                        </p:tgtEl>
                                        <p:attrNameLst>
                                          <p:attrName>style.visibility</p:attrName>
                                        </p:attrNameLst>
                                      </p:cBhvr>
                                      <p:to>
                                        <p:strVal val="visible"/>
                                      </p:to>
                                    </p:set>
                                    <p:animEffect transition="in" filter="dissolve">
                                      <p:cBhvr>
                                        <p:cTn id="87" dur="500"/>
                                        <p:tgtEl>
                                          <p:spTgt spid="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FC08CB-A00E-87FC-3B7C-070463091811}"/>
              </a:ext>
            </a:extLst>
          </p:cNvPr>
          <p:cNvPicPr>
            <a:picLocks noChangeAspect="1"/>
          </p:cNvPicPr>
          <p:nvPr/>
        </p:nvPicPr>
        <p:blipFill rotWithShape="1">
          <a:blip r:embed="rId3">
            <a:extLst>
              <a:ext uri="{28A0092B-C50C-407E-A947-70E740481C1C}">
                <a14:useLocalDpi xmlns:a14="http://schemas.microsoft.com/office/drawing/2010/main" val="0"/>
              </a:ext>
            </a:extLst>
          </a:blip>
          <a:srcRect l="5312" t="10233" r="6102" b="4726"/>
          <a:stretch/>
        </p:blipFill>
        <p:spPr>
          <a:xfrm>
            <a:off x="315499" y="2731340"/>
            <a:ext cx="4455354" cy="3207855"/>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48B2147-F7EC-BE1B-4DEB-34366D08FE80}"/>
                  </a:ext>
                </a:extLst>
              </p:cNvPr>
              <p:cNvSpPr txBox="1"/>
              <p:nvPr/>
            </p:nvSpPr>
            <p:spPr>
              <a:xfrm>
                <a:off x="4800600" y="1211739"/>
                <a:ext cx="3200400" cy="369332"/>
              </a:xfrm>
              <a:prstGeom prst="rect">
                <a:avLst/>
              </a:prstGeom>
              <a:noFill/>
            </p:spPr>
            <p:txBody>
              <a:bodyPr wrap="square" rtlCol="0">
                <a:spAutoFit/>
              </a:bodyPr>
              <a:lstStyle/>
              <a:p>
                <a:r>
                  <a:rPr lang="ro-RO" dirty="0">
                    <a:latin typeface="+mn-lt"/>
                  </a:rPr>
                  <a:t>S</a:t>
                </a:r>
                <a:r>
                  <a:rPr lang="en-US" dirty="0" err="1">
                    <a:latin typeface="+mn-lt"/>
                  </a:rPr>
                  <a:t>olution</a:t>
                </a:r>
                <a:r>
                  <a:rPr lang="en-US" dirty="0">
                    <a:latin typeface="+mn-lt"/>
                  </a:rPr>
                  <a:t> space</a:t>
                </a:r>
                <a:r>
                  <a:rPr lang="ro-RO" dirty="0">
                    <a:latin typeface="+mn-lt"/>
                  </a:rPr>
                  <a:t>:</a:t>
                </a:r>
                <a:r>
                  <a:rPr lang="ro-RO" dirty="0"/>
                  <a: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m:t>
                        </m:r>
                        <m:r>
                          <a:rPr lang="en-US" b="0" i="1" smtClean="0">
                            <a:latin typeface="Cambria Math" panose="02040503050406030204" pitchFamily="18" charset="0"/>
                          </a:rPr>
                          <m:t>, </m:t>
                        </m:r>
                        <m:r>
                          <a:rPr lang="en-US" b="0" i="1" smtClean="0">
                            <a:latin typeface="Cambria Math" panose="02040503050406030204" pitchFamily="18" charset="0"/>
                          </a:rPr>
                          <m:t>10</m:t>
                        </m:r>
                      </m:e>
                    </m:d>
                  </m:oMath>
                </a14:m>
                <a:endParaRPr lang="en-US" dirty="0"/>
              </a:p>
            </p:txBody>
          </p:sp>
        </mc:Choice>
        <mc:Fallback>
          <p:sp>
            <p:nvSpPr>
              <p:cNvPr id="6" name="TextBox 5">
                <a:extLst>
                  <a:ext uri="{FF2B5EF4-FFF2-40B4-BE49-F238E27FC236}">
                    <a16:creationId xmlns:a16="http://schemas.microsoft.com/office/drawing/2014/main" id="{D48B2147-F7EC-BE1B-4DEB-34366D08FE80}"/>
                  </a:ext>
                </a:extLst>
              </p:cNvPr>
              <p:cNvSpPr txBox="1">
                <a:spLocks noRot="1" noChangeAspect="1" noMove="1" noResize="1" noEditPoints="1" noAdjustHandles="1" noChangeArrowheads="1" noChangeShapeType="1" noTextEdit="1"/>
              </p:cNvSpPr>
              <p:nvPr/>
            </p:nvSpPr>
            <p:spPr>
              <a:xfrm>
                <a:off x="4800600" y="1211739"/>
                <a:ext cx="3200400" cy="369332"/>
              </a:xfrm>
              <a:prstGeom prst="rect">
                <a:avLst/>
              </a:prstGeom>
              <a:blipFill>
                <a:blip r:embed="rId4"/>
                <a:stretch>
                  <a:fillRect l="-1714" t="-11667"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B39F909-2809-F871-31D7-1F2F8CFBF835}"/>
                  </a:ext>
                </a:extLst>
              </p:cNvPr>
              <p:cNvSpPr txBox="1"/>
              <p:nvPr/>
            </p:nvSpPr>
            <p:spPr>
              <a:xfrm>
                <a:off x="321963" y="1551774"/>
                <a:ext cx="6917037" cy="5821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s-E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𝑠𝑖𝑛</m:t>
                      </m:r>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𝑥</m:t>
                              </m:r>
                            </m:num>
                            <m:den>
                              <m:r>
                                <a:rPr lang="es-ES" i="1">
                                  <a:latin typeface="Cambria Math" panose="02040503050406030204" pitchFamily="18" charset="0"/>
                                </a:rPr>
                                <m:t>3</m:t>
                              </m:r>
                            </m:den>
                          </m:f>
                        </m:e>
                      </m:d>
                      <m:r>
                        <a:rPr lang="en-US" b="0" i="1" smtClean="0">
                          <a:latin typeface="Cambria Math" panose="02040503050406030204" pitchFamily="18" charset="0"/>
                        </a:rPr>
                        <m:t>+</m:t>
                      </m:r>
                      <m:sSup>
                        <m:sSupPr>
                          <m:ctrlPr>
                            <a:rPr lang="es-E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3</m:t>
                          </m:r>
                        </m:sup>
                      </m:sSup>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𝑐𝑜𝑠</m:t>
                      </m:r>
                      <m:d>
                        <m:dPr>
                          <m:ctrlPr>
                            <a:rPr lang="es-ES" i="1">
                              <a:latin typeface="Cambria Math" panose="02040503050406030204" pitchFamily="18" charset="0"/>
                            </a:rPr>
                          </m:ctrlPr>
                        </m:dPr>
                        <m:e>
                          <m:r>
                            <a:rPr lang="es-ES" i="1">
                              <a:latin typeface="Cambria Math" panose="02040503050406030204" pitchFamily="18" charset="0"/>
                            </a:rPr>
                            <m:t>2</m:t>
                          </m:r>
                          <m:r>
                            <a:rPr lang="es-ES" i="1">
                              <a:latin typeface="Cambria Math" panose="02040503050406030204" pitchFamily="18" charset="0"/>
                            </a:rPr>
                            <m:t>∗</m:t>
                          </m:r>
                          <m:r>
                            <a:rPr lang="es-ES" i="1">
                              <a:latin typeface="Cambria Math" panose="02040503050406030204" pitchFamily="18" charset="0"/>
                            </a:rPr>
                            <m:t>𝑥</m:t>
                          </m:r>
                        </m:e>
                      </m:d>
                      <m:r>
                        <a:rPr lang="en-US" b="0" i="1" smtClean="0">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𝑠𝑖𝑛</m:t>
                      </m:r>
                      <m:r>
                        <a:rPr lang="es-ES" i="1">
                          <a:latin typeface="Cambria Math" panose="02040503050406030204" pitchFamily="18" charset="0"/>
                        </a:rPr>
                        <m:t>(</m:t>
                      </m:r>
                      <m:r>
                        <a:rPr lang="es-ES" i="1">
                          <a:latin typeface="Cambria Math" panose="02040503050406030204" pitchFamily="18" charset="0"/>
                        </a:rPr>
                        <m:t>3</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 + </m:t>
                      </m:r>
                      <m:r>
                        <a:rPr lang="es-ES" i="1">
                          <a:latin typeface="Cambria Math" panose="02040503050406030204" pitchFamily="18" charset="0"/>
                        </a:rPr>
                        <m:t>𝑥</m:t>
                      </m:r>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𝑐𝑜𝑠</m:t>
                      </m:r>
                      <m:r>
                        <a:rPr lang="es-ES" i="1">
                          <a:latin typeface="Cambria Math" panose="02040503050406030204" pitchFamily="18" charset="0"/>
                        </a:rPr>
                        <m:t>(</m:t>
                      </m:r>
                      <m:r>
                        <a:rPr lang="es-ES" i="1">
                          <a:latin typeface="Cambria Math" panose="02040503050406030204" pitchFamily="18" charset="0"/>
                        </a:rPr>
                        <m:t>𝑥</m:t>
                      </m:r>
                      <m:r>
                        <a:rPr lang="es-ES" i="1">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0B39F909-2809-F871-31D7-1F2F8CFBF835}"/>
                  </a:ext>
                </a:extLst>
              </p:cNvPr>
              <p:cNvSpPr txBox="1">
                <a:spLocks noRot="1" noChangeAspect="1" noMove="1" noResize="1" noEditPoints="1" noAdjustHandles="1" noChangeArrowheads="1" noChangeShapeType="1" noTextEdit="1"/>
              </p:cNvSpPr>
              <p:nvPr/>
            </p:nvSpPr>
            <p:spPr>
              <a:xfrm>
                <a:off x="321963" y="1551774"/>
                <a:ext cx="6917037" cy="58214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5102F9B-EC87-3340-A5BB-035CF9F22A04}"/>
                  </a:ext>
                </a:extLst>
              </p:cNvPr>
              <p:cNvSpPr txBox="1"/>
              <p:nvPr/>
            </p:nvSpPr>
            <p:spPr>
              <a:xfrm>
                <a:off x="315499" y="1204117"/>
                <a:ext cx="1531167"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 </m:t>
                      </m:r>
                      <m:r>
                        <a:rPr lang="en-US" b="0" i="1" smtClean="0">
                          <a:latin typeface="Cambria Math" panose="02040503050406030204" pitchFamily="18" charset="0"/>
                        </a:rPr>
                        <m:t>10</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m:oMathPara>
                </a14:m>
                <a:endParaRPr lang="en-US" dirty="0"/>
              </a:p>
            </p:txBody>
          </p:sp>
        </mc:Choice>
        <mc:Fallback xmlns="">
          <p:sp>
            <p:nvSpPr>
              <p:cNvPr id="8" name="TextBox 7">
                <a:extLst>
                  <a:ext uri="{FF2B5EF4-FFF2-40B4-BE49-F238E27FC236}">
                    <a16:creationId xmlns:a16="http://schemas.microsoft.com/office/drawing/2014/main" id="{A5102F9B-EC87-3340-A5BB-035CF9F22A04}"/>
                  </a:ext>
                </a:extLst>
              </p:cNvPr>
              <p:cNvSpPr txBox="1">
                <a:spLocks noRot="1" noChangeAspect="1" noMove="1" noResize="1" noEditPoints="1" noAdjustHandles="1" noChangeArrowheads="1" noChangeShapeType="1" noTextEdit="1"/>
              </p:cNvSpPr>
              <p:nvPr/>
            </p:nvSpPr>
            <p:spPr>
              <a:xfrm>
                <a:off x="315499" y="1204117"/>
                <a:ext cx="1531167" cy="369332"/>
              </a:xfrm>
              <a:prstGeom prst="rect">
                <a:avLst/>
              </a:prstGeom>
              <a:blipFill>
                <a:blip r:embed="rId6"/>
                <a:stretch>
                  <a:fillRect l="-1195" b="-1666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7F89080-BF91-13E8-532D-6460C9C073A6}"/>
              </a:ext>
            </a:extLst>
          </p:cNvPr>
          <p:cNvSpPr txBox="1"/>
          <p:nvPr/>
        </p:nvSpPr>
        <p:spPr>
          <a:xfrm>
            <a:off x="1028699" y="2186409"/>
            <a:ext cx="3543301" cy="492443"/>
          </a:xfrm>
          <a:prstGeom prst="rect">
            <a:avLst/>
          </a:prstGeom>
          <a:noFill/>
        </p:spPr>
        <p:txBody>
          <a:bodyPr wrap="square" lIns="0" tIns="0" rIns="0" bIns="0" rtlCol="0">
            <a:spAutoFit/>
          </a:bodyPr>
          <a:lstStyle/>
          <a:p>
            <a:pPr algn="ctr"/>
            <a:r>
              <a:rPr lang="en-US" sz="1600" dirty="0" err="1">
                <a:latin typeface="+mn-lt"/>
              </a:rPr>
              <a:t>Hillclimbing</a:t>
            </a:r>
            <a:r>
              <a:rPr lang="en-US" sz="1600" dirty="0">
                <a:latin typeface="+mn-lt"/>
              </a:rPr>
              <a:t>, 30 initial points</a:t>
            </a:r>
            <a:r>
              <a:rPr lang="ro-RO" sz="1600" dirty="0">
                <a:latin typeface="+mn-lt"/>
              </a:rPr>
              <a:t> </a:t>
            </a:r>
          </a:p>
          <a:p>
            <a:pPr algn="ctr"/>
            <a:r>
              <a:rPr lang="ro-RO" sz="1600" dirty="0">
                <a:latin typeface="+mn-lt"/>
              </a:rPr>
              <a:t>(</a:t>
            </a:r>
            <a:r>
              <a:rPr lang="en-US" sz="1600" dirty="0">
                <a:latin typeface="+mn-lt"/>
              </a:rPr>
              <a:t>neighbors, equal distances</a:t>
            </a:r>
            <a:r>
              <a:rPr lang="ro-RO" sz="1600" dirty="0">
                <a:latin typeface="+mn-lt"/>
              </a:rPr>
              <a:t>)</a:t>
            </a:r>
          </a:p>
        </p:txBody>
      </p:sp>
      <p:pic>
        <p:nvPicPr>
          <p:cNvPr id="10" name="Picture 9">
            <a:extLst>
              <a:ext uri="{FF2B5EF4-FFF2-40B4-BE49-F238E27FC236}">
                <a16:creationId xmlns:a16="http://schemas.microsoft.com/office/drawing/2014/main" id="{40535E33-33AF-143F-486E-36034588D9A0}"/>
              </a:ext>
            </a:extLst>
          </p:cNvPr>
          <p:cNvPicPr>
            <a:picLocks noChangeAspect="1"/>
          </p:cNvPicPr>
          <p:nvPr/>
        </p:nvPicPr>
        <p:blipFill rotWithShape="1">
          <a:blip r:embed="rId7">
            <a:extLst>
              <a:ext uri="{28A0092B-C50C-407E-A947-70E740481C1C}">
                <a14:useLocalDpi xmlns:a14="http://schemas.microsoft.com/office/drawing/2010/main" val="0"/>
              </a:ext>
            </a:extLst>
          </a:blip>
          <a:srcRect l="5903" t="11023" r="5512" b="4724"/>
          <a:stretch/>
        </p:blipFill>
        <p:spPr>
          <a:xfrm>
            <a:off x="4679347" y="2769649"/>
            <a:ext cx="4464653" cy="3184786"/>
          </a:xfrm>
          <a:prstGeom prst="rect">
            <a:avLst/>
          </a:prstGeom>
        </p:spPr>
      </p:pic>
      <p:sp>
        <p:nvSpPr>
          <p:cNvPr id="11" name="TextBox 10">
            <a:extLst>
              <a:ext uri="{FF2B5EF4-FFF2-40B4-BE49-F238E27FC236}">
                <a16:creationId xmlns:a16="http://schemas.microsoft.com/office/drawing/2014/main" id="{4E959CB4-18AC-BA87-CB4A-C387DFFD5D62}"/>
              </a:ext>
            </a:extLst>
          </p:cNvPr>
          <p:cNvSpPr txBox="1"/>
          <p:nvPr/>
        </p:nvSpPr>
        <p:spPr>
          <a:xfrm>
            <a:off x="5181600" y="2186409"/>
            <a:ext cx="3600450" cy="492443"/>
          </a:xfrm>
          <a:prstGeom prst="rect">
            <a:avLst/>
          </a:prstGeom>
          <a:noFill/>
        </p:spPr>
        <p:txBody>
          <a:bodyPr wrap="square" lIns="0" tIns="0" rIns="0" bIns="0" rtlCol="0">
            <a:spAutoFit/>
          </a:bodyPr>
          <a:lstStyle/>
          <a:p>
            <a:pPr algn="ctr"/>
            <a:r>
              <a:rPr lang="en-US" sz="1600" dirty="0" err="1">
                <a:latin typeface="+mn-lt"/>
              </a:rPr>
              <a:t>Hillclimbing</a:t>
            </a:r>
            <a:r>
              <a:rPr lang="en-US" sz="1600" dirty="0">
                <a:latin typeface="+mn-lt"/>
              </a:rPr>
              <a:t>, </a:t>
            </a:r>
            <a:r>
              <a:rPr lang="ro-RO" sz="1600" dirty="0">
                <a:latin typeface="+mn-lt"/>
              </a:rPr>
              <a:t>1</a:t>
            </a:r>
            <a:r>
              <a:rPr lang="en-US" sz="1600" dirty="0">
                <a:latin typeface="+mn-lt"/>
              </a:rPr>
              <a:t>0 initial points</a:t>
            </a:r>
            <a:r>
              <a:rPr lang="ro-RO" sz="1600" dirty="0">
                <a:latin typeface="+mn-lt"/>
              </a:rPr>
              <a:t> </a:t>
            </a:r>
          </a:p>
          <a:p>
            <a:pPr algn="ctr"/>
            <a:r>
              <a:rPr lang="ro-RO" sz="1600" dirty="0">
                <a:latin typeface="+mn-lt"/>
              </a:rPr>
              <a:t>(</a:t>
            </a:r>
            <a:r>
              <a:rPr lang="en-US" sz="1600" dirty="0">
                <a:latin typeface="+mn-lt"/>
              </a:rPr>
              <a:t>neighbors at</a:t>
            </a:r>
            <a:r>
              <a:rPr lang="ro-RO" sz="1600" dirty="0">
                <a:latin typeface="+mn-lt"/>
              </a:rPr>
              <a:t> 1 bit)</a:t>
            </a:r>
          </a:p>
        </p:txBody>
      </p:sp>
      <p:sp>
        <p:nvSpPr>
          <p:cNvPr id="4" name="Text Placeholder 1">
            <a:extLst>
              <a:ext uri="{FF2B5EF4-FFF2-40B4-BE49-F238E27FC236}">
                <a16:creationId xmlns:a16="http://schemas.microsoft.com/office/drawing/2014/main" id="{E8799F9C-AB9D-29FB-CA98-63F32410C8A9}"/>
              </a:ext>
            </a:extLst>
          </p:cNvPr>
          <p:cNvSpPr>
            <a:spLocks noGrp="1"/>
          </p:cNvSpPr>
          <p:nvPr>
            <p:ph type="body" sz="quarter" idx="13"/>
          </p:nvPr>
        </p:nvSpPr>
        <p:spPr>
          <a:xfrm>
            <a:off x="335819" y="5080"/>
            <a:ext cx="8055769" cy="1416050"/>
          </a:xfrm>
        </p:spPr>
        <p:txBody>
          <a:bodyPr/>
          <a:lstStyle/>
          <a:p>
            <a:r>
              <a:rPr lang="ro-RO" sz="2800" dirty="0">
                <a:solidFill>
                  <a:schemeClr val="bg2"/>
                </a:solidFill>
              </a:rPr>
              <a:t>XI. </a:t>
            </a:r>
            <a:r>
              <a:rPr lang="en-US" sz="2800" dirty="0" err="1">
                <a:solidFill>
                  <a:schemeClr val="bg2"/>
                </a:solidFill>
              </a:rPr>
              <a:t>Hillclimbing</a:t>
            </a:r>
            <a:r>
              <a:rPr lang="en-US" sz="2800" dirty="0">
                <a:solidFill>
                  <a:schemeClr val="bg2"/>
                </a:solidFill>
              </a:rPr>
              <a:t> algorithm. Examples</a:t>
            </a:r>
            <a:endParaRPr lang="ro-RO" sz="2800" dirty="0">
              <a:solidFill>
                <a:schemeClr val="bg2"/>
              </a:solidFill>
            </a:endParaRPr>
          </a:p>
        </p:txBody>
      </p:sp>
    </p:spTree>
    <p:extLst>
      <p:ext uri="{BB962C8B-B14F-4D97-AF65-F5344CB8AC3E}">
        <p14:creationId xmlns:p14="http://schemas.microsoft.com/office/powerpoint/2010/main" val="891039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339" name="Content Placeholder 6"/>
              <p:cNvSpPr>
                <a:spLocks noGrp="1"/>
              </p:cNvSpPr>
              <p:nvPr>
                <p:ph idx="1"/>
              </p:nvPr>
            </p:nvSpPr>
            <p:spPr/>
            <p:txBody>
              <a:bodyPr/>
              <a:lstStyle/>
              <a:p>
                <a:r>
                  <a:rPr lang="vi-VN" dirty="0">
                    <a:sym typeface="Wingdings" panose="05000000000000000000" pitchFamily="2" charset="2"/>
                  </a:rPr>
                  <a:t>Ex</a:t>
                </a:r>
                <a:r>
                  <a:rPr lang="en-US" dirty="0">
                    <a:sym typeface="Wingdings" panose="05000000000000000000" pitchFamily="2" charset="2"/>
                  </a:rPr>
                  <a:t>ample</a:t>
                </a:r>
                <a:r>
                  <a:rPr lang="vi-VN" dirty="0">
                    <a:sym typeface="Wingdings" panose="05000000000000000000" pitchFamily="2" charset="2"/>
                  </a:rPr>
                  <a:t>: maximi</a:t>
                </a:r>
                <a:r>
                  <a:rPr lang="en-US" dirty="0">
                    <a:sym typeface="Wingdings" panose="05000000000000000000" pitchFamily="2" charset="2"/>
                  </a:rPr>
                  <a:t>ze</a:t>
                </a:r>
                <a:r>
                  <a:rPr lang="vi-VN" dirty="0">
                    <a:sym typeface="Wingdings" panose="05000000000000000000" pitchFamily="2" charset="2"/>
                  </a:rPr>
                  <a:t> </a:t>
                </a:r>
                <a14:m>
                  <m:oMath xmlns:m="http://schemas.openxmlformats.org/officeDocument/2006/math">
                    <m:r>
                      <a:rPr lang="ro-RO" i="1">
                        <a:latin typeface="Cambria Math"/>
                      </a:rPr>
                      <m:t>𝑓</m:t>
                    </m:r>
                    <m:r>
                      <a:rPr lang="ro-RO" i="1">
                        <a:latin typeface="Cambria Math"/>
                      </a:rPr>
                      <m:t>:</m:t>
                    </m:r>
                    <m:d>
                      <m:dPr>
                        <m:begChr m:val="["/>
                        <m:endChr m:val="]"/>
                        <m:ctrlPr>
                          <a:rPr lang="en-US" i="1">
                            <a:latin typeface="Cambria Math" panose="02040503050406030204" pitchFamily="18" charset="0"/>
                          </a:rPr>
                        </m:ctrlPr>
                      </m:dPr>
                      <m:e>
                        <m:r>
                          <a:rPr lang="ro-RO" i="1">
                            <a:latin typeface="Cambria Math"/>
                          </a:rPr>
                          <m:t>−</m:t>
                        </m:r>
                        <m:r>
                          <a:rPr lang="ro-RO" i="1">
                            <a:latin typeface="Cambria Math"/>
                          </a:rPr>
                          <m:t>2</m:t>
                        </m:r>
                        <m:r>
                          <a:rPr lang="ro-RO" i="1">
                            <a:latin typeface="Cambria Math"/>
                          </a:rPr>
                          <m:t>,</m:t>
                        </m:r>
                        <m:r>
                          <a:rPr lang="ro-RO" i="1">
                            <a:latin typeface="Cambria Math"/>
                          </a:rPr>
                          <m:t>2</m:t>
                        </m:r>
                      </m:e>
                    </m:d>
                    <m:r>
                      <a:rPr lang="ro-RO" i="1">
                        <a:latin typeface="Cambria Math"/>
                      </a:rPr>
                      <m:t>×</m:t>
                    </m:r>
                    <m:d>
                      <m:dPr>
                        <m:begChr m:val="["/>
                        <m:endChr m:val="]"/>
                        <m:ctrlPr>
                          <a:rPr lang="en-US" i="1">
                            <a:latin typeface="Cambria Math" panose="02040503050406030204" pitchFamily="18" charset="0"/>
                          </a:rPr>
                        </m:ctrlPr>
                      </m:dPr>
                      <m:e>
                        <m:r>
                          <a:rPr lang="ro-RO" i="1">
                            <a:latin typeface="Cambria Math"/>
                          </a:rPr>
                          <m:t>−</m:t>
                        </m:r>
                        <m:r>
                          <a:rPr lang="ro-RO" i="1">
                            <a:latin typeface="Cambria Math"/>
                          </a:rPr>
                          <m:t>2</m:t>
                        </m:r>
                        <m:r>
                          <a:rPr lang="ro-RO" i="1">
                            <a:latin typeface="Cambria Math"/>
                          </a:rPr>
                          <m:t>,</m:t>
                        </m:r>
                        <m:r>
                          <a:rPr lang="ro-RO" i="1">
                            <a:latin typeface="Cambria Math"/>
                          </a:rPr>
                          <m:t>2</m:t>
                        </m:r>
                      </m:e>
                    </m:d>
                    <m:r>
                      <a:rPr lang="ro-RO" i="1">
                        <a:latin typeface="Cambria Math"/>
                      </a:rPr>
                      <m:t>→</m:t>
                    </m:r>
                    <m:r>
                      <a:rPr lang="ro-RO" i="1">
                        <a:latin typeface="Cambria Math"/>
                      </a:rPr>
                      <m:t>ℝ</m:t>
                    </m:r>
                  </m:oMath>
                </a14:m>
                <a:r>
                  <a:rPr lang="ro-RO" dirty="0">
                    <a:sym typeface="Wingdings" panose="05000000000000000000" pitchFamily="2" charset="2"/>
                  </a:rPr>
                  <a:t>, </a:t>
                </a:r>
                <a:r>
                  <a:rPr lang="en-US" dirty="0">
                    <a:sym typeface="Wingdings" panose="05000000000000000000" pitchFamily="2" charset="2"/>
                  </a:rPr>
                  <a:t>defined by</a:t>
                </a:r>
                <a:endParaRPr lang="vi-VN" dirty="0">
                  <a:sym typeface="Wingdings" panose="05000000000000000000" pitchFamily="2" charset="2"/>
                </a:endParaRPr>
              </a:p>
              <a:p>
                <a:pPr marL="89297" indent="0" algn="ctr">
                  <a:buNone/>
                </a:pPr>
                <a14:m>
                  <m:oMathPara xmlns:m="http://schemas.openxmlformats.org/officeDocument/2006/math">
                    <m:oMathParaPr>
                      <m:jc m:val="centerGroup"/>
                    </m:oMathParaPr>
                    <m:oMath xmlns:m="http://schemas.openxmlformats.org/officeDocument/2006/math">
                      <m:r>
                        <a:rPr lang="ro-RO" i="1">
                          <a:latin typeface="Cambria Math"/>
                        </a:rPr>
                        <m:t>𝑓</m:t>
                      </m:r>
                      <m:d>
                        <m:dPr>
                          <m:ctrlPr>
                            <a:rPr lang="en-US" i="1">
                              <a:latin typeface="Cambria Math" panose="02040503050406030204" pitchFamily="18" charset="0"/>
                            </a:rPr>
                          </m:ctrlPr>
                        </m:dPr>
                        <m:e>
                          <m:r>
                            <a:rPr lang="ro-RO" i="1">
                              <a:latin typeface="Cambria Math"/>
                            </a:rPr>
                            <m:t>𝑥</m:t>
                          </m:r>
                          <m:r>
                            <a:rPr lang="ro-RO" i="1">
                              <a:latin typeface="Cambria Math"/>
                            </a:rPr>
                            <m:t>,</m:t>
                          </m:r>
                          <m:r>
                            <a:rPr lang="ro-RO" i="1">
                              <a:latin typeface="Cambria Math"/>
                            </a:rPr>
                            <m:t>𝑦</m:t>
                          </m:r>
                        </m:e>
                      </m:d>
                      <m:r>
                        <a:rPr lang="ro-RO" i="1">
                          <a:latin typeface="Cambria Math"/>
                        </a:rPr>
                        <m:t>=</m:t>
                      </m:r>
                      <m:r>
                        <a:rPr lang="ro-RO" i="1">
                          <a:latin typeface="Cambria Math"/>
                        </a:rPr>
                        <m:t>𝑒𝑥𝑝</m:t>
                      </m:r>
                      <m:d>
                        <m:dPr>
                          <m:ctrlPr>
                            <a:rPr lang="en-US" i="1">
                              <a:latin typeface="Cambria Math" panose="02040503050406030204" pitchFamily="18" charset="0"/>
                            </a:rPr>
                          </m:ctrlPr>
                        </m:dPr>
                        <m:e>
                          <m:r>
                            <a:rPr lang="en-US" i="1">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i="1">
                              <a:latin typeface="Cambria Math"/>
                            </a:rPr>
                            <m:t>−</m:t>
                          </m:r>
                          <m:sSup>
                            <m:sSupPr>
                              <m:ctrlPr>
                                <a:rPr lang="en-US" i="1">
                                  <a:latin typeface="Cambria Math" panose="02040503050406030204" pitchFamily="18" charset="0"/>
                                </a:rPr>
                              </m:ctrlPr>
                            </m:sSupPr>
                            <m:e>
                              <m:r>
                                <a:rPr lang="en-US" i="1">
                                  <a:latin typeface="Cambria Math"/>
                                </a:rPr>
                                <m:t>𝑦</m:t>
                              </m:r>
                            </m:e>
                            <m:sup>
                              <m:r>
                                <a:rPr lang="en-US" i="1">
                                  <a:latin typeface="Cambria Math"/>
                                </a:rPr>
                                <m:t>2</m:t>
                              </m:r>
                            </m:sup>
                          </m:sSup>
                        </m:e>
                      </m:d>
                      <m:r>
                        <a:rPr lang="ro-RO" i="1">
                          <a:latin typeface="Cambria Math"/>
                        </a:rPr>
                        <m:t>+</m:t>
                      </m:r>
                      <m:r>
                        <a:rPr lang="ro-RO" i="1">
                          <a:latin typeface="Cambria Math"/>
                        </a:rPr>
                        <m:t>𝑦</m:t>
                      </m:r>
                      <m:r>
                        <a:rPr lang="ro-RO" i="1">
                          <a:latin typeface="Cambria Math"/>
                        </a:rPr>
                        <m:t>∗</m:t>
                      </m:r>
                      <m:r>
                        <a:rPr lang="ro-RO" i="1">
                          <a:latin typeface="Cambria Math"/>
                        </a:rPr>
                        <m:t>𝑐𝑜𝑠</m:t>
                      </m:r>
                      <m:d>
                        <m:dPr>
                          <m:ctrlPr>
                            <a:rPr lang="en-US" i="1">
                              <a:latin typeface="Cambria Math" panose="02040503050406030204" pitchFamily="18" charset="0"/>
                            </a:rPr>
                          </m:ctrlPr>
                        </m:dPr>
                        <m:e>
                          <m:r>
                            <a:rPr lang="ro-RO" i="1">
                              <a:latin typeface="Cambria Math"/>
                            </a:rPr>
                            <m:t>5</m:t>
                          </m:r>
                          <m:r>
                            <a:rPr lang="ro-RO" i="1">
                              <a:latin typeface="Cambria Math"/>
                            </a:rPr>
                            <m:t>𝑥</m:t>
                          </m:r>
                        </m:e>
                      </m:d>
                      <m:r>
                        <a:rPr lang="ro-RO" i="1">
                          <a:latin typeface="Cambria Math"/>
                        </a:rPr>
                        <m:t>−</m:t>
                      </m:r>
                      <m:r>
                        <a:rPr lang="ro-RO" i="1">
                          <a:latin typeface="Cambria Math"/>
                        </a:rPr>
                        <m:t>𝑥</m:t>
                      </m:r>
                      <m:r>
                        <a:rPr lang="ro-RO" i="1">
                          <a:latin typeface="Cambria Math"/>
                        </a:rPr>
                        <m:t>∗</m:t>
                      </m:r>
                      <m:r>
                        <a:rPr lang="ro-RO" i="1">
                          <a:latin typeface="Cambria Math"/>
                        </a:rPr>
                        <m:t>𝑠𝑖𝑛</m:t>
                      </m:r>
                      <m:d>
                        <m:dPr>
                          <m:ctrlPr>
                            <a:rPr lang="en-US" i="1">
                              <a:latin typeface="Cambria Math" panose="02040503050406030204" pitchFamily="18" charset="0"/>
                            </a:rPr>
                          </m:ctrlPr>
                        </m:dPr>
                        <m:e>
                          <m:r>
                            <a:rPr lang="ro-RO" i="1">
                              <a:latin typeface="Cambria Math"/>
                            </a:rPr>
                            <m:t>3</m:t>
                          </m:r>
                          <m:r>
                            <a:rPr lang="ro-RO" i="1">
                              <a:latin typeface="Cambria Math"/>
                            </a:rPr>
                            <m:t>𝑦</m:t>
                          </m:r>
                        </m:e>
                      </m:d>
                      <m:r>
                        <a:rPr lang="ro-RO" i="1">
                          <a:latin typeface="Cambria Math"/>
                        </a:rPr>
                        <m:t> </m:t>
                      </m:r>
                    </m:oMath>
                  </m:oMathPara>
                </a14:m>
                <a:endParaRPr lang="ro-RO" dirty="0">
                  <a:sym typeface="Wingdings" panose="05000000000000000000" pitchFamily="2" charset="2"/>
                </a:endParaRPr>
              </a:p>
              <a:p>
                <a:pPr marL="89297" indent="0" algn="ctr">
                  <a:buNone/>
                </a:pPr>
                <a:endParaRPr lang="ro-RO" dirty="0">
                  <a:sym typeface="Wingdings" panose="05000000000000000000" pitchFamily="2" charset="2"/>
                </a:endParaRPr>
              </a:p>
              <a:p>
                <a:r>
                  <a:rPr lang="en-US" dirty="0">
                    <a:sym typeface="Wingdings" panose="05000000000000000000" pitchFamily="2" charset="2"/>
                  </a:rPr>
                  <a:t>Using</a:t>
                </a:r>
                <a:endParaRPr lang="ro-RO" dirty="0">
                  <a:sym typeface="Wingdings" panose="05000000000000000000" pitchFamily="2" charset="2"/>
                </a:endParaRPr>
              </a:p>
              <a:p>
                <a:pPr lvl="1"/>
                <a:r>
                  <a:rPr lang="en-US" dirty="0">
                    <a:sym typeface="Wingdings" panose="05000000000000000000" pitchFamily="2" charset="2"/>
                  </a:rPr>
                  <a:t>Binary representation with 5 decimals</a:t>
                </a:r>
                <a:endParaRPr lang="ro-RO" dirty="0">
                  <a:sym typeface="Wingdings" panose="05000000000000000000" pitchFamily="2" charset="2"/>
                </a:endParaRPr>
              </a:p>
              <a:p>
                <a:pPr lvl="1"/>
                <a:r>
                  <a:rPr lang="ro-RO" dirty="0">
                    <a:sym typeface="Wingdings" panose="05000000000000000000" pitchFamily="2" charset="2"/>
                  </a:rPr>
                  <a:t>MAX=75 </a:t>
                </a:r>
                <a:r>
                  <a:rPr lang="en-US" dirty="0">
                    <a:sym typeface="Wingdings" panose="05000000000000000000" pitchFamily="2" charset="2"/>
                  </a:rPr>
                  <a:t>initial points</a:t>
                </a:r>
                <a:endParaRPr lang="ro-RO" dirty="0">
                  <a:sym typeface="Wingdings" panose="05000000000000000000" pitchFamily="2" charset="2"/>
                </a:endParaRPr>
              </a:p>
              <a:p>
                <a:pPr marL="342900" lvl="1" indent="0">
                  <a:buNone/>
                </a:pPr>
                <a:endParaRPr lang="vi-VN" dirty="0">
                  <a:sym typeface="Wingdings" panose="05000000000000000000" pitchFamily="2" charset="2"/>
                </a:endParaRPr>
              </a:p>
              <a:p>
                <a:r>
                  <a:rPr lang="en-US" dirty="0">
                    <a:sym typeface="Wingdings" panose="05000000000000000000" pitchFamily="2" charset="2"/>
                  </a:rPr>
                  <a:t>One possible result</a:t>
                </a:r>
                <a:endParaRPr lang="ro-RO" dirty="0">
                  <a:sym typeface="Wingdings" panose="05000000000000000000" pitchFamily="2" charset="2"/>
                </a:endParaRPr>
              </a:p>
              <a:p>
                <a:pPr lvl="1"/>
                <a:r>
                  <a:rPr lang="vi-VN" dirty="0">
                    <a:sym typeface="Wingdings" panose="05000000000000000000" pitchFamily="2" charset="2"/>
                  </a:rPr>
                  <a:t>x=-1.9</a:t>
                </a:r>
                <a:r>
                  <a:rPr lang="ro-RO" dirty="0">
                    <a:sym typeface="Wingdings" panose="05000000000000000000" pitchFamily="2" charset="2"/>
                  </a:rPr>
                  <a:t>09</a:t>
                </a:r>
                <a:r>
                  <a:rPr lang="vi-VN" dirty="0">
                    <a:sym typeface="Wingdings" panose="05000000000000000000" pitchFamily="2" charset="2"/>
                  </a:rPr>
                  <a:t>,   y=-1.62</a:t>
                </a:r>
                <a:r>
                  <a:rPr lang="ro-RO" dirty="0">
                    <a:sym typeface="Wingdings" panose="05000000000000000000" pitchFamily="2" charset="2"/>
                  </a:rPr>
                  <a:t>84</a:t>
                </a:r>
                <a:r>
                  <a:rPr lang="vi-VN" dirty="0">
                    <a:sym typeface="Wingdings" panose="05000000000000000000" pitchFamily="2" charset="2"/>
                  </a:rPr>
                  <a:t>,  </a:t>
                </a:r>
                <a:r>
                  <a:rPr lang="en-US" dirty="0">
                    <a:sym typeface="Wingdings" panose="05000000000000000000" pitchFamily="2" charset="2"/>
                  </a:rPr>
                  <a:t>maximum value</a:t>
                </a:r>
                <a:r>
                  <a:rPr lang="vi-VN" dirty="0">
                    <a:sym typeface="Wingdings" panose="05000000000000000000" pitchFamily="2" charset="2"/>
                  </a:rPr>
                  <a:t>: 3.49</a:t>
                </a:r>
                <a:r>
                  <a:rPr lang="ro-RO" dirty="0">
                    <a:sym typeface="Wingdings" panose="05000000000000000000" pitchFamily="2" charset="2"/>
                  </a:rPr>
                  <a:t>91</a:t>
                </a:r>
              </a:p>
              <a:p>
                <a:pPr lvl="1"/>
                <a:endParaRPr lang="ro-RO" dirty="0">
                  <a:sym typeface="Wingdings" panose="05000000000000000000" pitchFamily="2" charset="2"/>
                </a:endParaRPr>
              </a:p>
            </p:txBody>
          </p:sp>
        </mc:Choice>
        <mc:Fallback>
          <p:sp>
            <p:nvSpPr>
              <p:cNvPr id="14339" name="Content Placeholder 6"/>
              <p:cNvSpPr>
                <a:spLocks noGrp="1" noRot="1" noChangeAspect="1" noMove="1" noResize="1" noEditPoints="1" noAdjustHandles="1" noChangeArrowheads="1" noChangeShapeType="1" noTextEdit="1"/>
              </p:cNvSpPr>
              <p:nvPr>
                <p:ph idx="1"/>
              </p:nvPr>
            </p:nvSpPr>
            <p:spPr>
              <a:blipFill>
                <a:blip r:embed="rId3"/>
                <a:stretch>
                  <a:fillRect l="-73" t="-735"/>
                </a:stretch>
              </a:blipFill>
            </p:spPr>
            <p:txBody>
              <a:bodyPr/>
              <a:lstStyle/>
              <a:p>
                <a:r>
                  <a:rPr lang="en-US">
                    <a:noFill/>
                  </a:rPr>
                  <a:t> </a:t>
                </a:r>
              </a:p>
            </p:txBody>
          </p:sp>
        </mc:Fallback>
      </mc:AlternateContent>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9044" t="6267" r="8057" b="7566"/>
          <a:stretch/>
        </p:blipFill>
        <p:spPr bwMode="auto">
          <a:xfrm>
            <a:off x="1897856" y="1545750"/>
            <a:ext cx="5940000" cy="4455000"/>
          </a:xfrm>
          <a:prstGeom prst="rect">
            <a:avLst/>
          </a:prstGeom>
          <a:noFill/>
          <a:ln>
            <a:noFill/>
          </a:ln>
          <a:effectLst/>
        </p:spPr>
      </p:pic>
      <p:grpSp>
        <p:nvGrpSpPr>
          <p:cNvPr id="5" name="Group 4">
            <a:extLst>
              <a:ext uri="{FF2B5EF4-FFF2-40B4-BE49-F238E27FC236}">
                <a16:creationId xmlns:a16="http://schemas.microsoft.com/office/drawing/2014/main" id="{FEB9415A-4844-4B25-9345-D229ED364CFE}"/>
              </a:ext>
            </a:extLst>
          </p:cNvPr>
          <p:cNvGrpSpPr/>
          <p:nvPr/>
        </p:nvGrpSpPr>
        <p:grpSpPr>
          <a:xfrm>
            <a:off x="1987535" y="1386994"/>
            <a:ext cx="5760643" cy="4632245"/>
            <a:chOff x="1370522" y="301499"/>
            <a:chExt cx="7680857" cy="6079062"/>
          </a:xfrm>
        </p:grpSpPr>
        <p:pic>
          <p:nvPicPr>
            <p:cNvPr id="3" name="Picture 2">
              <a:extLst>
                <a:ext uri="{FF2B5EF4-FFF2-40B4-BE49-F238E27FC236}">
                  <a16:creationId xmlns:a16="http://schemas.microsoft.com/office/drawing/2014/main" id="{56A58C1D-2648-484C-A93C-A93B2E7D3760}"/>
                </a:ext>
              </a:extLst>
            </p:cNvPr>
            <p:cNvPicPr>
              <a:picLocks noChangeAspect="1"/>
            </p:cNvPicPr>
            <p:nvPr/>
          </p:nvPicPr>
          <p:blipFill rotWithShape="1">
            <a:blip r:embed="rId5">
              <a:extLst>
                <a:ext uri="{28A0092B-C50C-407E-A947-70E740481C1C}">
                  <a14:useLocalDpi xmlns:a14="http://schemas.microsoft.com/office/drawing/2010/main" val="0"/>
                </a:ext>
              </a:extLst>
            </a:blip>
            <a:srcRect b="6069"/>
            <a:stretch/>
          </p:blipFill>
          <p:spPr>
            <a:xfrm>
              <a:off x="1370522" y="301499"/>
              <a:ext cx="7680857" cy="6021869"/>
            </a:xfrm>
            <a:prstGeom prst="rect">
              <a:avLst/>
            </a:prstGeom>
          </p:spPr>
        </p:pic>
        <p:sp>
          <p:nvSpPr>
            <p:cNvPr id="2" name="TextBox 1">
              <a:extLst>
                <a:ext uri="{FF2B5EF4-FFF2-40B4-BE49-F238E27FC236}">
                  <a16:creationId xmlns:a16="http://schemas.microsoft.com/office/drawing/2014/main" id="{47552891-3FA4-4AF7-8562-98AE5D1A31EC}"/>
                </a:ext>
              </a:extLst>
            </p:cNvPr>
            <p:cNvSpPr txBox="1"/>
            <p:nvPr/>
          </p:nvSpPr>
          <p:spPr>
            <a:xfrm>
              <a:off x="1441451" y="5168842"/>
              <a:ext cx="1905000" cy="1211719"/>
            </a:xfrm>
            <a:prstGeom prst="rect">
              <a:avLst/>
            </a:prstGeom>
            <a:noFill/>
          </p:spPr>
          <p:txBody>
            <a:bodyPr wrap="square" rtlCol="0">
              <a:spAutoFit/>
            </a:bodyPr>
            <a:lstStyle/>
            <a:p>
              <a:r>
                <a:rPr lang="en-US" dirty="0"/>
                <a:t>Initial point</a:t>
              </a:r>
              <a:r>
                <a:rPr lang="ro-RO" dirty="0"/>
                <a:t>, </a:t>
              </a:r>
              <a:r>
                <a:rPr lang="en-US" dirty="0"/>
                <a:t>randomly generated</a:t>
              </a:r>
            </a:p>
          </p:txBody>
        </p:sp>
        <p:sp>
          <p:nvSpPr>
            <p:cNvPr id="9" name="TextBox 8">
              <a:extLst>
                <a:ext uri="{FF2B5EF4-FFF2-40B4-BE49-F238E27FC236}">
                  <a16:creationId xmlns:a16="http://schemas.microsoft.com/office/drawing/2014/main" id="{DB03AD00-90CD-44E8-AD7E-5132AD95FE1C}"/>
                </a:ext>
              </a:extLst>
            </p:cNvPr>
            <p:cNvSpPr txBox="1"/>
            <p:nvPr/>
          </p:nvSpPr>
          <p:spPr>
            <a:xfrm>
              <a:off x="1462687" y="866032"/>
              <a:ext cx="1905000" cy="848203"/>
            </a:xfrm>
            <a:prstGeom prst="rect">
              <a:avLst/>
            </a:prstGeom>
            <a:noFill/>
          </p:spPr>
          <p:txBody>
            <a:bodyPr wrap="square" rtlCol="0">
              <a:spAutoFit/>
            </a:bodyPr>
            <a:lstStyle/>
            <a:p>
              <a:r>
                <a:rPr lang="en-US" dirty="0"/>
                <a:t>Final point (calculated)</a:t>
              </a:r>
            </a:p>
          </p:txBody>
        </p:sp>
        <p:sp>
          <p:nvSpPr>
            <p:cNvPr id="10" name="TextBox 9">
              <a:extLst>
                <a:ext uri="{FF2B5EF4-FFF2-40B4-BE49-F238E27FC236}">
                  <a16:creationId xmlns:a16="http://schemas.microsoft.com/office/drawing/2014/main" id="{F811F329-7C6D-4393-B011-1E0107FF20D5}"/>
                </a:ext>
              </a:extLst>
            </p:cNvPr>
            <p:cNvSpPr txBox="1"/>
            <p:nvPr/>
          </p:nvSpPr>
          <p:spPr>
            <a:xfrm>
              <a:off x="3367687" y="594834"/>
              <a:ext cx="2408628" cy="1211719"/>
            </a:xfrm>
            <a:prstGeom prst="rect">
              <a:avLst/>
            </a:prstGeom>
            <a:noFill/>
          </p:spPr>
          <p:txBody>
            <a:bodyPr wrap="square" rtlCol="0">
              <a:spAutoFit/>
            </a:bodyPr>
            <a:lstStyle/>
            <a:p>
              <a:r>
                <a:rPr lang="en-US" dirty="0"/>
                <a:t>Intermediate points (calculated with red)</a:t>
              </a:r>
            </a:p>
          </p:txBody>
        </p:sp>
        <p:sp>
          <p:nvSpPr>
            <p:cNvPr id="4" name="Arrow: Right 3">
              <a:extLst>
                <a:ext uri="{FF2B5EF4-FFF2-40B4-BE49-F238E27FC236}">
                  <a16:creationId xmlns:a16="http://schemas.microsoft.com/office/drawing/2014/main" id="{43E70826-D70A-4988-9CD0-E81689BCDAD4}"/>
                </a:ext>
              </a:extLst>
            </p:cNvPr>
            <p:cNvSpPr/>
            <p:nvPr/>
          </p:nvSpPr>
          <p:spPr>
            <a:xfrm rot="19933414">
              <a:off x="2895255" y="4851982"/>
              <a:ext cx="1664392" cy="267622"/>
            </a:xfrm>
            <a:prstGeom prst="rightArrow">
              <a:avLst>
                <a:gd name="adj1" fmla="val 50000"/>
                <a:gd name="adj2" fmla="val 1365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35386296-50E7-4CA3-8170-274FBA52E8FD}"/>
                </a:ext>
              </a:extLst>
            </p:cNvPr>
            <p:cNvSpPr/>
            <p:nvPr/>
          </p:nvSpPr>
          <p:spPr>
            <a:xfrm rot="1983791">
              <a:off x="2344991" y="1577627"/>
              <a:ext cx="1664392" cy="267622"/>
            </a:xfrm>
            <a:prstGeom prst="rightArrow">
              <a:avLst>
                <a:gd name="adj1" fmla="val 50000"/>
                <a:gd name="adj2" fmla="val 1365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5FDC96A-46CB-4CD9-8945-495A7CB63E93}"/>
                </a:ext>
              </a:extLst>
            </p:cNvPr>
            <p:cNvSpPr/>
            <p:nvPr/>
          </p:nvSpPr>
          <p:spPr>
            <a:xfrm rot="5400000">
              <a:off x="3890544" y="1868469"/>
              <a:ext cx="1500189" cy="229048"/>
            </a:xfrm>
            <a:prstGeom prst="rightArrow">
              <a:avLst>
                <a:gd name="adj1" fmla="val 50000"/>
                <a:gd name="adj2" fmla="val 1365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1">
            <a:extLst>
              <a:ext uri="{FF2B5EF4-FFF2-40B4-BE49-F238E27FC236}">
                <a16:creationId xmlns:a16="http://schemas.microsoft.com/office/drawing/2014/main" id="{BC1071E1-E978-CF61-CD33-50B06DA236D8}"/>
              </a:ext>
            </a:extLst>
          </p:cNvPr>
          <p:cNvSpPr>
            <a:spLocks noGrp="1"/>
          </p:cNvSpPr>
          <p:nvPr>
            <p:ph type="body" sz="quarter" idx="13"/>
          </p:nvPr>
        </p:nvSpPr>
        <p:spPr>
          <a:xfrm>
            <a:off x="335819" y="5080"/>
            <a:ext cx="8055769" cy="1416050"/>
          </a:xfrm>
        </p:spPr>
        <p:txBody>
          <a:bodyPr/>
          <a:lstStyle/>
          <a:p>
            <a:r>
              <a:rPr lang="ro-RO" sz="2800" dirty="0">
                <a:solidFill>
                  <a:schemeClr val="bg2"/>
                </a:solidFill>
              </a:rPr>
              <a:t>XI. </a:t>
            </a:r>
            <a:r>
              <a:rPr lang="en-US" sz="2800" dirty="0" err="1">
                <a:solidFill>
                  <a:schemeClr val="bg2"/>
                </a:solidFill>
              </a:rPr>
              <a:t>Hillclimbing</a:t>
            </a:r>
            <a:r>
              <a:rPr lang="en-US" sz="2800" dirty="0">
                <a:solidFill>
                  <a:schemeClr val="bg2"/>
                </a:solidFill>
              </a:rPr>
              <a:t> algorithm. Examples</a:t>
            </a:r>
            <a:endParaRPr lang="ro-RO" sz="2800" dirty="0">
              <a:solidFill>
                <a:schemeClr val="bg2"/>
              </a:solidFill>
            </a:endParaRPr>
          </a:p>
        </p:txBody>
      </p:sp>
    </p:spTree>
    <p:extLst>
      <p:ext uri="{BB962C8B-B14F-4D97-AF65-F5344CB8AC3E}">
        <p14:creationId xmlns:p14="http://schemas.microsoft.com/office/powerpoint/2010/main" val="339899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animEffect transition="in" filter="dissolve">
                                      <p:cBhvr>
                                        <p:cTn id="11" dur="500"/>
                                        <p:tgtEl>
                                          <p:spTgt spid="1433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339">
                                            <p:txEl>
                                              <p:pRg st="3" end="3"/>
                                            </p:txEl>
                                          </p:spTgt>
                                        </p:tgtEl>
                                        <p:attrNameLst>
                                          <p:attrName>style.visibility</p:attrName>
                                        </p:attrNameLst>
                                      </p:cBhvr>
                                      <p:to>
                                        <p:strVal val="visible"/>
                                      </p:to>
                                    </p:set>
                                    <p:animEffect transition="in" filter="dissolve">
                                      <p:cBhvr>
                                        <p:cTn id="16" dur="500"/>
                                        <p:tgtEl>
                                          <p:spTgt spid="14339">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animEffect transition="in" filter="dissolve">
                                      <p:cBhvr>
                                        <p:cTn id="19" dur="500"/>
                                        <p:tgtEl>
                                          <p:spTgt spid="14339">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4339">
                                            <p:txEl>
                                              <p:pRg st="5" end="5"/>
                                            </p:txEl>
                                          </p:spTgt>
                                        </p:tgtEl>
                                        <p:attrNameLst>
                                          <p:attrName>style.visibility</p:attrName>
                                        </p:attrNameLst>
                                      </p:cBhvr>
                                      <p:to>
                                        <p:strVal val="visible"/>
                                      </p:to>
                                    </p:set>
                                    <p:animEffect transition="in" filter="dissolve">
                                      <p:cBhvr>
                                        <p:cTn id="22" dur="500"/>
                                        <p:tgtEl>
                                          <p:spTgt spid="1433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39">
                                            <p:txEl>
                                              <p:pRg st="7" end="7"/>
                                            </p:txEl>
                                          </p:spTgt>
                                        </p:tgtEl>
                                        <p:attrNameLst>
                                          <p:attrName>style.visibility</p:attrName>
                                        </p:attrNameLst>
                                      </p:cBhvr>
                                      <p:to>
                                        <p:strVal val="visible"/>
                                      </p:to>
                                    </p:set>
                                    <p:animEffect transition="in" filter="dissolve">
                                      <p:cBhvr>
                                        <p:cTn id="27" dur="500"/>
                                        <p:tgtEl>
                                          <p:spTgt spid="14339">
                                            <p:txEl>
                                              <p:pRg st="7" end="7"/>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4339">
                                            <p:txEl>
                                              <p:pRg st="8" end="8"/>
                                            </p:txEl>
                                          </p:spTgt>
                                        </p:tgtEl>
                                        <p:attrNameLst>
                                          <p:attrName>style.visibility</p:attrName>
                                        </p:attrNameLst>
                                      </p:cBhvr>
                                      <p:to>
                                        <p:strVal val="visible"/>
                                      </p:to>
                                    </p:set>
                                    <p:animEffect transition="in" filter="dissolve">
                                      <p:cBhvr>
                                        <p:cTn id="30" dur="500"/>
                                        <p:tgtEl>
                                          <p:spTgt spid="14339">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051"/>
                                        </p:tgtEl>
                                        <p:attrNameLst>
                                          <p:attrName>style.visibility</p:attrName>
                                        </p:attrNameLst>
                                      </p:cBhvr>
                                      <p:to>
                                        <p:strVal val="visible"/>
                                      </p:to>
                                    </p:set>
                                    <p:animEffect transition="in" filter="dissolve">
                                      <p:cBhvr>
                                        <p:cTn id="35" dur="500"/>
                                        <p:tgtEl>
                                          <p:spTgt spid="2051"/>
                                        </p:tgtEl>
                                      </p:cBhvr>
                                    </p:animEffect>
                                  </p:childTnLst>
                                </p:cTn>
                              </p:par>
                              <p:par>
                                <p:cTn id="36" presetID="1" presetClass="exit" presetSubtype="0" fill="hold" grpId="1" nodeType="withEffect">
                                  <p:stCondLst>
                                    <p:cond delay="0"/>
                                  </p:stCondLst>
                                  <p:childTnLst>
                                    <p:set>
                                      <p:cBhvr>
                                        <p:cTn id="37" dur="1" fill="hold">
                                          <p:stCondLst>
                                            <p:cond delay="0"/>
                                          </p:stCondLst>
                                        </p:cTn>
                                        <p:tgtEl>
                                          <p:spTgt spid="14339">
                                            <p:txEl>
                                              <p:pRg st="0" end="0"/>
                                            </p:txEl>
                                          </p:spTgt>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14339">
                                            <p:txEl>
                                              <p:pRg st="1" end="1"/>
                                            </p:txEl>
                                          </p:spTgt>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14339">
                                            <p:txEl>
                                              <p:pRg st="3" end="3"/>
                                            </p:txEl>
                                          </p:spTgt>
                                        </p:tgtEl>
                                        <p:attrNameLst>
                                          <p:attrName>style.visibility</p:attrName>
                                        </p:attrNameLst>
                                      </p:cBhvr>
                                      <p:to>
                                        <p:strVal val="hidden"/>
                                      </p:to>
                                    </p:set>
                                  </p:childTnLst>
                                </p:cTn>
                              </p:par>
                              <p:par>
                                <p:cTn id="42" presetID="1" presetClass="exit" presetSubtype="0" fill="hold" grpId="1" nodeType="withEffect">
                                  <p:stCondLst>
                                    <p:cond delay="0"/>
                                  </p:stCondLst>
                                  <p:childTnLst>
                                    <p:set>
                                      <p:cBhvr>
                                        <p:cTn id="43" dur="1" fill="hold">
                                          <p:stCondLst>
                                            <p:cond delay="0"/>
                                          </p:stCondLst>
                                        </p:cTn>
                                        <p:tgtEl>
                                          <p:spTgt spid="14339">
                                            <p:txEl>
                                              <p:pRg st="4" end="4"/>
                                            </p:txEl>
                                          </p:spTgt>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14339">
                                            <p:txEl>
                                              <p:pRg st="5" end="5"/>
                                            </p:txEl>
                                          </p:spTgt>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14339">
                                            <p:txEl>
                                              <p:pRg st="7" end="7"/>
                                            </p:txEl>
                                          </p:spTgt>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14339">
                                            <p:txEl>
                                              <p:pRg st="8" end="8"/>
                                            </p:txEl>
                                          </p:spTgt>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dissolve">
                                      <p:cBhvr>
                                        <p:cTn id="5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39" grpId="1"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6"/>
          <p:cNvSpPr>
            <a:spLocks noGrp="1"/>
          </p:cNvSpPr>
          <p:nvPr>
            <p:ph idx="1"/>
          </p:nvPr>
        </p:nvSpPr>
        <p:spPr/>
        <p:txBody>
          <a:bodyPr/>
          <a:lstStyle/>
          <a:p>
            <a:pPr>
              <a:buFont typeface="Wingdings" panose="05000000000000000000" pitchFamily="2" charset="2"/>
              <a:buChar char="q"/>
            </a:pPr>
            <a:r>
              <a:rPr lang="en-US" dirty="0"/>
              <a:t>References</a:t>
            </a:r>
            <a:endParaRPr lang="ro-RO" dirty="0"/>
          </a:p>
          <a:p>
            <a:pPr lvl="1">
              <a:buFont typeface="Wingdings" panose="05000000000000000000" pitchFamily="2" charset="2"/>
              <a:buChar char="q"/>
            </a:pPr>
            <a:r>
              <a:rPr lang="ro-RO" sz="1800" dirty="0"/>
              <a:t>Manual</a:t>
            </a:r>
          </a:p>
          <a:p>
            <a:pPr lvl="2">
              <a:buFont typeface="Wingdings" panose="05000000000000000000" pitchFamily="2" charset="2"/>
              <a:buChar char="q"/>
            </a:pPr>
            <a:r>
              <a:rPr lang="en-US" sz="1800" dirty="0"/>
              <a:t>Chapter</a:t>
            </a:r>
            <a:r>
              <a:rPr lang="ro-RO" sz="1800" dirty="0"/>
              <a:t> 2</a:t>
            </a:r>
          </a:p>
          <a:p>
            <a:pPr marL="914400" lvl="2" indent="0">
              <a:buNone/>
            </a:pPr>
            <a:endParaRPr lang="ro-RO" sz="1800" dirty="0"/>
          </a:p>
          <a:p>
            <a:pPr lvl="2">
              <a:buFont typeface="Wingdings" panose="05000000000000000000" pitchFamily="2" charset="2"/>
              <a:buChar char="q"/>
            </a:pPr>
            <a:endParaRPr lang="ro-RO" sz="1800" dirty="0"/>
          </a:p>
        </p:txBody>
      </p:sp>
      <p:sp>
        <p:nvSpPr>
          <p:cNvPr id="4" name="Subtitle 2">
            <a:extLst>
              <a:ext uri="{FF2B5EF4-FFF2-40B4-BE49-F238E27FC236}">
                <a16:creationId xmlns:a16="http://schemas.microsoft.com/office/drawing/2014/main" id="{54BE3A0C-2D8E-1BF2-552A-B6FB6D7B8837}"/>
              </a:ext>
            </a:extLst>
          </p:cNvPr>
          <p:cNvSpPr>
            <a:spLocks/>
          </p:cNvSpPr>
          <p:nvPr/>
        </p:nvSpPr>
        <p:spPr bwMode="auto">
          <a:xfrm>
            <a:off x="457200" y="0"/>
            <a:ext cx="807720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8872" tIns="0" rIns="45720" bIns="0" anchor="ctr"/>
          <a:lstStyle/>
          <a:p>
            <a:pPr>
              <a:buClr>
                <a:schemeClr val="accent1"/>
              </a:buClr>
              <a:buSzPct val="80000"/>
              <a:buFont typeface="Wingdings 2" pitchFamily="18" charset="2"/>
              <a:buNone/>
            </a:pPr>
            <a:r>
              <a:rPr lang="en-US" sz="2800" b="1" dirty="0">
                <a:solidFill>
                  <a:srgbClr val="002E8A"/>
                </a:solidFill>
                <a:latin typeface="+mj-lt"/>
              </a:rPr>
              <a:t>Course references</a:t>
            </a:r>
            <a:endParaRPr lang="ro-RO" sz="2800" b="1" dirty="0">
              <a:solidFill>
                <a:srgbClr val="002E8A"/>
              </a:solidFill>
              <a:latin typeface="+mj-lt"/>
            </a:endParaRPr>
          </a:p>
        </p:txBody>
      </p:sp>
    </p:spTree>
    <p:extLst>
      <p:ext uri="{BB962C8B-B14F-4D97-AF65-F5344CB8AC3E}">
        <p14:creationId xmlns:p14="http://schemas.microsoft.com/office/powerpoint/2010/main" val="1495473523"/>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Garamond"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Garamond" pitchFamily="18"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3115</TotalTime>
  <Words>3043</Words>
  <Application>Microsoft Office PowerPoint</Application>
  <PresentationFormat>On-screen Show (4:3)</PresentationFormat>
  <Paragraphs>344</Paragraphs>
  <Slides>29</Slides>
  <Notes>11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42" baseType="lpstr">
      <vt:lpstr>Arial</vt:lpstr>
      <vt:lpstr>Arial Black</vt:lpstr>
      <vt:lpstr>Arial Body</vt:lpstr>
      <vt:lpstr>Calibri</vt:lpstr>
      <vt:lpstr>Cambria Math</vt:lpstr>
      <vt:lpstr>Consolas</vt:lpstr>
      <vt:lpstr>Courier New</vt:lpstr>
      <vt:lpstr>Garamond</vt:lpstr>
      <vt:lpstr>Times New Roman</vt:lpstr>
      <vt:lpstr>Wingdings</vt:lpstr>
      <vt:lpstr>Wingdings 2</vt:lpstr>
      <vt:lpstr>Pixel</vt:lpstr>
      <vt:lpstr>Visio</vt:lpstr>
      <vt:lpstr>   Components of Evolutionary Algorithms (EAs). The evolution from direct search to stochastic search.   </vt:lpstr>
      <vt:lpstr>I. EA Components (Evolutionary Algorithms)</vt:lpstr>
      <vt:lpstr>II. EA Components. Representation</vt:lpstr>
      <vt:lpstr>Example of representation using permutations</vt:lpstr>
      <vt:lpstr>PowerPoint Presentation</vt:lpstr>
      <vt:lpstr>III. EA Components. Evaluation function f</vt:lpstr>
      <vt:lpstr>IV. EA Components. Population</vt:lpstr>
      <vt:lpstr>PowerPoint Presentation</vt:lpstr>
      <vt:lpstr>PowerPoint Presentation</vt:lpstr>
      <vt:lpstr>PowerPoint Presentation</vt:lpstr>
      <vt:lpstr>PowerPoint Presentation</vt:lpstr>
      <vt:lpstr>PowerPoint Presentation</vt:lpstr>
      <vt:lpstr>PowerPoint Presentation</vt:lpstr>
      <vt:lpstr>V. EA Components. Parent selection</vt:lpstr>
      <vt:lpstr>VI. EA Components. Variation Operators</vt:lpstr>
      <vt:lpstr>VI. EA Components. Variation Operators</vt:lpstr>
      <vt:lpstr>VII. EA Components. Transition to a new generation</vt:lpstr>
      <vt:lpstr>VIII. EA Components – Initialization. Termination Condition</vt:lpstr>
      <vt:lpstr>Example – The 0-1 Knapsack Problem</vt:lpstr>
      <vt:lpstr>Exemple – The 0-1 Knapsack Problem</vt:lpstr>
      <vt:lpstr>Example – The 0-1 Knapsack Problem</vt:lpstr>
      <vt:lpstr>Example – The 0-1 Knapsack Problem</vt:lpstr>
      <vt:lpstr>X. Evolution: Direct Search – Stochastic Search</vt:lpstr>
      <vt:lpstr>PowerPoint Presentation</vt:lpstr>
      <vt:lpstr>PowerPoint Presentation</vt:lpstr>
      <vt:lpstr>PowerPoint Presentation</vt:lpstr>
      <vt:lpstr>PowerPoint Presentation</vt:lpstr>
      <vt:lpstr>PowerPoint Presentation</vt:lpstr>
      <vt:lpstr>PowerPoint Presentation</vt:lpstr>
    </vt:vector>
  </TitlesOfParts>
  <Company>ASE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Catalina</dc:creator>
  <cp:lastModifiedBy>Lavinia Roxana Toma</cp:lastModifiedBy>
  <cp:revision>320</cp:revision>
  <dcterms:created xsi:type="dcterms:W3CDTF">2007-06-04T09:28:42Z</dcterms:created>
  <dcterms:modified xsi:type="dcterms:W3CDTF">2026-02-19T12:29:13Z</dcterms:modified>
</cp:coreProperties>
</file>