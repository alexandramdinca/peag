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9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8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2200-5A8F-40CC-B998-A5E2806AA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99992-CD93-4555-A008-B98972463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B9821-BFC3-4BC2-956C-1F3540F6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FA3F0-7A08-4705-918B-0229077A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DCBD9-12D2-4F27-9119-83AC3AFF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0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E064C-9601-442B-9841-0B99BBA7E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092DC-73E7-4202-AD7B-B1CDD5FD9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402CE-B7E8-4DE8-927E-713ADC43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6CA2D-EC12-4F22-9E75-C98573CB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DC2D6-6271-41E8-B8C5-4870795C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8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22D8-9160-4D74-B322-FE21929B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0200F-39F2-4C68-97E7-2D3AEDB47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7F130-98FB-406D-9962-1AA0A860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543E-B89E-44A1-B7F4-09A96195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169B-9007-4C5C-92D1-79147312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3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49CB-7C11-4D1F-9C3B-4442EC4A8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49854-86B1-45C3-86EB-84419EEEB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9DF71-E071-444D-8BE0-BB805FE1E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25D1-DC44-4FD3-AFC7-4C9FB37B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C2E25-4B3F-426A-BACC-64D18E4B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CFDD6-9CA5-457F-A443-89A9B926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6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2A6FA-F658-4D51-B997-DEB9697E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32B7B-4DC6-480B-9F8A-454253CDF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83031-9257-4819-BA79-601FA49B1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5E261-4086-44C7-9161-C8916389F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2B185-6485-4970-944A-FE31F5B46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EA00C-1D60-40A2-ABBD-EBF97C08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3AC94-490C-4D03-ACF2-D2353FC5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C610C-4B0C-48C0-A965-E2A1D489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0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C385-620C-43D9-AFF4-92B657EC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4E48A-F021-44B0-8FCF-7C32459E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970F-A6D7-4E55-8D2C-4EBAF12F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D8CFC-4A62-4359-B22E-1B2E94EE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7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CF9F2-E3CC-4BFD-A0C7-8290C6FE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09DBD-AE28-42D8-AD13-24CF76CA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66EF7-3FB1-4065-B047-18606353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7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AF06-791B-4D7C-B911-AC93E0CD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33F8A-536D-4819-8779-EA697087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2149B-C333-43A6-B03E-A7D498C4E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0832C-DDE9-4549-9E87-AC15530B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14987-CB14-4FFC-AA34-365C1E63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8F96E-B275-41B4-96E7-377D2AF8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2D603-4290-40FD-9A8E-AE143F1F2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D1A30-8339-4932-B9A4-7E7759A86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D9181-DFAE-45B7-AC31-78B455901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5ED5-73F0-4D40-A3B5-84E144F1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CE028-2F3C-4B66-8295-87EE609B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4CFAC-7E03-42BB-B4F9-D77DF7E80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44C3-3EC3-4680-B52C-9D54799E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2AC77-7A23-43D3-AA68-6D0D4FCB2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A6BF-BC9D-4A67-9CA6-9B342117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1D1D5-3BEF-4EEA-945D-B749137F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6C62F-84CF-4383-B0AD-E91D91E1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3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CE76F-E6BB-4170-AB71-114730B82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67319-01CD-4924-8BF4-C747E35FC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7886D-C841-44FD-BE59-951C5273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89798-B691-46FC-B61D-A069EB24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6159-7896-4F57-ACAB-D6FEE222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5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3BFFC2-345D-4159-967F-EDAD70E6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43C81-0D57-4A49-8FF6-A4E8D359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D361F-56AE-4577-950D-5CE17C7C8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F1759-AFF3-4759-A3F1-E046D0A904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02357-EA98-49B1-B09F-5D77662A2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72C40-0ED3-413F-B311-0B3E3922B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0CA0-3D1A-4019-85DC-1B60D670A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6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llout: Right Arrow 24">
            <a:extLst>
              <a:ext uri="{FF2B5EF4-FFF2-40B4-BE49-F238E27FC236}">
                <a16:creationId xmlns:a16="http://schemas.microsoft.com/office/drawing/2014/main" id="{474198BA-2805-49C8-91C5-252E5B5D87C9}"/>
              </a:ext>
            </a:extLst>
          </p:cNvPr>
          <p:cNvSpPr/>
          <p:nvPr/>
        </p:nvSpPr>
        <p:spPr>
          <a:xfrm>
            <a:off x="3174797" y="4465839"/>
            <a:ext cx="3167809" cy="1121379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5013"/>
            </a:avLst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allout: Down Arrow 17">
            <a:extLst>
              <a:ext uri="{FF2B5EF4-FFF2-40B4-BE49-F238E27FC236}">
                <a16:creationId xmlns:a16="http://schemas.microsoft.com/office/drawing/2014/main" id="{5212F80D-821E-4FF2-9BFD-BB03C1C964A7}"/>
              </a:ext>
            </a:extLst>
          </p:cNvPr>
          <p:cNvSpPr/>
          <p:nvPr/>
        </p:nvSpPr>
        <p:spPr>
          <a:xfrm>
            <a:off x="4366657" y="1088999"/>
            <a:ext cx="7389018" cy="1648496"/>
          </a:xfrm>
          <a:prstGeom prst="downArrowCallou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Callout: Down Arrow 16">
            <a:extLst>
              <a:ext uri="{FF2B5EF4-FFF2-40B4-BE49-F238E27FC236}">
                <a16:creationId xmlns:a16="http://schemas.microsoft.com/office/drawing/2014/main" id="{85A57C44-2956-4FB5-B9D2-59DAF626EFD6}"/>
              </a:ext>
            </a:extLst>
          </p:cNvPr>
          <p:cNvSpPr/>
          <p:nvPr/>
        </p:nvSpPr>
        <p:spPr>
          <a:xfrm>
            <a:off x="682580" y="1043189"/>
            <a:ext cx="3052293" cy="1648496"/>
          </a:xfrm>
          <a:prstGeom prst="downArrowCallou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ADFE6-563A-4B2A-855E-29620397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69" y="348772"/>
            <a:ext cx="3801533" cy="447675"/>
          </a:xfrm>
        </p:spPr>
        <p:txBody>
          <a:bodyPr>
            <a:normAutofit fontScale="90000"/>
          </a:bodyPr>
          <a:lstStyle/>
          <a:p>
            <a:r>
              <a:rPr lang="en-US" sz="3200" b="1" noProof="0" dirty="0"/>
              <a:t>Encoding / decoding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506A4-5835-490F-882A-22056AF7BC49}"/>
              </a:ext>
            </a:extLst>
          </p:cNvPr>
          <p:cNvSpPr txBox="1"/>
          <p:nvPr/>
        </p:nvSpPr>
        <p:spPr>
          <a:xfrm>
            <a:off x="682580" y="1134533"/>
            <a:ext cx="3052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/>
              <a:t>Message</a:t>
            </a:r>
            <a:endParaRPr lang="en-US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A645F-49CD-4EB2-A362-E1D6DB2452ED}"/>
              </a:ext>
            </a:extLst>
          </p:cNvPr>
          <p:cNvSpPr txBox="1"/>
          <p:nvPr/>
        </p:nvSpPr>
        <p:spPr>
          <a:xfrm>
            <a:off x="682580" y="1656265"/>
            <a:ext cx="3052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/>
              <a:t>Key (permutation)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51112-698C-4D66-AE74-BD0290D86B0A}"/>
              </a:ext>
            </a:extLst>
          </p:cNvPr>
          <p:cNvSpPr txBox="1"/>
          <p:nvPr/>
        </p:nvSpPr>
        <p:spPr>
          <a:xfrm>
            <a:off x="682580" y="2737495"/>
            <a:ext cx="3052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/>
              <a:t>Encoded message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EB2A1-FD1A-49EB-9552-C8CDD12C1B77}"/>
              </a:ext>
            </a:extLst>
          </p:cNvPr>
          <p:cNvSpPr txBox="1"/>
          <p:nvPr/>
        </p:nvSpPr>
        <p:spPr>
          <a:xfrm>
            <a:off x="4366657" y="1182631"/>
            <a:ext cx="738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600" b="1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capracalcapiatranpatrucrapaiarcapulcapreicumacrapatpiatranpatru</a:t>
            </a: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83D3F-D64C-44BE-888D-741E46CF7338}"/>
              </a:ext>
            </a:extLst>
          </p:cNvPr>
          <p:cNvSpPr txBox="1"/>
          <p:nvPr/>
        </p:nvSpPr>
        <p:spPr>
          <a:xfrm>
            <a:off x="4366657" y="1680420"/>
            <a:ext cx="738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[3 18 20 1 14 5 4 2 19 13 17 0 23 22 11 9 12 25 15 21 24 8 6 16 7 10]</a:t>
            </a:r>
            <a:endParaRPr kumimoji="0" lang="en-US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815F0E-994D-4905-A7D0-E7BC5713B7D5}"/>
              </a:ext>
            </a:extLst>
          </p:cNvPr>
          <p:cNvSpPr txBox="1"/>
          <p:nvPr/>
        </p:nvSpPr>
        <p:spPr>
          <a:xfrm>
            <a:off x="4366657" y="2827093"/>
            <a:ext cx="738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udjzdudaudjtdvzdwjdvzyuzdjdtdzudjyaudjzotuyxduzdjdvjtdvzdwjdvzy</a:t>
            </a: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15682F-D021-4305-BBCC-0CB9C752AB43}"/>
              </a:ext>
            </a:extLst>
          </p:cNvPr>
          <p:cNvSpPr txBox="1"/>
          <p:nvPr/>
        </p:nvSpPr>
        <p:spPr>
          <a:xfrm>
            <a:off x="3045853" y="4583878"/>
            <a:ext cx="2592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Original message</a:t>
            </a:r>
            <a:endParaRPr kumimoji="0" lang="en-US" sz="2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06BC9-F1D8-4F4E-89B0-DFB24D5ED777}"/>
              </a:ext>
            </a:extLst>
          </p:cNvPr>
          <p:cNvSpPr txBox="1"/>
          <p:nvPr/>
        </p:nvSpPr>
        <p:spPr>
          <a:xfrm>
            <a:off x="3045853" y="5080980"/>
            <a:ext cx="2592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Encoded message</a:t>
            </a:r>
            <a:endParaRPr kumimoji="0" lang="en-US" sz="24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292165-D85B-4D28-B2A2-EAD962FA4717}"/>
              </a:ext>
            </a:extLst>
          </p:cNvPr>
          <p:cNvSpPr txBox="1"/>
          <p:nvPr/>
        </p:nvSpPr>
        <p:spPr>
          <a:xfrm>
            <a:off x="6152017" y="4855547"/>
            <a:ext cx="180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Key</a:t>
            </a: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72ED8C-4F25-43E0-A291-616445AD52CB}"/>
              </a:ext>
            </a:extLst>
          </p:cNvPr>
          <p:cNvSpPr txBox="1">
            <a:spLocks/>
          </p:cNvSpPr>
          <p:nvPr/>
        </p:nvSpPr>
        <p:spPr>
          <a:xfrm>
            <a:off x="4259633" y="375094"/>
            <a:ext cx="7496042" cy="44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noProof="0" dirty="0"/>
              <a:t>Example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1EDD77A-E1AA-4013-BB06-0C5E53940873}"/>
              </a:ext>
            </a:extLst>
          </p:cNvPr>
          <p:cNvSpPr txBox="1">
            <a:spLocks/>
          </p:cNvSpPr>
          <p:nvPr/>
        </p:nvSpPr>
        <p:spPr>
          <a:xfrm>
            <a:off x="3283786" y="3847374"/>
            <a:ext cx="4625988" cy="44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0" dirty="0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77C28E-A658-4BCF-A74B-8D1A116BE32A}"/>
              </a:ext>
            </a:extLst>
          </p:cNvPr>
          <p:cNvSpPr/>
          <p:nvPr/>
        </p:nvSpPr>
        <p:spPr>
          <a:xfrm>
            <a:off x="7314739" y="4321336"/>
            <a:ext cx="59503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0" lang="en-US" sz="7200" b="0" i="0" u="none" strike="noStrike" cap="none" spc="0" normalizeH="0" baseline="0" noProof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7200" b="0" cap="none" spc="0" noProof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A77A45-29D6-4E12-9353-D0206A8036C5}"/>
              </a:ext>
            </a:extLst>
          </p:cNvPr>
          <p:cNvSpPr/>
          <p:nvPr/>
        </p:nvSpPr>
        <p:spPr>
          <a:xfrm>
            <a:off x="6264524" y="4346723"/>
            <a:ext cx="59503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0" lang="en-US" sz="7200" b="0" i="0" u="none" strike="noStrike" cap="none" spc="0" normalizeH="0" baseline="0" noProof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7200" b="0" cap="none" spc="0" noProof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93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8" grpId="0" animBg="1"/>
      <p:bldP spid="17" grpId="0" animBg="1"/>
      <p:bldP spid="2" grpId="0"/>
      <p:bldP spid="4" grpId="0"/>
      <p:bldP spid="5" grpId="0"/>
      <p:bldP spid="7" grpId="0"/>
      <p:bldP spid="8" grpId="0"/>
      <p:bldP spid="9" grpId="0"/>
      <p:bldP spid="11" grpId="0"/>
      <p:bldP spid="20" grpId="0"/>
      <p:bldP spid="21" grpId="0"/>
      <p:bldP spid="22" grpId="0"/>
      <p:bldP spid="23" grpId="0"/>
      <p:bldP spid="24" grpId="0"/>
      <p:bldP spid="27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DD9001-81A7-4776-930D-E4BA8D0BC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noProof="0" dirty="0"/>
                  <a:t>Representation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noProof="0" dirty="0"/>
                  <a:t>Only small letters </a:t>
                </a:r>
                <a:r>
                  <a:rPr lang="en-US" noProof="0" dirty="0">
                    <a:sym typeface="Wingdings" panose="05000000000000000000" pitchFamily="2" charset="2"/>
                  </a:rPr>
                  <a:t>	’a’ … ‘z’	                    0 … 25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noProof="0" dirty="0">
                    <a:sym typeface="Wingdings" panose="05000000000000000000" pitchFamily="2" charset="2"/>
                  </a:rPr>
                  <a:t>Chromosomes  permutations of 26 elements (letters), no constraints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𝑐𝑜𝑟𝑟𝑒𝑐𝑡</m:t>
                        </m:r>
                      </m:sub>
                    </m:sSub>
                  </m:oMath>
                </a14:m>
                <a:r>
                  <a:rPr lang="en-US" i="1" noProof="0" dirty="0"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𝑒𝑛𝑐𝑜𝑑𝑒𝑑</m:t>
                        </m:r>
                      </m:sub>
                    </m:sSub>
                  </m:oMath>
                </a14:m>
                <a:r>
                  <a:rPr lang="en-US" noProof="0" dirty="0">
                    <a:sym typeface="Wingdings" panose="05000000000000000000" pitchFamily="2" charset="2"/>
                  </a:rPr>
                  <a:t>	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</m:oMath>
                </a14:m>
                <a:r>
                  <a:rPr lang="en-US" noProof="0" dirty="0">
                    <a:sym typeface="Wingdings" panose="05000000000000000000" pitchFamily="2" charset="2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noProof="0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</a:pPr>
                <a:endParaRPr lang="en-US" noProof="0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noProof="0" dirty="0">
                    <a:sym typeface="Wingdings" panose="05000000000000000000" pitchFamily="2" charset="2"/>
                  </a:rPr>
                  <a:t>Fitness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noProof="0" dirty="0">
                    <a:sym typeface="Wingdings" panose="05000000000000000000" pitchFamily="2" charset="2"/>
                  </a:rPr>
                  <a:t>Cost  „distance” between two texts (messages) with the same length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2400" noProof="0" dirty="0">
                    <a:sym typeface="Wingdings" panose="05000000000000000000" pitchFamily="2" charset="2"/>
                  </a:rPr>
                  <a:t>Sum of differences between characters on the same position (absolute value)</a:t>
                </a:r>
              </a:p>
              <a:p>
                <a:pPr marL="914400" lvl="2" indent="0" algn="ctr">
                  <a:lnSpc>
                    <a:spcPct val="100000"/>
                  </a:lnSpc>
                  <a:buNone/>
                </a:pPr>
                <a:endParaRPr lang="en-US" sz="2400" noProof="0" dirty="0">
                  <a:sym typeface="Wingdings" panose="05000000000000000000" pitchFamily="2" charset="2"/>
                </a:endParaRPr>
              </a:p>
              <a:p>
                <a:pPr marL="914400" lvl="2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noProof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sz="2400" i="1" noProof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𝑚𝑒𝑠𝑠𝑎𝑔𝑒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noProof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𝑚𝑒𝑠𝑠𝑎𝑔𝑒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noProof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 noProof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 noProof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 noProof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 noProof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noProof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𝑚𝑒𝑠𝑠𝑎𝑔𝑒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noProof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2400" i="1" noProof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𝑚𝑒𝑠𝑠𝑎𝑔𝑒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noProof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400" noProof="0" dirty="0">
                  <a:sym typeface="Wingdings" panose="05000000000000000000" pitchFamily="2" charset="2"/>
                </a:endParaRPr>
              </a:p>
              <a:p>
                <a:pPr marL="914400" lvl="2" indent="0" algn="ctr">
                  <a:lnSpc>
                    <a:spcPct val="100000"/>
                  </a:lnSpc>
                  <a:buNone/>
                </a:pPr>
                <a:endParaRPr lang="en-US" sz="2400" noProof="0" dirty="0">
                  <a:sym typeface="Wingdings" panose="05000000000000000000" pitchFamily="2" charset="2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en-US" sz="2400" noProof="0" dirty="0">
                    <a:sym typeface="Wingdings" panose="05000000000000000000" pitchFamily="2" charset="2"/>
                  </a:rPr>
                  <a:t>Optimal value = 0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DD9001-81A7-4776-930D-E4BA8D0BC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2"/>
                <a:stretch>
                  <a:fillRect l="-900" t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AC8BC7C5-0097-49A5-A1DD-06EE887C4F11}"/>
              </a:ext>
            </a:extLst>
          </p:cNvPr>
          <p:cNvSpPr/>
          <p:nvPr/>
        </p:nvSpPr>
        <p:spPr>
          <a:xfrm>
            <a:off x="5781811" y="1858726"/>
            <a:ext cx="1751888" cy="920296"/>
          </a:xfrm>
          <a:prstGeom prst="wedgeEllipseCallout">
            <a:avLst>
              <a:gd name="adj1" fmla="val -833"/>
              <a:gd name="adj2" fmla="val -6378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Key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6EACB23E-5B53-4D9F-B299-035A52DED950}"/>
              </a:ext>
            </a:extLst>
          </p:cNvPr>
          <p:cNvSpPr/>
          <p:nvPr/>
        </p:nvSpPr>
        <p:spPr>
          <a:xfrm>
            <a:off x="7799382" y="1858726"/>
            <a:ext cx="1751888" cy="920296"/>
          </a:xfrm>
          <a:prstGeom prst="wedgeEllipseCallout">
            <a:avLst>
              <a:gd name="adj1" fmla="val -32540"/>
              <a:gd name="adj2" fmla="val -6007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Computed message using key x</a:t>
            </a:r>
          </a:p>
        </p:txBody>
      </p:sp>
    </p:spTree>
    <p:extLst>
      <p:ext uri="{BB962C8B-B14F-4D97-AF65-F5344CB8AC3E}">
        <p14:creationId xmlns:p14="http://schemas.microsoft.com/office/powerpoint/2010/main" val="29311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DD9001-81A7-4776-930D-E4BA8D0BC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Fitness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Version</a:t>
                </a:r>
                <a:r>
                  <a:rPr lang="ro-RO" dirty="0">
                    <a:sym typeface="Wingdings" panose="05000000000000000000" pitchFamily="2" charset="2"/>
                  </a:rPr>
                  <a:t> 1</a:t>
                </a:r>
                <a:r>
                  <a:rPr lang="ro-RO" dirty="0"/>
                  <a:t> </a:t>
                </a:r>
                <a:r>
                  <a:rPr lang="ro-RO" dirty="0">
                    <a:sym typeface="Wingdings" panose="05000000000000000000" pitchFamily="2" charset="2"/>
                  </a:rPr>
                  <a:t> </a:t>
                </a:r>
                <a:r>
                  <a:rPr lang="en-US" dirty="0">
                    <a:sym typeface="Wingdings" panose="05000000000000000000" pitchFamily="2" charset="2"/>
                  </a:rPr>
                  <a:t>decode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𝑒𝑛𝑐𝑜𝑑𝑒𝑑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using the inverse of</a:t>
                </a:r>
                <a:r>
                  <a:rPr lang="ro-RO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</m:oMath>
                </a14:m>
                <a:r>
                  <a:rPr lang="ro-RO" i="1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and compare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𝑐𝑜𝑟𝑟𝑒𝑐𝑡</m:t>
                        </m:r>
                      </m:sub>
                    </m:sSub>
                  </m:oMath>
                </a14:m>
                <a:endParaRPr lang="ro-RO" sz="1700" i="1" dirty="0"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ro-RO" sz="1600" i="1" dirty="0">
                  <a:sym typeface="Wingdings" panose="05000000000000000000" pitchFamily="2" charset="2"/>
                </a:endParaRP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o-RO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o-RO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ro-RO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ro-RO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𝑒𝑛𝑐𝑜𝑑𝑒𝑑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ro-RO" i="1" dirty="0">
                  <a:sym typeface="Wingdings" panose="05000000000000000000" pitchFamily="2" charset="2"/>
                </a:endParaRP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:endParaRPr lang="ro-RO" i="1" dirty="0">
                  <a:sym typeface="Wingdings" panose="05000000000000000000" pitchFamily="2" charset="2"/>
                </a:endParaRP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𝑚𝑒𝑠𝑠𝑎𝑔𝑒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𝑚𝑒𝑠𝑠𝑎𝑔𝑒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𝑐𝑜𝑟𝑟𝑒𝑐𝑡</m:t>
                              </m:r>
                            </m:sub>
                          </m:sSub>
                        </m:e>
                      </m:d>
                      <m:r>
                        <a:rPr lang="ro-RO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𝑚𝑒𝑠𝑠𝑎𝑔𝑒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𝑚𝑒𝑠𝑠𝑎𝑔𝑒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𝑐𝑜𝑟𝑟𝑒𝑐𝑡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ro-RO" i="1" dirty="0">
                  <a:sym typeface="Wingdings" panose="05000000000000000000" pitchFamily="2" charset="2"/>
                </a:endParaRP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:endParaRPr lang="ro-RO" sz="1600" i="1" dirty="0">
                  <a:sym typeface="Wingdings" panose="05000000000000000000" pitchFamily="2" charset="2"/>
                </a:endParaRP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ro-RO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o-RO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ro-RO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𝑜𝑏𝑖𝑒𝑐𝑡𝑖𝑣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o-RO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𝑐𝑜𝑠𝑡</m:t>
                        </m:r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𝑚𝑒𝑠𝑠𝑎𝑔𝑒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ro-RO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𝑚𝑒𝑠𝑠𝑎𝑔𝑒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𝑐𝑜𝑟𝑟𝑒𝑐𝑡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ro-RO" i="1" dirty="0">
                    <a:sym typeface="Wingdings" panose="05000000000000000000" pitchFamily="2" charset="2"/>
                  </a:rPr>
                  <a:t>  		optim =1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ro-RO" i="1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Version</a:t>
                </a:r>
                <a:r>
                  <a:rPr lang="ro-RO" dirty="0">
                    <a:sym typeface="Wingdings" panose="05000000000000000000" pitchFamily="2" charset="2"/>
                  </a:rPr>
                  <a:t> 2</a:t>
                </a:r>
                <a:r>
                  <a:rPr lang="ro-RO" dirty="0"/>
                  <a:t> </a:t>
                </a:r>
                <a:r>
                  <a:rPr lang="ro-RO" dirty="0">
                    <a:sym typeface="Wingdings" panose="05000000000000000000" pitchFamily="2" charset="2"/>
                  </a:rPr>
                  <a:t> </a:t>
                </a:r>
                <a:r>
                  <a:rPr lang="en-US" dirty="0">
                    <a:sym typeface="Wingdings" panose="05000000000000000000" pitchFamily="2" charset="2"/>
                  </a:rPr>
                  <a:t>encode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𝑐𝑜𝑟𝑟𝑒𝑐𝑡</m:t>
                        </m:r>
                      </m:sub>
                    </m:sSub>
                  </m:oMath>
                </a14:m>
                <a:r>
                  <a:rPr lang="en-US" sz="1700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using</a:t>
                </a:r>
                <a:r>
                  <a:rPr lang="ro-RO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</m:oMath>
                </a14:m>
                <a:r>
                  <a:rPr lang="ro-RO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and compare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𝑒𝑛𝑐𝑜𝑑𝑒𝑑</m:t>
                        </m:r>
                      </m:sub>
                    </m:sSub>
                  </m:oMath>
                </a14:m>
                <a:endParaRPr lang="ro-RO" sz="1700" i="1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ro-RO" sz="1600" i="1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o-RO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𝑚𝑒𝑠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ro-RO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𝑔𝑒</m:t>
                          </m:r>
                        </m:e>
                        <m:sub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o-RO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𝑚𝑒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𝑠𝑎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𝑔𝑒</m:t>
                              </m:r>
                            </m:e>
                            <m:sub>
                              <m:r>
                                <a:rPr lang="ro-R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𝑐𝑜𝑟</m:t>
                              </m:r>
                              <m:r>
                                <a:rPr lang="en-US" sz="1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ro-R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𝑒𝑐𝑡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o-RO" i="1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ro-RO" i="1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o-RO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𝑚𝑒𝑠𝑠𝑎𝑔𝑒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𝑚𝑒𝑠𝑠𝑎𝑔𝑒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𝑒𝑛𝑐𝑜𝑑𝑒𝑑</m:t>
                              </m:r>
                            </m:sub>
                          </m:sSub>
                        </m:e>
                      </m:d>
                      <m:r>
                        <a:rPr lang="ro-RO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𝑚𝑒𝑠𝑠𝑎𝑔𝑒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𝑚𝑒𝑠𝑠𝑎𝑔𝑒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𝑒𝑛𝑐𝑜𝑑𝑒𝑑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ro-RO" i="1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ro-RO" sz="1600" i="1" dirty="0"/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ro-RO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o-RO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ro-RO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𝑜𝑏𝑖𝑒𝑐𝑡𝑖𝑣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o-RO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ro-R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𝑐𝑜𝑠𝑡</m:t>
                        </m:r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𝑚𝑒𝑠𝑠𝑎𝑔𝑒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ro-RO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𝑚𝑒𝑠𝑠𝑎𝑔𝑒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𝑒𝑛𝑐𝑜𝑑𝑒𝑑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ro-RO" i="1" dirty="0"/>
                  <a:t> 	</a:t>
                </a:r>
                <a:r>
                  <a:rPr lang="en-US" i="1" dirty="0"/>
                  <a:t>	</a:t>
                </a:r>
                <a:r>
                  <a:rPr lang="ro-RO" i="1" dirty="0">
                    <a:sym typeface="Wingdings" panose="05000000000000000000" pitchFamily="2" charset="2"/>
                  </a:rPr>
                  <a:t>optim =1</a:t>
                </a:r>
                <a:endParaRPr lang="ro-RO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DD9001-81A7-4776-930D-E4BA8D0BC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2"/>
                <a:stretch>
                  <a:fillRect l="-900" t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885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DD9001-81A7-4776-930D-E4BA8D0BC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endParaRPr lang="ro-RO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Initializations</a:t>
                </a:r>
                <a:endParaRPr lang="ro-RO" dirty="0"/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Read from text file</a:t>
                </a:r>
                <a:r>
                  <a:rPr lang="ro-RO" dirty="0"/>
                  <a:t>: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𝑚𝑒𝑠𝑠𝑎𝑔𝑒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𝑐𝑜𝑟𝑟𝑒𝑐𝑡</m:t>
                        </m:r>
                      </m:sub>
                    </m:sSub>
                  </m:oMath>
                </a14:m>
                <a:r>
                  <a:rPr lang="ro-RO" i="1" dirty="0">
                    <a:sym typeface="Wingdings" panose="05000000000000000000" pitchFamily="2" charset="2"/>
                  </a:rPr>
                  <a:t>	</a:t>
                </a:r>
                <a:r>
                  <a:rPr lang="ro-RO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𝑚𝑒𝑠𝑎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𝑐𝑜𝑑𝑖𝑓𝑖𝑐𝑎𝑡</m:t>
                        </m:r>
                      </m:sub>
                    </m:sSub>
                  </m:oMath>
                </a14:m>
                <a:endParaRPr lang="ro-RO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Convert to numeric representation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Remove doubles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</a:pPr>
                <a:endParaRPr lang="ro-RO" b="1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dirty="0">
                    <a:sym typeface="Wingdings" panose="05000000000000000000" pitchFamily="2" charset="2"/>
                  </a:rPr>
                  <a:t>Generate initial population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Random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</a:pPr>
                <a:endParaRPr lang="ro-RO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dirty="0">
                    <a:sym typeface="Wingdings" panose="05000000000000000000" pitchFamily="2" charset="2"/>
                  </a:rPr>
                  <a:t>Stop condition 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Limited number of generations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Genetic diversity </a:t>
                </a:r>
                <a:r>
                  <a:rPr lang="ro-RO" dirty="0">
                    <a:sym typeface="Wingdings" panose="05000000000000000000" pitchFamily="2" charset="2"/>
                  </a:rPr>
                  <a:t>(</a:t>
                </a:r>
                <a:r>
                  <a:rPr lang="en-US" dirty="0">
                    <a:sym typeface="Wingdings" panose="05000000000000000000" pitchFamily="2" charset="2"/>
                  </a:rPr>
                  <a:t>at least 2 different fitness values</a:t>
                </a:r>
                <a:r>
                  <a:rPr lang="ro-RO" dirty="0">
                    <a:sym typeface="Wingdings" panose="05000000000000000000" pitchFamily="2" charset="2"/>
                  </a:rPr>
                  <a:t>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Optimal value of the fitness function</a:t>
                </a:r>
                <a:endParaRPr lang="ro-RO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DD9001-81A7-4776-930D-E4BA8D0BC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2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74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D9001-81A7-4776-930D-E4BA8D0BC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endParaRPr lang="en-US" noProof="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noProof="0" dirty="0">
                <a:sym typeface="Wingdings" panose="05000000000000000000" pitchFamily="2" charset="2"/>
              </a:rPr>
              <a:t>Parent selection</a:t>
            </a:r>
          </a:p>
          <a:p>
            <a:pPr lvl="1">
              <a:lnSpc>
                <a:spcPct val="100000"/>
              </a:lnSpc>
            </a:pPr>
            <a:r>
              <a:rPr lang="en-US" noProof="0" dirty="0">
                <a:sym typeface="Wingdings" panose="05000000000000000000" pitchFamily="2" charset="2"/>
              </a:rPr>
              <a:t>SUS, FPS with sigma-scaling</a:t>
            </a:r>
          </a:p>
          <a:p>
            <a:pPr>
              <a:lnSpc>
                <a:spcPct val="100000"/>
              </a:lnSpc>
            </a:pPr>
            <a:endParaRPr lang="en-US" noProof="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noProof="0" dirty="0">
                <a:sym typeface="Wingdings" panose="05000000000000000000" pitchFamily="2" charset="2"/>
              </a:rPr>
              <a:t>Crossover</a:t>
            </a:r>
          </a:p>
          <a:p>
            <a:pPr lvl="1">
              <a:lnSpc>
                <a:spcPct val="100000"/>
              </a:lnSpc>
            </a:pPr>
            <a:r>
              <a:rPr lang="en-US" noProof="0" dirty="0">
                <a:sym typeface="Wingdings" panose="05000000000000000000" pitchFamily="2" charset="2"/>
              </a:rPr>
              <a:t>OCX</a:t>
            </a:r>
          </a:p>
          <a:p>
            <a:pPr>
              <a:lnSpc>
                <a:spcPct val="100000"/>
              </a:lnSpc>
            </a:pPr>
            <a:endParaRPr lang="en-US" noProof="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noProof="0" dirty="0">
                <a:sym typeface="Wingdings" panose="05000000000000000000" pitchFamily="2" charset="2"/>
              </a:rPr>
              <a:t>Mutation</a:t>
            </a:r>
          </a:p>
          <a:p>
            <a:pPr lvl="1">
              <a:lnSpc>
                <a:spcPct val="100000"/>
              </a:lnSpc>
            </a:pPr>
            <a:r>
              <a:rPr lang="en-US" noProof="0" dirty="0">
                <a:sym typeface="Wingdings" panose="05000000000000000000" pitchFamily="2" charset="2"/>
              </a:rPr>
              <a:t>Swap</a:t>
            </a:r>
          </a:p>
          <a:p>
            <a:pPr>
              <a:lnSpc>
                <a:spcPct val="100000"/>
              </a:lnSpc>
            </a:pPr>
            <a:endParaRPr lang="en-US" noProof="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noProof="0" dirty="0">
                <a:sym typeface="Wingdings" panose="05000000000000000000" pitchFamily="2" charset="2"/>
              </a:rPr>
              <a:t>Selection of next generation</a:t>
            </a:r>
          </a:p>
          <a:p>
            <a:pPr lvl="1">
              <a:lnSpc>
                <a:spcPct val="100000"/>
              </a:lnSpc>
            </a:pPr>
            <a:r>
              <a:rPr lang="en-US" noProof="0" dirty="0">
                <a:sym typeface="Wingdings" panose="05000000000000000000" pitchFamily="2" charset="2"/>
              </a:rPr>
              <a:t>Generational model, age limit 1</a:t>
            </a:r>
          </a:p>
          <a:p>
            <a:pPr lvl="1">
              <a:lnSpc>
                <a:spcPct val="100000"/>
              </a:lnSpc>
            </a:pPr>
            <a:r>
              <a:rPr lang="en-US" noProof="0" dirty="0">
                <a:sym typeface="Wingdings" panose="05000000000000000000" pitchFamily="2" charset="2"/>
              </a:rPr>
              <a:t>Elitism </a:t>
            </a:r>
          </a:p>
          <a:p>
            <a:pPr>
              <a:lnSpc>
                <a:spcPct val="100000"/>
              </a:lnSpc>
            </a:pPr>
            <a:endParaRPr lang="en-US" noProof="0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endParaRPr lang="en-US" noProof="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0694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272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Consolas</vt:lpstr>
      <vt:lpstr>Times New Roman</vt:lpstr>
      <vt:lpstr>Wingdings</vt:lpstr>
      <vt:lpstr>Office Theme</vt:lpstr>
      <vt:lpstr>Encoding / decoding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Codificare / decodificare</dc:title>
  <dc:creator>X</dc:creator>
  <cp:lastModifiedBy>X</cp:lastModifiedBy>
  <cp:revision>26</cp:revision>
  <dcterms:created xsi:type="dcterms:W3CDTF">2021-04-20T10:32:00Z</dcterms:created>
  <dcterms:modified xsi:type="dcterms:W3CDTF">2026-04-26T14:56:54Z</dcterms:modified>
</cp:coreProperties>
</file>