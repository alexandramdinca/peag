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2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0F64-8052-436B-9E46-25618DC19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12854-B56B-4440-9FCE-314201656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E2412-8634-4933-9803-48B146C1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FDE5-74F8-46C3-951E-EBA38469F66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69928-A4FB-42AC-9363-BA1A140E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EAD92-9BB7-4C0B-904B-F4BCF9A03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8D21-DB3B-40E0-8EC3-8859E489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348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9C51A-EDEE-4BDD-BA81-73AE0D39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FC28C-A75F-4458-9E29-FB7431DB7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FCB90-62DD-4665-85B0-7CAB49A5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FDE5-74F8-46C3-951E-EBA38469F66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8D23D-E928-468C-A9B3-3884DE1CD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25722-B260-43FD-AC24-56C01731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8D21-DB3B-40E0-8EC3-8859E489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DFCF1-6D80-4A6E-A412-B05FE3E64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05D13-4557-42B1-BB9F-09B89CDAE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E3F36-8878-4134-8E88-84A56B706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FDE5-74F8-46C3-951E-EBA38469F66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CA372-600D-4B6B-B5D8-FB09B241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93BE3-2487-4672-BFA1-67013A23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8D21-DB3B-40E0-8EC3-8859E489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4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19B4-A1FA-4592-8755-E30D547A7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40F50-E385-47C9-977F-B3CA9F220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E49AC-4B66-4615-BF15-5B6BAB300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1C8E2-36D4-4ABD-819F-D3867B057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FDE5-74F8-46C3-951E-EBA38469F66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BCCE4-370F-43D6-B0DA-92EA76446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CC7FA-1C4D-4E4B-9E73-B2D9FD81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8D21-DB3B-40E0-8EC3-8859E489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2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9009E-D34E-4565-BB7D-697F9FA0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D0CB9-9A5E-44D4-99F4-7A330A853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D7EE5-D924-4E34-9662-292A6B3FC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AE6D78-44B2-4673-9218-AB7967042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C1D87E-9A5C-49DC-879A-C7443BB86D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AF4135-328E-4726-A2EE-8C19C5DF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FDE5-74F8-46C3-951E-EBA38469F66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33A4A3-C975-4A5E-85F7-B0CA8163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480830-9296-4B8A-8F3E-94ECE6D4B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8D21-DB3B-40E0-8EC3-8859E489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77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6163A-0EB1-45D6-A916-2C78511A3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E32E21-DC14-417A-B5BE-044109CB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FDE5-74F8-46C3-951E-EBA38469F66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A8CE0-6EB1-4EA0-82F1-AAD93D4F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1FC42-93B7-42CB-A369-7336A510D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8D21-DB3B-40E0-8EC3-8859E489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3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70CDC1-2EE6-4940-A3FE-349106080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FDE5-74F8-46C3-951E-EBA38469F66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10B34F-A88B-4A49-8DE6-1E1608333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1B20B-85C9-4A45-9529-37326132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8D21-DB3B-40E0-8EC3-8859E489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D130-890E-4E66-8A54-D104DB859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F535-2BE8-4017-9EFD-CD743197F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F044B-4932-4E26-8DCC-4373CF391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4D8AB-AF46-448D-918A-FD9F7D83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FDE5-74F8-46C3-951E-EBA38469F66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DA5C5-AFAF-4F24-9D61-6956EA0AF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FC836-D121-4429-BA76-8BDF564CE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8D21-DB3B-40E0-8EC3-8859E489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6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4917-2FE1-4F70-9547-85C1D88FE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0EA6CB-87AF-47CC-8613-0D5C4FE83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20202-D7B8-4144-9A1E-67D5CBBE6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4BCF9-9E6A-4793-9357-1AABDCA4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FDE5-74F8-46C3-951E-EBA38469F66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B5584-BC6A-492E-8229-995D2469F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56CEE-2A4B-4392-BBA8-FBAAE801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8D21-DB3B-40E0-8EC3-8859E489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97A4-DF0A-4EF4-BF81-3CD08069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E4865-84A5-4219-A016-A8BA784B3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0108E-493E-499B-8B9C-6BB0FA74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FDE5-74F8-46C3-951E-EBA38469F66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6A05C-1F9A-48A5-B1F8-F3F5956E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39CBE-27E2-4B03-8B52-96C94F35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8D21-DB3B-40E0-8EC3-8859E489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7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220565-A48B-4D2B-915F-505246AF0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BC699-29FA-48B9-9865-0F51CCB0D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D950D-FC1E-4162-84CA-5341AEF71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FDE5-74F8-46C3-951E-EBA38469F66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65E82-4DC2-40D2-8D89-29B3514D2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1DD6C-D6D3-4D6D-8ECB-E649E1993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8D21-DB3B-40E0-8EC3-8859E489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49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EE8D78-AE09-4367-9A94-02FE33AD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1E536-DFCC-4645-8260-1EF086329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641A4-389C-40EC-94B5-6CB81DC2B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2FDE5-74F8-46C3-951E-EBA38469F663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9C285-BDB4-43F5-8151-FC6603654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7485A-EABA-42AF-9EEB-2D9372F7F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68D21-DB3B-40E0-8EC3-8859E4897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0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51B9D09-D7B5-4F7C-9CDE-B5D0487B7FDC}"/>
              </a:ext>
            </a:extLst>
          </p:cNvPr>
          <p:cNvSpPr/>
          <p:nvPr/>
        </p:nvSpPr>
        <p:spPr>
          <a:xfrm>
            <a:off x="743712" y="696686"/>
            <a:ext cx="5221659" cy="5143282"/>
          </a:xfrm>
          <a:custGeom>
            <a:avLst/>
            <a:gdLst>
              <a:gd name="connsiteX0" fmla="*/ 4157472 w 5169408"/>
              <a:gd name="connsiteY0" fmla="*/ 85344 h 5011801"/>
              <a:gd name="connsiteX1" fmla="*/ 3877056 w 5169408"/>
              <a:gd name="connsiteY1" fmla="*/ 0 h 5011801"/>
              <a:gd name="connsiteX2" fmla="*/ 3730752 w 5169408"/>
              <a:gd name="connsiteY2" fmla="*/ 0 h 5011801"/>
              <a:gd name="connsiteX3" fmla="*/ 2999232 w 5169408"/>
              <a:gd name="connsiteY3" fmla="*/ 48768 h 5011801"/>
              <a:gd name="connsiteX4" fmla="*/ 2267712 w 5169408"/>
              <a:gd name="connsiteY4" fmla="*/ 121920 h 5011801"/>
              <a:gd name="connsiteX5" fmla="*/ 2145792 w 5169408"/>
              <a:gd name="connsiteY5" fmla="*/ 134112 h 5011801"/>
              <a:gd name="connsiteX6" fmla="*/ 2109216 w 5169408"/>
              <a:gd name="connsiteY6" fmla="*/ 121920 h 5011801"/>
              <a:gd name="connsiteX7" fmla="*/ 1597152 w 5169408"/>
              <a:gd name="connsiteY7" fmla="*/ 24384 h 5011801"/>
              <a:gd name="connsiteX8" fmla="*/ 1024128 w 5169408"/>
              <a:gd name="connsiteY8" fmla="*/ 207264 h 5011801"/>
              <a:gd name="connsiteX9" fmla="*/ 902208 w 5169408"/>
              <a:gd name="connsiteY9" fmla="*/ 219456 h 5011801"/>
              <a:gd name="connsiteX10" fmla="*/ 329184 w 5169408"/>
              <a:gd name="connsiteY10" fmla="*/ 341376 h 5011801"/>
              <a:gd name="connsiteX11" fmla="*/ 134112 w 5169408"/>
              <a:gd name="connsiteY11" fmla="*/ 1499616 h 5011801"/>
              <a:gd name="connsiteX12" fmla="*/ 121920 w 5169408"/>
              <a:gd name="connsiteY12" fmla="*/ 1609344 h 5011801"/>
              <a:gd name="connsiteX13" fmla="*/ 97536 w 5169408"/>
              <a:gd name="connsiteY13" fmla="*/ 1767840 h 5011801"/>
              <a:gd name="connsiteX14" fmla="*/ 73152 w 5169408"/>
              <a:gd name="connsiteY14" fmla="*/ 2084832 h 5011801"/>
              <a:gd name="connsiteX15" fmla="*/ 60960 w 5169408"/>
              <a:gd name="connsiteY15" fmla="*/ 2267712 h 5011801"/>
              <a:gd name="connsiteX16" fmla="*/ 146304 w 5169408"/>
              <a:gd name="connsiteY16" fmla="*/ 3060192 h 5011801"/>
              <a:gd name="connsiteX17" fmla="*/ 158496 w 5169408"/>
              <a:gd name="connsiteY17" fmla="*/ 3230880 h 5011801"/>
              <a:gd name="connsiteX18" fmla="*/ 0 w 5169408"/>
              <a:gd name="connsiteY18" fmla="*/ 3523488 h 5011801"/>
              <a:gd name="connsiteX19" fmla="*/ 0 w 5169408"/>
              <a:gd name="connsiteY19" fmla="*/ 3864864 h 5011801"/>
              <a:gd name="connsiteX20" fmla="*/ 12192 w 5169408"/>
              <a:gd name="connsiteY20" fmla="*/ 3974592 h 5011801"/>
              <a:gd name="connsiteX21" fmla="*/ 341376 w 5169408"/>
              <a:gd name="connsiteY21" fmla="*/ 4376928 h 5011801"/>
              <a:gd name="connsiteX22" fmla="*/ 877824 w 5169408"/>
              <a:gd name="connsiteY22" fmla="*/ 4998720 h 5011801"/>
              <a:gd name="connsiteX23" fmla="*/ 1048512 w 5169408"/>
              <a:gd name="connsiteY23" fmla="*/ 4998720 h 5011801"/>
              <a:gd name="connsiteX24" fmla="*/ 1072896 w 5169408"/>
              <a:gd name="connsiteY24" fmla="*/ 4986528 h 5011801"/>
              <a:gd name="connsiteX25" fmla="*/ 2011680 w 5169408"/>
              <a:gd name="connsiteY25" fmla="*/ 5010912 h 5011801"/>
              <a:gd name="connsiteX26" fmla="*/ 2426208 w 5169408"/>
              <a:gd name="connsiteY26" fmla="*/ 5010912 h 5011801"/>
              <a:gd name="connsiteX27" fmla="*/ 3206496 w 5169408"/>
              <a:gd name="connsiteY27" fmla="*/ 4949952 h 5011801"/>
              <a:gd name="connsiteX28" fmla="*/ 3255264 w 5169408"/>
              <a:gd name="connsiteY28" fmla="*/ 4815840 h 5011801"/>
              <a:gd name="connsiteX29" fmla="*/ 3291840 w 5169408"/>
              <a:gd name="connsiteY29" fmla="*/ 4803648 h 5011801"/>
              <a:gd name="connsiteX30" fmla="*/ 3572256 w 5169408"/>
              <a:gd name="connsiteY30" fmla="*/ 4779264 h 5011801"/>
              <a:gd name="connsiteX31" fmla="*/ 3742944 w 5169408"/>
              <a:gd name="connsiteY31" fmla="*/ 4803648 h 5011801"/>
              <a:gd name="connsiteX32" fmla="*/ 3864864 w 5169408"/>
              <a:gd name="connsiteY32" fmla="*/ 4815840 h 5011801"/>
              <a:gd name="connsiteX33" fmla="*/ 4047744 w 5169408"/>
              <a:gd name="connsiteY33" fmla="*/ 4535424 h 5011801"/>
              <a:gd name="connsiteX34" fmla="*/ 4596384 w 5169408"/>
              <a:gd name="connsiteY34" fmla="*/ 4584192 h 5011801"/>
              <a:gd name="connsiteX35" fmla="*/ 4791456 w 5169408"/>
              <a:gd name="connsiteY35" fmla="*/ 4572000 h 5011801"/>
              <a:gd name="connsiteX36" fmla="*/ 4888992 w 5169408"/>
              <a:gd name="connsiteY36" fmla="*/ 4547616 h 5011801"/>
              <a:gd name="connsiteX37" fmla="*/ 5145024 w 5169408"/>
              <a:gd name="connsiteY37" fmla="*/ 4450080 h 5011801"/>
              <a:gd name="connsiteX38" fmla="*/ 5169408 w 5169408"/>
              <a:gd name="connsiteY38" fmla="*/ 4084320 h 5011801"/>
              <a:gd name="connsiteX39" fmla="*/ 5169408 w 5169408"/>
              <a:gd name="connsiteY39" fmla="*/ 3950208 h 5011801"/>
              <a:gd name="connsiteX40" fmla="*/ 5169408 w 5169408"/>
              <a:gd name="connsiteY40" fmla="*/ 3840480 h 5011801"/>
              <a:gd name="connsiteX41" fmla="*/ 4815840 w 5169408"/>
              <a:gd name="connsiteY41" fmla="*/ 3108960 h 5011801"/>
              <a:gd name="connsiteX42" fmla="*/ 4754880 w 5169408"/>
              <a:gd name="connsiteY42" fmla="*/ 2462784 h 5011801"/>
              <a:gd name="connsiteX43" fmla="*/ 4828032 w 5169408"/>
              <a:gd name="connsiteY43" fmla="*/ 2365248 h 5011801"/>
              <a:gd name="connsiteX44" fmla="*/ 5047488 w 5169408"/>
              <a:gd name="connsiteY44" fmla="*/ 2084832 h 5011801"/>
              <a:gd name="connsiteX45" fmla="*/ 5108448 w 5169408"/>
              <a:gd name="connsiteY45" fmla="*/ 1975104 h 5011801"/>
              <a:gd name="connsiteX46" fmla="*/ 5132832 w 5169408"/>
              <a:gd name="connsiteY46" fmla="*/ 1426464 h 5011801"/>
              <a:gd name="connsiteX47" fmla="*/ 5132832 w 5169408"/>
              <a:gd name="connsiteY47" fmla="*/ 768096 h 5011801"/>
              <a:gd name="connsiteX48" fmla="*/ 4998720 w 5169408"/>
              <a:gd name="connsiteY48" fmla="*/ 646176 h 5011801"/>
              <a:gd name="connsiteX49" fmla="*/ 4157472 w 5169408"/>
              <a:gd name="connsiteY49" fmla="*/ 85344 h 501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5169408" h="5011801">
                <a:moveTo>
                  <a:pt x="4157472" y="85344"/>
                </a:moveTo>
                <a:lnTo>
                  <a:pt x="3877056" y="0"/>
                </a:lnTo>
                <a:lnTo>
                  <a:pt x="3730752" y="0"/>
                </a:lnTo>
                <a:lnTo>
                  <a:pt x="2999232" y="48768"/>
                </a:lnTo>
                <a:lnTo>
                  <a:pt x="2267712" y="121920"/>
                </a:lnTo>
                <a:cubicBezTo>
                  <a:pt x="2227072" y="125984"/>
                  <a:pt x="2186635" y="134112"/>
                  <a:pt x="2145792" y="134112"/>
                </a:cubicBezTo>
                <a:cubicBezTo>
                  <a:pt x="2132941" y="134112"/>
                  <a:pt x="2109216" y="121920"/>
                  <a:pt x="2109216" y="121920"/>
                </a:cubicBezTo>
                <a:lnTo>
                  <a:pt x="1597152" y="24384"/>
                </a:lnTo>
                <a:lnTo>
                  <a:pt x="1024128" y="207264"/>
                </a:lnTo>
                <a:lnTo>
                  <a:pt x="902208" y="219456"/>
                </a:lnTo>
                <a:lnTo>
                  <a:pt x="329184" y="341376"/>
                </a:lnTo>
                <a:lnTo>
                  <a:pt x="134112" y="1499616"/>
                </a:lnTo>
                <a:cubicBezTo>
                  <a:pt x="130048" y="1536192"/>
                  <a:pt x="126892" y="1572880"/>
                  <a:pt x="121920" y="1609344"/>
                </a:cubicBezTo>
                <a:cubicBezTo>
                  <a:pt x="114698" y="1662307"/>
                  <a:pt x="97536" y="1767840"/>
                  <a:pt x="97536" y="1767840"/>
                </a:cubicBezTo>
                <a:lnTo>
                  <a:pt x="73152" y="2084832"/>
                </a:lnTo>
                <a:cubicBezTo>
                  <a:pt x="60670" y="2259574"/>
                  <a:pt x="60960" y="2198479"/>
                  <a:pt x="60960" y="2267712"/>
                </a:cubicBezTo>
                <a:lnTo>
                  <a:pt x="146304" y="3060192"/>
                </a:lnTo>
                <a:cubicBezTo>
                  <a:pt x="158808" y="3222740"/>
                  <a:pt x="158496" y="3165700"/>
                  <a:pt x="158496" y="3230880"/>
                </a:cubicBezTo>
                <a:lnTo>
                  <a:pt x="0" y="3523488"/>
                </a:lnTo>
                <a:lnTo>
                  <a:pt x="0" y="3864864"/>
                </a:lnTo>
                <a:lnTo>
                  <a:pt x="12192" y="3974592"/>
                </a:lnTo>
                <a:lnTo>
                  <a:pt x="341376" y="4376928"/>
                </a:lnTo>
                <a:lnTo>
                  <a:pt x="877824" y="4998720"/>
                </a:lnTo>
                <a:cubicBezTo>
                  <a:pt x="974985" y="5008436"/>
                  <a:pt x="977119" y="5022518"/>
                  <a:pt x="1048512" y="4998720"/>
                </a:cubicBezTo>
                <a:cubicBezTo>
                  <a:pt x="1057133" y="4995846"/>
                  <a:pt x="1064768" y="4990592"/>
                  <a:pt x="1072896" y="4986528"/>
                </a:cubicBezTo>
                <a:lnTo>
                  <a:pt x="2011680" y="5010912"/>
                </a:lnTo>
                <a:lnTo>
                  <a:pt x="2426208" y="5010912"/>
                </a:lnTo>
                <a:lnTo>
                  <a:pt x="3206496" y="4949952"/>
                </a:lnTo>
                <a:cubicBezTo>
                  <a:pt x="3222752" y="4905248"/>
                  <a:pt x="3231296" y="4856928"/>
                  <a:pt x="3255264" y="4815840"/>
                </a:cubicBezTo>
                <a:cubicBezTo>
                  <a:pt x="3261739" y="4804739"/>
                  <a:pt x="3291840" y="4803648"/>
                  <a:pt x="3291840" y="4803648"/>
                </a:cubicBezTo>
                <a:lnTo>
                  <a:pt x="3572256" y="4779264"/>
                </a:lnTo>
                <a:lnTo>
                  <a:pt x="3742944" y="4803648"/>
                </a:lnTo>
                <a:cubicBezTo>
                  <a:pt x="3783471" y="4808714"/>
                  <a:pt x="3864864" y="4815840"/>
                  <a:pt x="3864864" y="4815840"/>
                </a:cubicBezTo>
                <a:lnTo>
                  <a:pt x="4047744" y="4535424"/>
                </a:lnTo>
                <a:lnTo>
                  <a:pt x="4596384" y="4584192"/>
                </a:lnTo>
                <a:cubicBezTo>
                  <a:pt x="4661408" y="4580128"/>
                  <a:pt x="4726808" y="4580081"/>
                  <a:pt x="4791456" y="4572000"/>
                </a:cubicBezTo>
                <a:cubicBezTo>
                  <a:pt x="4824710" y="4567843"/>
                  <a:pt x="4888992" y="4547616"/>
                  <a:pt x="4888992" y="4547616"/>
                </a:cubicBezTo>
                <a:lnTo>
                  <a:pt x="5145024" y="4450080"/>
                </a:lnTo>
                <a:lnTo>
                  <a:pt x="5169408" y="4084320"/>
                </a:lnTo>
                <a:lnTo>
                  <a:pt x="5169408" y="3950208"/>
                </a:lnTo>
                <a:lnTo>
                  <a:pt x="5169408" y="3840480"/>
                </a:lnTo>
                <a:lnTo>
                  <a:pt x="4815840" y="3108960"/>
                </a:lnTo>
                <a:lnTo>
                  <a:pt x="4754880" y="2462784"/>
                </a:lnTo>
                <a:lnTo>
                  <a:pt x="4828032" y="2365248"/>
                </a:lnTo>
                <a:lnTo>
                  <a:pt x="5047488" y="2084832"/>
                </a:lnTo>
                <a:lnTo>
                  <a:pt x="5108448" y="1975104"/>
                </a:lnTo>
                <a:lnTo>
                  <a:pt x="5132832" y="1426464"/>
                </a:lnTo>
                <a:lnTo>
                  <a:pt x="5132832" y="768096"/>
                </a:lnTo>
                <a:lnTo>
                  <a:pt x="4998720" y="646176"/>
                </a:lnTo>
                <a:lnTo>
                  <a:pt x="4157472" y="85344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00E5690-3767-4FE5-92FB-A518E1569A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303420"/>
                  </p:ext>
                </p:extLst>
              </p:nvPr>
            </p:nvGraphicFramePr>
            <p:xfrm>
              <a:off x="1026162" y="931596"/>
              <a:ext cx="4658400" cy="465709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65840">
                      <a:extLst>
                        <a:ext uri="{9D8B030D-6E8A-4147-A177-3AD203B41FA5}">
                          <a16:colId xmlns:a16="http://schemas.microsoft.com/office/drawing/2014/main" val="3194535653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853110976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2526241418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1086323641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917787989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2476106620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937857763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3429433322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2137562685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400884342"/>
                        </a:ext>
                      </a:extLst>
                    </a:gridCol>
                  </a:tblGrid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800" b="1" noProof="0" smtClean="0">
                                    <a:effectLst/>
                                    <a:latin typeface="+mn-lt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9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262243004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9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547000641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9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995766149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2625942284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9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4471650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34588564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9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380316542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2439057624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214579355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9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5616543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00E5690-3767-4FE5-92FB-A518E1569A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303420"/>
                  </p:ext>
                </p:extLst>
              </p:nvPr>
            </p:nvGraphicFramePr>
            <p:xfrm>
              <a:off x="1026162" y="931596"/>
              <a:ext cx="4658400" cy="465709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65840">
                      <a:extLst>
                        <a:ext uri="{9D8B030D-6E8A-4147-A177-3AD203B41FA5}">
                          <a16:colId xmlns:a16="http://schemas.microsoft.com/office/drawing/2014/main" val="3194535653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853110976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2526241418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1086323641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917787989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2476106620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937857763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3429433322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2137562685"/>
                        </a:ext>
                      </a:extLst>
                    </a:gridCol>
                    <a:gridCol w="465840">
                      <a:extLst>
                        <a:ext uri="{9D8B030D-6E8A-4147-A177-3AD203B41FA5}">
                          <a16:colId xmlns:a16="http://schemas.microsoft.com/office/drawing/2014/main" val="400884342"/>
                        </a:ext>
                      </a:extLst>
                    </a:gridCol>
                  </a:tblGrid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blipFill>
                          <a:blip r:embed="rId2"/>
                          <a:stretch>
                            <a:fillRect l="-102632" t="-1299" r="-807895" b="-906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9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262243004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9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547000641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9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995766149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2625942284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9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4471650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34588564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9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3380316542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2439057624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8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7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0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1214579355"/>
                      </a:ext>
                    </a:extLst>
                  </a:tr>
                  <a:tr h="465709"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4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9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1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2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6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5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tc>
                      <a:txBody>
                        <a:bodyPr/>
                        <a:lstStyle/>
                        <a:p>
                          <a:pPr marL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800" b="1" noProof="0" dirty="0">
                              <a:effectLst/>
                              <a:latin typeface="+mn-lt"/>
                            </a:rPr>
                            <a:t>3</a:t>
                          </a:r>
                          <a:endParaRPr lang="en-US" sz="1800" b="1" noProof="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/>
                    </a:tc>
                    <a:extLst>
                      <a:ext uri="{0D108BD9-81ED-4DB2-BD59-A6C34878D82A}">
                        <a16:rowId xmlns:a16="http://schemas.microsoft.com/office/drawing/2014/main" val="5616543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CCFF7B90-5C1C-4362-AA75-DBEFA7FB4F07}"/>
              </a:ext>
            </a:extLst>
          </p:cNvPr>
          <p:cNvSpPr/>
          <p:nvPr/>
        </p:nvSpPr>
        <p:spPr>
          <a:xfrm>
            <a:off x="1026162" y="290286"/>
            <a:ext cx="4644000" cy="406400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n</a:t>
            </a:r>
            <a:endParaRPr lang="en-US" b="1" noProof="0" dirty="0"/>
          </a:p>
        </p:txBody>
      </p:sp>
      <p:sp>
        <p:nvSpPr>
          <p:cNvPr id="6" name="Arrow: Up-Down 5">
            <a:extLst>
              <a:ext uri="{FF2B5EF4-FFF2-40B4-BE49-F238E27FC236}">
                <a16:creationId xmlns:a16="http://schemas.microsoft.com/office/drawing/2014/main" id="{E57FA343-C473-497E-A36A-C750CE0B26C5}"/>
              </a:ext>
            </a:extLst>
          </p:cNvPr>
          <p:cNvSpPr/>
          <p:nvPr/>
        </p:nvSpPr>
        <p:spPr>
          <a:xfrm>
            <a:off x="217716" y="931596"/>
            <a:ext cx="435429" cy="4657090"/>
          </a:xfrm>
          <a:prstGeom prst="up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n</a:t>
            </a:r>
            <a:endParaRPr lang="en-US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14B4AF-848F-4702-8693-BD2002173D2E}"/>
                  </a:ext>
                </a:extLst>
              </p:cNvPr>
              <p:cNvSpPr txBox="1"/>
              <p:nvPr/>
            </p:nvSpPr>
            <p:spPr>
              <a:xfrm>
                <a:off x="5965371" y="1642796"/>
                <a:ext cx="6096000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i="1" noProof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 noProof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0" noProof="0">
                          <a:latin typeface="Cambria Math" panose="02040503050406030204" pitchFamily="18" charset="0"/>
                        </a:rPr>
                        <m:t>=1.7+3.4×</m:t>
                      </m:r>
                      <m:rad>
                        <m:radPr>
                          <m:degHide m:val="on"/>
                          <m:ctrlPr>
                            <a:rPr lang="en-US" i="1" noProof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noProof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noProof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0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noProof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𝑢𝑟𝑔𝑒𝑛𝑡𝑎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0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 noProof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noProof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noProof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i="0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noProof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noProof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𝑢𝑟𝑔𝑒𝑛𝑡𝑎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0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14B4AF-848F-4702-8693-BD2002173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371" y="1642796"/>
                <a:ext cx="6096000" cy="656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F1B8CD-9902-406F-9873-2886E75DB15F}"/>
                  </a:ext>
                </a:extLst>
              </p:cNvPr>
              <p:cNvSpPr txBox="1"/>
              <p:nvPr/>
            </p:nvSpPr>
            <p:spPr>
              <a:xfrm>
                <a:off x="5965371" y="3783515"/>
                <a:ext cx="6096000" cy="879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n-US" i="1" noProof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 noProof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0" noProof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 noProof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noProof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0" noProof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 noProof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n-US" i="1" noProof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0" noProof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i="0" noProof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i="1" noProof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i="1" noProof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0" noProof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F1B8CD-9902-406F-9873-2886E75DB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371" y="3783515"/>
                <a:ext cx="6096000" cy="8794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DBE3242-B01C-4328-A3A6-28C7A4FC0921}"/>
              </a:ext>
            </a:extLst>
          </p:cNvPr>
          <p:cNvSpPr txBox="1"/>
          <p:nvPr/>
        </p:nvSpPr>
        <p:spPr>
          <a:xfrm>
            <a:off x="6043179" y="845429"/>
            <a:ext cx="2743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Response time for a sector: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8543F-251D-4567-B27E-8FD33DB34D42}"/>
              </a:ext>
            </a:extLst>
          </p:cNvPr>
          <p:cNvSpPr txBox="1"/>
          <p:nvPr/>
        </p:nvSpPr>
        <p:spPr>
          <a:xfrm>
            <a:off x="6096000" y="3154122"/>
            <a:ext cx="2024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Total response time</a:t>
            </a:r>
          </a:p>
        </p:txBody>
      </p:sp>
      <p:pic>
        <p:nvPicPr>
          <p:cNvPr id="14" name="Graphic 13" descr="Building">
            <a:extLst>
              <a:ext uri="{FF2B5EF4-FFF2-40B4-BE49-F238E27FC236}">
                <a16:creationId xmlns:a16="http://schemas.microsoft.com/office/drawing/2014/main" id="{0F24F81D-87AC-4D82-9F8E-FC008CF278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9038" y="2330483"/>
            <a:ext cx="469124" cy="469124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49469C-DE39-4339-BE58-BFE7C4B98765}"/>
              </a:ext>
            </a:extLst>
          </p:cNvPr>
          <p:cNvCxnSpPr>
            <a:cxnSpLocks/>
          </p:cNvCxnSpPr>
          <p:nvPr/>
        </p:nvCxnSpPr>
        <p:spPr>
          <a:xfrm flipV="1">
            <a:off x="3186554" y="1642796"/>
            <a:ext cx="1405324" cy="843263"/>
          </a:xfrm>
          <a:prstGeom prst="straightConnector1">
            <a:avLst/>
          </a:prstGeom>
          <a:ln w="88900">
            <a:solidFill>
              <a:srgbClr val="0070C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F2CC9E-5B94-45D0-84A8-7C93DEE60055}"/>
              </a:ext>
            </a:extLst>
          </p:cNvPr>
          <p:cNvCxnSpPr>
            <a:cxnSpLocks/>
          </p:cNvCxnSpPr>
          <p:nvPr/>
        </p:nvCxnSpPr>
        <p:spPr>
          <a:xfrm flipH="1" flipV="1">
            <a:off x="2108270" y="2064427"/>
            <a:ext cx="1076372" cy="421632"/>
          </a:xfrm>
          <a:prstGeom prst="straightConnector1">
            <a:avLst/>
          </a:prstGeom>
          <a:ln w="88900">
            <a:solidFill>
              <a:srgbClr val="0070C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B75973-B1AE-45B7-BF43-C07C7F68BF9D}"/>
              </a:ext>
            </a:extLst>
          </p:cNvPr>
          <p:cNvCxnSpPr>
            <a:cxnSpLocks/>
          </p:cNvCxnSpPr>
          <p:nvPr/>
        </p:nvCxnSpPr>
        <p:spPr>
          <a:xfrm flipH="1">
            <a:off x="1682432" y="2486059"/>
            <a:ext cx="1431168" cy="1001235"/>
          </a:xfrm>
          <a:prstGeom prst="straightConnector1">
            <a:avLst/>
          </a:prstGeom>
          <a:ln w="88900">
            <a:solidFill>
              <a:srgbClr val="0070C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0A2F5C7-D7E7-4D39-A57B-57F6EDF3D699}"/>
              </a:ext>
            </a:extLst>
          </p:cNvPr>
          <p:cNvCxnSpPr>
            <a:cxnSpLocks/>
          </p:cNvCxnSpPr>
          <p:nvPr/>
        </p:nvCxnSpPr>
        <p:spPr>
          <a:xfrm flipH="1">
            <a:off x="2126265" y="2486059"/>
            <a:ext cx="1058377" cy="2403993"/>
          </a:xfrm>
          <a:prstGeom prst="straightConnector1">
            <a:avLst/>
          </a:prstGeom>
          <a:ln w="88900">
            <a:solidFill>
              <a:srgbClr val="0070C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B8F6BD4-9BA4-4C24-9B6B-4276E5A7A8AE}"/>
              </a:ext>
            </a:extLst>
          </p:cNvPr>
          <p:cNvCxnSpPr>
            <a:cxnSpLocks/>
          </p:cNvCxnSpPr>
          <p:nvPr/>
        </p:nvCxnSpPr>
        <p:spPr>
          <a:xfrm>
            <a:off x="3183370" y="2565045"/>
            <a:ext cx="435462" cy="1400990"/>
          </a:xfrm>
          <a:prstGeom prst="straightConnector1">
            <a:avLst/>
          </a:prstGeom>
          <a:ln w="88900">
            <a:solidFill>
              <a:srgbClr val="0070C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092D42-EBCC-47A5-85ED-C5E60AF2F9A0}"/>
              </a:ext>
            </a:extLst>
          </p:cNvPr>
          <p:cNvCxnSpPr>
            <a:cxnSpLocks/>
          </p:cNvCxnSpPr>
          <p:nvPr/>
        </p:nvCxnSpPr>
        <p:spPr>
          <a:xfrm flipV="1">
            <a:off x="3139298" y="1214761"/>
            <a:ext cx="0" cy="1271298"/>
          </a:xfrm>
          <a:prstGeom prst="straightConnector1">
            <a:avLst/>
          </a:prstGeom>
          <a:ln w="88900">
            <a:solidFill>
              <a:srgbClr val="0070C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0D9F186-703C-4D08-91EC-286D721D595B}"/>
              </a:ext>
            </a:extLst>
          </p:cNvPr>
          <p:cNvCxnSpPr>
            <a:cxnSpLocks/>
          </p:cNvCxnSpPr>
          <p:nvPr/>
        </p:nvCxnSpPr>
        <p:spPr>
          <a:xfrm>
            <a:off x="3184642" y="2565045"/>
            <a:ext cx="1881063" cy="0"/>
          </a:xfrm>
          <a:prstGeom prst="straightConnector1">
            <a:avLst/>
          </a:prstGeom>
          <a:ln w="88900">
            <a:solidFill>
              <a:srgbClr val="0070C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DD8F8DE-83F2-475F-B042-8D33485502A2}"/>
              </a:ext>
            </a:extLst>
          </p:cNvPr>
          <p:cNvGrpSpPr/>
          <p:nvPr/>
        </p:nvGrpSpPr>
        <p:grpSpPr>
          <a:xfrm>
            <a:off x="9013371" y="5249209"/>
            <a:ext cx="2288790" cy="840698"/>
            <a:chOff x="9159498" y="5737737"/>
            <a:chExt cx="2288790" cy="840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59BB660-3B24-4B0B-B5BA-44C8550CD029}"/>
                    </a:ext>
                  </a:extLst>
                </p:cNvPr>
                <p:cNvSpPr txBox="1"/>
                <p:nvPr/>
              </p:nvSpPr>
              <p:spPr>
                <a:xfrm>
                  <a:off x="9159498" y="5737737"/>
                  <a:ext cx="2288790" cy="3919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𝑢𝑟𝑔𝑒𝑛𝑡𝑎</m:t>
                          </m:r>
                        </m:sub>
                      </m:sSub>
                    </m:oMath>
                  </a14:m>
                  <a:r>
                    <a:rPr lang="en-US" noProof="0" dirty="0"/>
                    <a:t> = ?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59BB660-3B24-4B0B-B5BA-44C8550CD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9498" y="5737737"/>
                  <a:ext cx="2288790" cy="391902"/>
                </a:xfrm>
                <a:prstGeom prst="rect">
                  <a:avLst/>
                </a:prstGeom>
                <a:blipFill>
                  <a:blip r:embed="rId7"/>
                  <a:stretch>
                    <a:fillRect t="-6250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DC0A470-85FD-49A1-A487-26AA4FD32F4A}"/>
                    </a:ext>
                  </a:extLst>
                </p:cNvPr>
                <p:cNvSpPr txBox="1"/>
                <p:nvPr/>
              </p:nvSpPr>
              <p:spPr>
                <a:xfrm>
                  <a:off x="9159498" y="6186533"/>
                  <a:ext cx="2288790" cy="3919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𝑢𝑟𝑔𝑒𝑛𝑡𝑎</m:t>
                          </m:r>
                        </m:sub>
                      </m:sSub>
                    </m:oMath>
                  </a14:m>
                  <a:r>
                    <a:rPr lang="en-US" noProof="0" dirty="0"/>
                    <a:t> = ?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DC0A470-85FD-49A1-A487-26AA4FD32F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9498" y="6186533"/>
                  <a:ext cx="2288790" cy="391902"/>
                </a:xfrm>
                <a:prstGeom prst="rect">
                  <a:avLst/>
                </a:prstGeom>
                <a:blipFill>
                  <a:blip r:embed="rId8"/>
                  <a:stretch>
                    <a:fillRect t="-7813" b="-203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A55F5F0-1169-40DF-B20C-E72EDB651192}"/>
                  </a:ext>
                </a:extLst>
              </p:cNvPr>
              <p:cNvSpPr txBox="1"/>
              <p:nvPr/>
            </p:nvSpPr>
            <p:spPr>
              <a:xfrm>
                <a:off x="6827007" y="5484892"/>
                <a:ext cx="30971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𝑐𝑜𝑠𝑡</m:t>
                    </m:r>
                    <m:d>
                      <m:dPr>
                        <m:ctrlPr>
                          <a:rPr lang="en-US" i="1" noProof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0" noProof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noProof="0" dirty="0"/>
                  <a:t> minim </a:t>
                </a:r>
                <a:r>
                  <a:rPr lang="en-US" noProof="0" dirty="0">
                    <a:sym typeface="Wingdings" panose="05000000000000000000" pitchFamily="2" charset="2"/>
                  </a:rPr>
                  <a:t></a:t>
                </a:r>
                <a:r>
                  <a:rPr lang="en-US" noProof="0" dirty="0"/>
                  <a:t> 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A55F5F0-1169-40DF-B20C-E72EDB651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007" y="5484892"/>
                <a:ext cx="3097181" cy="369332"/>
              </a:xfrm>
              <a:prstGeom prst="rect">
                <a:avLst/>
              </a:prstGeom>
              <a:blipFill>
                <a:blip r:embed="rId9"/>
                <a:stretch>
                  <a:fillRect t="-11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2394E832-FFF3-4A06-B412-6B8BFC2FCDA1}"/>
              </a:ext>
            </a:extLst>
          </p:cNvPr>
          <p:cNvSpPr txBox="1"/>
          <p:nvPr/>
        </p:nvSpPr>
        <p:spPr>
          <a:xfrm>
            <a:off x="1026162" y="6147693"/>
            <a:ext cx="4644000" cy="375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City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7DDA049-8690-418F-9DA2-283C8072914F}"/>
              </a:ext>
            </a:extLst>
          </p:cNvPr>
          <p:cNvGrpSpPr/>
          <p:nvPr/>
        </p:nvGrpSpPr>
        <p:grpSpPr>
          <a:xfrm>
            <a:off x="2810114" y="2371949"/>
            <a:ext cx="3458743" cy="3687625"/>
            <a:chOff x="2810114" y="2371949"/>
            <a:chExt cx="3458743" cy="36876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4053A0-971E-4B60-8CAC-1379A0523797}"/>
                    </a:ext>
                  </a:extLst>
                </p:cNvPr>
                <p:cNvSpPr txBox="1"/>
                <p:nvPr/>
              </p:nvSpPr>
              <p:spPr>
                <a:xfrm>
                  <a:off x="2810114" y="5667672"/>
                  <a:ext cx="606972" cy="3919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𝑢𝑟𝑔</m:t>
                            </m:r>
                            <m:r>
                              <a:rPr lang="en-US" b="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sub>
                        </m:sSub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4053A0-971E-4B60-8CAC-1379A0523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0114" y="5667672"/>
                  <a:ext cx="606972" cy="391902"/>
                </a:xfrm>
                <a:prstGeom prst="rect">
                  <a:avLst/>
                </a:prstGeom>
                <a:blipFill>
                  <a:blip r:embed="rId10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58D79AB-B0CF-4CF8-A863-DB318AFB565E}"/>
                    </a:ext>
                  </a:extLst>
                </p:cNvPr>
                <p:cNvSpPr txBox="1"/>
                <p:nvPr/>
              </p:nvSpPr>
              <p:spPr>
                <a:xfrm>
                  <a:off x="5661885" y="2371949"/>
                  <a:ext cx="606972" cy="3919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noProof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𝑢𝑟𝑔</m:t>
                            </m:r>
                            <m:r>
                              <a:rPr lang="en-US" b="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sub>
                        </m:sSub>
                      </m:oMath>
                    </m:oMathPara>
                  </a14:m>
                  <a:endParaRPr lang="en-US" noProof="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58D79AB-B0CF-4CF8-A863-DB318AFB56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1885" y="2371949"/>
                  <a:ext cx="606972" cy="391902"/>
                </a:xfrm>
                <a:prstGeom prst="rect">
                  <a:avLst/>
                </a:prstGeom>
                <a:blipFill>
                  <a:blip r:embed="rId11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694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10" grpId="0"/>
      <p:bldP spid="11" grpId="0"/>
      <p:bldP spid="12" grpId="0"/>
      <p:bldP spid="4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0334D-5723-43AA-8918-348C005F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noProof="0" dirty="0">
                <a:solidFill>
                  <a:srgbClr val="0070C0"/>
                </a:solidFill>
              </a:rPr>
              <a:t>Representation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noProof="0" dirty="0"/>
              <a:t>Each sector: pair of coordinates (integers), response time (real) </a:t>
            </a:r>
            <a:r>
              <a:rPr lang="en-US" noProof="0" dirty="0">
                <a:sym typeface="Wingdings" panose="05000000000000000000" pitchFamily="2" charset="2"/>
              </a:rPr>
              <a:t></a:t>
            </a:r>
            <a:r>
              <a:rPr lang="en-US" noProof="0" dirty="0"/>
              <a:t> list 2+1 elements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noProof="0" dirty="0">
                <a:solidFill>
                  <a:srgbClr val="0070C0"/>
                </a:solidFill>
              </a:rPr>
              <a:t>Population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noProof="0" dirty="0"/>
              <a:t>List of lists ( dim * (2+1) 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noProof="0" dirty="0">
                <a:solidFill>
                  <a:srgbClr val="0070C0"/>
                </a:solidFill>
              </a:rPr>
              <a:t>Stop condition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noProof="0" dirty="0"/>
              <a:t>Number of generations, genetic diversity, fitness improvements in the last </a:t>
            </a:r>
            <a:r>
              <a:rPr lang="en-US" noProof="0" dirty="0" err="1"/>
              <a:t>nmax</a:t>
            </a:r>
            <a:r>
              <a:rPr lang="en-US" noProof="0" dirty="0"/>
              <a:t>/3 generations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noProof="0" dirty="0">
                <a:solidFill>
                  <a:srgbClr val="0070C0"/>
                </a:solidFill>
              </a:rPr>
              <a:t>Selection of parents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Size </a:t>
            </a:r>
            <a:r>
              <a:rPr lang="en-US" noProof="0" dirty="0"/>
              <a:t>2 tournament </a:t>
            </a:r>
            <a:r>
              <a:rPr lang="en-US" noProof="0" dirty="0">
                <a:sym typeface="Wingdings" panose="05000000000000000000" pitchFamily="2" charset="2"/>
              </a:rPr>
              <a:t> </a:t>
            </a:r>
            <a:r>
              <a:rPr lang="en-US" noProof="0" dirty="0"/>
              <a:t>2 pairs of parents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noProof="0" dirty="0">
                <a:solidFill>
                  <a:srgbClr val="0070C0"/>
                </a:solidFill>
              </a:rPr>
              <a:t>Crossover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noProof="0" dirty="0"/>
              <a:t>Single-point (between the 2 genes), probability 1 </a:t>
            </a:r>
            <a:r>
              <a:rPr lang="en-US" noProof="0" dirty="0">
                <a:sym typeface="Wingdings" panose="05000000000000000000" pitchFamily="2" charset="2"/>
              </a:rPr>
              <a:t> </a:t>
            </a:r>
            <a:r>
              <a:rPr lang="en-US" noProof="0" dirty="0"/>
              <a:t>4 descendants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noProof="0" dirty="0">
                <a:solidFill>
                  <a:srgbClr val="0070C0"/>
                </a:solidFill>
              </a:rPr>
              <a:t>Mutation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noProof="0" dirty="0"/>
              <a:t>Random reset, probability ¼ (4 descendants = 8 genes)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noProof="0" dirty="0">
                <a:solidFill>
                  <a:srgbClr val="0070C0"/>
                </a:solidFill>
              </a:rPr>
              <a:t>Next generation selection: stable state model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noProof="0" dirty="0"/>
              <a:t>(</a:t>
            </a:r>
            <a:r>
              <a:rPr lang="en-US" dirty="0"/>
              <a:t>GENITOR</a:t>
            </a:r>
            <a:r>
              <a:rPr lang="en-US" noProof="0" dirty="0"/>
              <a:t>) 4 descendants replace the 4 weakest individuals</a:t>
            </a:r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859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0334D-5723-43AA-8918-348C005F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28900"/>
            <a:ext cx="12192000" cy="42291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noProof="0" dirty="0">
                <a:solidFill>
                  <a:srgbClr val="0070C0"/>
                </a:solidFill>
              </a:rPr>
              <a:t>Homework</a:t>
            </a:r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noProof="0" dirty="0"/>
              <a:t>Rewrite the implementation using</a:t>
            </a:r>
          </a:p>
          <a:p>
            <a:pPr lvl="2">
              <a:spcBef>
                <a:spcPts val="0"/>
              </a:spcBef>
              <a:spcAft>
                <a:spcPts val="1200"/>
              </a:spcAft>
            </a:pPr>
            <a:r>
              <a:rPr lang="en-US" noProof="0" dirty="0"/>
              <a:t>a </a:t>
            </a:r>
            <a:r>
              <a:rPr lang="en-US" dirty="0"/>
              <a:t>matrix to represent the population: dim * 2</a:t>
            </a:r>
            <a:endParaRPr lang="en-US" noProof="0" dirty="0"/>
          </a:p>
          <a:p>
            <a:pPr lvl="2">
              <a:spcBef>
                <a:spcPts val="0"/>
              </a:spcBef>
              <a:spcAft>
                <a:spcPts val="1200"/>
              </a:spcAft>
            </a:pPr>
            <a:r>
              <a:rPr lang="en-US" noProof="0" dirty="0"/>
              <a:t>A separate vector to store the fitness of each individual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Rewrite the GENITOR selection function, without sorting </a:t>
            </a:r>
            <a:r>
              <a:rPr lang="en-US" noProof="0"/>
              <a:t>the population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2378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271</Words>
  <Application>Microsoft Office PowerPoint</Application>
  <PresentationFormat>Widescreen</PresentationFormat>
  <Paragraphs>131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</dc:creator>
  <cp:lastModifiedBy>X</cp:lastModifiedBy>
  <cp:revision>23</cp:revision>
  <dcterms:created xsi:type="dcterms:W3CDTF">2021-04-13T08:46:18Z</dcterms:created>
  <dcterms:modified xsi:type="dcterms:W3CDTF">2025-05-10T11:52:11Z</dcterms:modified>
</cp:coreProperties>
</file>