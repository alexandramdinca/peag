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C679-DA55-E85C-08EA-BB1A81964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4D7CA-6758-9C46-BEE1-C43E4C12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A547E-6613-E840-4C22-1561345F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164B5-FB99-6F49-2B69-7CAE18DC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FCEA0-1ED7-03E3-7E47-8A459764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8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888F1-3B88-D432-AD00-B7198EA2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AA22E-6571-B255-BB66-1F2AA6CDD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A4BC2-41C7-24DF-C740-1144C595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4D9AB-1659-2A49-69C4-E6A51AC2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80FB7-61C1-4C5F-3A97-847408EA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2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FC50-914A-3D85-8692-7D9F542D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2A2DB-7872-925F-89A5-27645B441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C77D4-C69B-EA94-76CE-1FA1DAD9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A7C59-352E-E713-FA95-A76C551D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A9697-A79D-3702-DAC4-AF892B5E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220B-AFEE-215A-1DE8-5626AB536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5EDCC-CEC3-BFA1-9E6A-F1B36932B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158CF-9042-C950-3879-8C9B8D0F2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79996-8F54-494E-2488-5CAAC2F8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92DBF-64FD-842F-54D3-AF11CAC3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BA927-334D-F237-5026-9E40829F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4AB7-D4AC-593A-D975-22739A08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74BC2-16B2-72FE-1D4F-8935D1EDB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F2223-4E09-606A-EE56-E4E1811EA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2FA89-BC7D-EB69-013D-FF481339B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9222E-1559-BA80-86E7-F6F7FFCD4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C52B4-C320-8B2B-7B3E-E7567129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F6289-86CC-EDD9-BC06-69C894A3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A5943-FD49-AB69-4D0A-EC03C80B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2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4031-B10B-8146-6A98-162BE906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BA023-AEFE-7E30-4B7F-E3CB7F5F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39722-02BF-6130-FDF8-BD66B782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25EC5-0E44-7ED9-B5AE-2FBF7B34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6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6E590-817C-BCFC-8A92-A0AF5768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FA579-D90F-9794-FD89-6B5B3B69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51179-744E-A34D-433A-E7DD7C1E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8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87F7-5B98-2B58-B4B6-F5A55227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B3EF1-A389-D75B-D3A1-4BAE0D344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8104F-1D9F-6821-F77C-6B284B610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DC85-4E42-8FFB-A91D-6CD28E6D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6153C-CB84-ED34-B0D9-B08FDCE5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C953F-41C1-ABA6-70AE-51830247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6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349A-58EF-2C11-C5F0-7AAE4A1E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8E1C2-F41F-B0C5-ED4D-6C3AA3092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95EB8-B061-511D-F162-7FBB65F8C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6024B-F50C-F8D6-FFCC-6C5F6636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9910A-9141-34DF-ECC5-5F5128AE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B1C7F-4069-BDDA-0B08-EC11F936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6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2607-589C-CFFE-BD6B-AC1C9593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42675-9C3C-30D5-DBE4-9C8DF0F5A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6A630-3846-90CA-45B4-050BE8D9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953D2-EE3F-86C6-50C6-16484990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11FEE-53F5-2D05-1236-74E78B67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5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C57B1-9659-4492-4E55-10954A10F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5C789-8157-41F9-F32C-D8BFB33EB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2BD8A-0FBB-2A68-6280-9C20B4A5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48B65-7DDB-CA37-35DC-161B0517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086C-2E6A-487A-D590-6F03717A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DA7CD-F873-B34D-7696-DDA223DB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BA49F-E905-29A9-0DDF-A74CFF0C4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46647-EF91-2AB1-CB37-35F98ECD2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09988-C06E-4263-B6E9-3A5EFE4617D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B0A4-325B-1305-A2D3-88ECEFE99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509F2-A2CD-AB56-1D12-8CA572F27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A6426-8385-4B4E-901F-BBDF2E672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1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E434-45D4-75BF-8054-5A1BF0B61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90C64D-D5B0-2577-FD77-CCCA6791C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Statement</a:t>
                </a:r>
                <a:endParaRPr lang="ro-RO" b="1" dirty="0"/>
              </a:p>
              <a:p>
                <a:pPr lvl="1"/>
                <a:r>
                  <a:rPr lang="en-US" dirty="0"/>
                  <a:t>Arrange</a:t>
                </a:r>
                <a:r>
                  <a:rPr lang="ro-RO" dirty="0"/>
                  <a:t> </a:t>
                </a:r>
                <a:r>
                  <a:rPr lang="ro-RO" i="1" dirty="0"/>
                  <a:t>n</a:t>
                </a:r>
                <a:r>
                  <a:rPr lang="ro-RO" dirty="0"/>
                  <a:t> </a:t>
                </a:r>
                <a:r>
                  <a:rPr lang="en-US" dirty="0"/>
                  <a:t>dogs</a:t>
                </a:r>
                <a:r>
                  <a:rPr lang="ro-RO" dirty="0"/>
                  <a:t> </a:t>
                </a:r>
                <a:r>
                  <a:rPr lang="en-US" dirty="0"/>
                  <a:t>and</a:t>
                </a:r>
                <a:r>
                  <a:rPr lang="ro-RO" dirty="0"/>
                  <a:t> </a:t>
                </a:r>
                <a:r>
                  <a:rPr lang="ro-RO" i="1" dirty="0"/>
                  <a:t>m</a:t>
                </a:r>
                <a:r>
                  <a:rPr lang="ro-RO" dirty="0"/>
                  <a:t> (</a:t>
                </a:r>
                <a:r>
                  <a:rPr lang="ro-RO" i="1" dirty="0"/>
                  <a:t>m</a:t>
                </a:r>
                <a:r>
                  <a:rPr lang="ro-RO" dirty="0"/>
                  <a:t>&gt;1) </a:t>
                </a:r>
                <a:r>
                  <a:rPr lang="en-US" dirty="0"/>
                  <a:t>cats in a circle, so that no </a:t>
                </a:r>
                <a:r>
                  <a:rPr lang="ro-RO" dirty="0"/>
                  <a:t>singular </a:t>
                </a:r>
                <a:r>
                  <a:rPr lang="en-US" dirty="0"/>
                  <a:t>cat is placed between 2 dogs</a:t>
                </a:r>
                <a:r>
                  <a:rPr lang="ro-RO" dirty="0"/>
                  <a:t>: there can either be multiple cats, or no cat at all.</a:t>
                </a:r>
              </a:p>
              <a:p>
                <a:pPr lvl="1"/>
                <a:endParaRPr lang="ro-RO" dirty="0"/>
              </a:p>
              <a:p>
                <a:r>
                  <a:rPr lang="en-US" b="1" dirty="0"/>
                  <a:t>Representation</a:t>
                </a:r>
                <a:endParaRPr lang="ro-RO" b="1" dirty="0"/>
              </a:p>
              <a:p>
                <a:pPr lvl="1"/>
                <a:r>
                  <a:rPr lang="en-US" dirty="0"/>
                  <a:t>Genotype</a:t>
                </a:r>
                <a:r>
                  <a:rPr lang="ro-RO" dirty="0"/>
                  <a:t>: </a:t>
                </a:r>
                <a:r>
                  <a:rPr lang="en-US" dirty="0"/>
                  <a:t>binary </a:t>
                </a:r>
                <a:r>
                  <a:rPr lang="ro-RO" dirty="0"/>
                  <a:t>vector </a:t>
                </a:r>
                <a:r>
                  <a:rPr lang="en-US" dirty="0"/>
                  <a:t>with</a:t>
                </a:r>
                <a:r>
                  <a:rPr lang="ro-RO" dirty="0"/>
                  <a:t> </a:t>
                </a:r>
                <a:r>
                  <a:rPr lang="ro-RO" i="1" dirty="0" err="1"/>
                  <a:t>m</a:t>
                </a:r>
                <a:r>
                  <a:rPr lang="ro-RO" dirty="0" err="1"/>
                  <a:t>+</a:t>
                </a:r>
                <a:r>
                  <a:rPr lang="ro-RO" i="1" dirty="0" err="1"/>
                  <a:t>n</a:t>
                </a:r>
                <a:r>
                  <a:rPr lang="ro-RO" dirty="0"/>
                  <a:t> </a:t>
                </a:r>
                <a:r>
                  <a:rPr lang="en-US" dirty="0"/>
                  <a:t>elements</a:t>
                </a:r>
                <a:endParaRPr lang="ro-RO" dirty="0"/>
              </a:p>
              <a:p>
                <a:pPr lvl="2"/>
                <a:r>
                  <a:rPr lang="ro-RO" dirty="0"/>
                  <a:t>0 </a:t>
                </a:r>
                <a:r>
                  <a:rPr lang="ro-RO" dirty="0">
                    <a:sym typeface="Wingdings" panose="05000000000000000000" pitchFamily="2" charset="2"/>
                  </a:rPr>
                  <a:t> </a:t>
                </a:r>
                <a:r>
                  <a:rPr lang="en-US" dirty="0">
                    <a:sym typeface="Wingdings" panose="05000000000000000000" pitchFamily="2" charset="2"/>
                  </a:rPr>
                  <a:t>dog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2"/>
                <a:r>
                  <a:rPr lang="ro-RO" dirty="0">
                    <a:sym typeface="Wingdings" panose="05000000000000000000" pitchFamily="2" charset="2"/>
                  </a:rPr>
                  <a:t>1  </a:t>
                </a:r>
                <a:r>
                  <a:rPr lang="en-US" dirty="0">
                    <a:sym typeface="Wingdings" panose="05000000000000000000" pitchFamily="2" charset="2"/>
                  </a:rPr>
                  <a:t>cat</a:t>
                </a:r>
                <a:endParaRPr lang="ro-RO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Solution space</a:t>
                </a:r>
                <a:r>
                  <a:rPr lang="ro-RO" dirty="0">
                    <a:sym typeface="Wingdings" panose="05000000000000000000" pitchFamily="2" charset="2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o-RO" sz="2400" dirty="0">
                    <a:sym typeface="Wingdings" panose="05000000000000000000" pitchFamily="2" charset="2"/>
                  </a:rPr>
                  <a:t>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candidates in</a:t>
                </a:r>
                <a:r>
                  <a:rPr lang="ro-RO" sz="2400" dirty="0"/>
                  <a:t> </a:t>
                </a:r>
                <a14:m>
                  <m:oMath xmlns:m="http://schemas.openxmlformats.org/officeDocument/2006/math">
                    <m:r>
                      <a:rPr lang="ro-RO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No constraints</a:t>
                </a:r>
                <a:endParaRPr lang="ro-RO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90C64D-D5B0-2577-FD77-CCCA6791C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15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4AA7-AD6E-E766-0869-342EF753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C7D67-C6BC-466C-C2EF-A739DBCA7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Evaluation (candidate fitness)</a:t>
                </a:r>
                <a:endParaRPr lang="ro-RO" b="1" dirty="0"/>
              </a:p>
              <a:p>
                <a:pPr lvl="1"/>
                <a:r>
                  <a:rPr lang="en-US" dirty="0"/>
                  <a:t>Type: </a:t>
                </a:r>
                <a:r>
                  <a:rPr lang="ro-RO" dirty="0"/>
                  <a:t>cost - </a:t>
                </a:r>
                <a:r>
                  <a:rPr lang="en-US" dirty="0"/>
                  <a:t>penalty</a:t>
                </a:r>
                <a:endParaRPr lang="ro-RO" dirty="0"/>
              </a:p>
              <a:p>
                <a:pPr lvl="1"/>
                <a:r>
                  <a:rPr lang="en-US" dirty="0"/>
                  <a:t>Dangerous cases </a:t>
                </a:r>
                <a:r>
                  <a:rPr lang="ro-RO" dirty="0"/>
                  <a:t>(</a:t>
                </a:r>
                <a:r>
                  <a:rPr lang="en-US" dirty="0"/>
                  <a:t>a cat between </a:t>
                </a:r>
                <a:r>
                  <a:rPr lang="ro-RO" dirty="0"/>
                  <a:t>2 </a:t>
                </a:r>
                <a:r>
                  <a:rPr lang="en-US" dirty="0"/>
                  <a:t>dogs</a:t>
                </a:r>
                <a:r>
                  <a:rPr lang="ro-RO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+2] = 0 </m:t>
                    </m:r>
                  </m:oMath>
                </a14:m>
                <a:r>
                  <a:rPr lang="en-US" dirty="0"/>
                  <a:t>		and</a:t>
                </a:r>
                <a:r>
                  <a:rPr lang="ro-RO" dirty="0"/>
                  <a:t>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+1]=1 </m:t>
                    </m:r>
                  </m:oMath>
                </a14:m>
                <a:r>
                  <a:rPr lang="en-US" dirty="0"/>
                  <a:t>	for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=0 .. 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−3  </m:t>
                    </m:r>
                  </m:oMath>
                </a14:m>
                <a:endParaRPr lang="ro-RO" dirty="0"/>
              </a:p>
              <a:p>
                <a:pPr lvl="2"/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−2] = 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[0] = 0 </m:t>
                    </m:r>
                  </m:oMath>
                </a14:m>
                <a:r>
                  <a:rPr lang="en-US" dirty="0"/>
                  <a:t>	and</a:t>
                </a:r>
                <a:r>
                  <a:rPr lang="ro-RO" dirty="0"/>
                  <a:t>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−1] = 1</m:t>
                    </m:r>
                  </m:oMath>
                </a14:m>
                <a:endParaRPr lang="ro-RO" dirty="0"/>
              </a:p>
              <a:p>
                <a:pPr lvl="2"/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−1] = 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[1] = 0 </m:t>
                    </m:r>
                  </m:oMath>
                </a14:m>
                <a:r>
                  <a:rPr lang="en-US" dirty="0"/>
                  <a:t>	and</a:t>
                </a:r>
                <a:r>
                  <a:rPr lang="ro-RO" dirty="0"/>
                  <a:t>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[0] = 1</m:t>
                    </m:r>
                  </m:oMath>
                </a14:m>
                <a:endParaRPr lang="ro-RO" dirty="0"/>
              </a:p>
              <a:p>
                <a:pPr lvl="2"/>
                <a:r>
                  <a:rPr lang="ro-RO" dirty="0"/>
                  <a:t>penalty</a:t>
                </a:r>
                <a:r>
                  <a:rPr lang="en-US" dirty="0"/>
                  <a:t>:</a:t>
                </a:r>
                <a:r>
                  <a:rPr lang="ro-RO" dirty="0"/>
                  <a:t> 1 </a:t>
                </a:r>
                <a:r>
                  <a:rPr lang="en-US" dirty="0"/>
                  <a:t>point for each</a:t>
                </a:r>
                <a:endParaRPr lang="ro-RO" dirty="0"/>
              </a:p>
              <a:p>
                <a:pPr lvl="1"/>
                <a:r>
                  <a:rPr lang="en-US" dirty="0"/>
                  <a:t>Incorrect number of animals</a:t>
                </a:r>
                <a:endParaRPr lang="ro-RO" dirty="0"/>
              </a:p>
              <a:p>
                <a:pPr lvl="2"/>
                <a14:m>
                  <m:oMath xmlns:m="http://schemas.openxmlformats.org/officeDocument/2006/math">
                    <m:r>
                      <a:rPr lang="ro-RO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ro-RO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o-RO" dirty="0"/>
              </a:p>
              <a:p>
                <a:pPr lvl="2"/>
                <a:r>
                  <a:rPr lang="en-US" dirty="0"/>
                  <a:t>penalty: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o-RO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𝑆𝑢𝑚𝑎</m:t>
                        </m:r>
                        <m:d>
                          <m:d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ro-RO" dirty="0"/>
              </a:p>
              <a:p>
                <a:pPr lvl="1"/>
                <a:r>
                  <a:rPr lang="ro-RO" dirty="0"/>
                  <a:t>Cost(x) = </a:t>
                </a:r>
                <a:r>
                  <a:rPr lang="en-US" dirty="0"/>
                  <a:t>total penalty</a:t>
                </a:r>
                <a:endParaRPr lang="ro-RO" dirty="0"/>
              </a:p>
              <a:p>
                <a:pPr lvl="1"/>
                <a:r>
                  <a:rPr lang="en-US" dirty="0"/>
                  <a:t>Objective function (fitness) </a:t>
                </a:r>
                <a:r>
                  <a:rPr lang="ro-RO" dirty="0"/>
                  <a:t>=</a:t>
                </a:r>
                <a:r>
                  <a:rPr lang="en-US" dirty="0"/>
                  <a:t> 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endParaRPr lang="ro-RO" dirty="0"/>
              </a:p>
              <a:p>
                <a:pPr lvl="1"/>
                <a:r>
                  <a:rPr lang="en-US" dirty="0"/>
                  <a:t>Optimal value is </a:t>
                </a:r>
                <a:r>
                  <a:rPr lang="ro-RO" dirty="0"/>
                  <a:t>1 (0 </a:t>
                </a:r>
                <a:r>
                  <a:rPr lang="en-US" dirty="0"/>
                  <a:t>dangerous cases</a:t>
                </a:r>
                <a:r>
                  <a:rPr lang="ro-RO" dirty="0"/>
                  <a:t>, 0 </a:t>
                </a:r>
                <a:r>
                  <a:rPr lang="en-US" dirty="0"/>
                  <a:t>penalty for incorrect number of animals</a:t>
                </a:r>
                <a:r>
                  <a:rPr lang="ro-RO" dirty="0"/>
                  <a:t>)</a:t>
                </a:r>
              </a:p>
              <a:p>
                <a:pPr lvl="1"/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4C7D67-C6BC-466C-C2EF-A739DBCA7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11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DBEB-FB71-1508-917F-3A83B96B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50FB-E656-955E-1E13-E727414B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Population model</a:t>
            </a:r>
            <a:endParaRPr lang="ro-RO" b="1" dirty="0"/>
          </a:p>
          <a:p>
            <a:pPr lvl="1"/>
            <a:r>
              <a:rPr lang="en-US" dirty="0"/>
              <a:t>Generational</a:t>
            </a:r>
            <a:r>
              <a:rPr lang="ro-RO" dirty="0"/>
              <a:t>. </a:t>
            </a:r>
            <a:r>
              <a:rPr lang="en-US" dirty="0"/>
              <a:t>Easy to evaluate fitness function. Constant size population</a:t>
            </a:r>
            <a:r>
              <a:rPr lang="ro-RO" dirty="0"/>
              <a:t> </a:t>
            </a:r>
            <a:r>
              <a:rPr lang="ro-RO" i="1" dirty="0" err="1"/>
              <a:t>dim</a:t>
            </a:r>
            <a:endParaRPr lang="ro-RO" i="1" dirty="0"/>
          </a:p>
          <a:p>
            <a:endParaRPr lang="ro-RO" dirty="0"/>
          </a:p>
          <a:p>
            <a:r>
              <a:rPr lang="en-US" b="1" dirty="0"/>
              <a:t>Stop condition</a:t>
            </a:r>
            <a:endParaRPr lang="ro-RO" b="1" dirty="0"/>
          </a:p>
          <a:p>
            <a:pPr lvl="1"/>
            <a:r>
              <a:rPr lang="en-US" dirty="0"/>
              <a:t>Maximum number of permitted generations</a:t>
            </a:r>
            <a:endParaRPr lang="ro-RO" dirty="0"/>
          </a:p>
          <a:p>
            <a:pPr lvl="1"/>
            <a:r>
              <a:rPr lang="en-US" dirty="0"/>
              <a:t>Minimum diversity</a:t>
            </a:r>
            <a:r>
              <a:rPr lang="ro-RO" dirty="0"/>
              <a:t>: </a:t>
            </a:r>
            <a:r>
              <a:rPr lang="en-US" dirty="0"/>
              <a:t>at least 2 distinct fitness values</a:t>
            </a:r>
            <a:endParaRPr lang="ro-RO" dirty="0"/>
          </a:p>
          <a:p>
            <a:pPr lvl="1"/>
            <a:r>
              <a:rPr lang="en-US" dirty="0"/>
              <a:t>Reaching the optimal value of the fitness function</a:t>
            </a:r>
          </a:p>
        </p:txBody>
      </p:sp>
    </p:spTree>
    <p:extLst>
      <p:ext uri="{BB962C8B-B14F-4D97-AF65-F5344CB8AC3E}">
        <p14:creationId xmlns:p14="http://schemas.microsoft.com/office/powerpoint/2010/main" val="110137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C622-259E-9F97-6C5D-605D1BD7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4C44-3375-DF5E-4FB4-EE74C8FFD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Parent selection</a:t>
            </a:r>
            <a:endParaRPr lang="ro-RO" b="1" dirty="0"/>
          </a:p>
          <a:p>
            <a:pPr lvl="1"/>
            <a:r>
              <a:rPr lang="ro-RO" dirty="0"/>
              <a:t>SUS, </a:t>
            </a:r>
            <a:r>
              <a:rPr lang="en-US" dirty="0"/>
              <a:t>with</a:t>
            </a:r>
            <a:r>
              <a:rPr lang="ro-RO" dirty="0"/>
              <a:t> FPS </a:t>
            </a:r>
            <a:r>
              <a:rPr lang="en-US" dirty="0"/>
              <a:t>with sigma scaling</a:t>
            </a:r>
            <a:endParaRPr lang="ro-RO" dirty="0"/>
          </a:p>
          <a:p>
            <a:endParaRPr lang="ro-RO" dirty="0"/>
          </a:p>
          <a:p>
            <a:r>
              <a:rPr lang="en-US" b="1" dirty="0"/>
              <a:t>Crossover</a:t>
            </a:r>
            <a:endParaRPr lang="ro-RO" b="1" dirty="0"/>
          </a:p>
          <a:p>
            <a:pPr lvl="1"/>
            <a:r>
              <a:rPr lang="en-US" dirty="0"/>
              <a:t>General crossover scheme without constraints, includes asexual crossover.</a:t>
            </a:r>
            <a:endParaRPr lang="ro-RO" dirty="0"/>
          </a:p>
          <a:p>
            <a:pPr lvl="1"/>
            <a:r>
              <a:rPr lang="en-US" dirty="0"/>
              <a:t>Crossover operator: discreet: single-point / multi-point / uniform</a:t>
            </a:r>
            <a:endParaRPr lang="ro-RO" dirty="0"/>
          </a:p>
          <a:p>
            <a:pPr lvl="1"/>
            <a:r>
              <a:rPr lang="en-US" dirty="0"/>
              <a:t>Crossover probability:</a:t>
            </a:r>
            <a:r>
              <a:rPr lang="ro-RO" dirty="0"/>
              <a:t> 0</a:t>
            </a:r>
            <a:r>
              <a:rPr lang="en-US" dirty="0"/>
              <a:t>.</a:t>
            </a:r>
            <a:r>
              <a:rPr lang="ro-RO" dirty="0"/>
              <a:t>7</a:t>
            </a:r>
          </a:p>
          <a:p>
            <a:pPr lvl="1"/>
            <a:r>
              <a:rPr lang="en-US" dirty="0"/>
              <a:t>Number of descendants:</a:t>
            </a:r>
            <a:r>
              <a:rPr lang="ro-RO" dirty="0"/>
              <a:t> </a:t>
            </a:r>
            <a:r>
              <a:rPr lang="ro-RO" i="1" dirty="0" err="1"/>
              <a:t>dim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6812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8E57-049A-772B-2443-7860C741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22C42-EC85-9BBD-C4B5-C1748E210D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Mutation</a:t>
                </a:r>
                <a:endParaRPr lang="ro-RO" b="1" dirty="0"/>
              </a:p>
              <a:p>
                <a:pPr lvl="1"/>
                <a:r>
                  <a:rPr lang="en-US" dirty="0"/>
                  <a:t>General mutation scheme without constraints for binary representation</a:t>
                </a:r>
                <a:endParaRPr lang="ro-RO" dirty="0"/>
              </a:p>
              <a:p>
                <a:pPr lvl="1"/>
                <a:r>
                  <a:rPr lang="en-US" dirty="0"/>
                  <a:t>Mutation operator</a:t>
                </a:r>
                <a:r>
                  <a:rPr lang="ro-RO" dirty="0"/>
                  <a:t>: </a:t>
                </a:r>
                <a:r>
                  <a:rPr lang="en-US" dirty="0"/>
                  <a:t>bitflip (negation)</a:t>
                </a:r>
                <a:endParaRPr lang="ro-RO" dirty="0"/>
              </a:p>
              <a:p>
                <a:pPr lvl="1"/>
                <a:r>
                  <a:rPr lang="en-US" dirty="0"/>
                  <a:t>Mutation probability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𝐷𝑖𝑚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ro-RO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  <m:r>
                              <a:rPr lang="ro-RO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ro-RO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lang="ro-RO" dirty="0"/>
              </a:p>
              <a:p>
                <a:endParaRPr lang="ro-RO" b="1" dirty="0"/>
              </a:p>
              <a:p>
                <a:r>
                  <a:rPr lang="en-US" b="1" dirty="0"/>
                  <a:t>Selection of next generation</a:t>
                </a:r>
                <a:endParaRPr lang="ro-RO" b="1" dirty="0"/>
              </a:p>
              <a:p>
                <a:pPr lvl="1"/>
                <a:r>
                  <a:rPr lang="en-US" dirty="0"/>
                  <a:t>Age limit 1, elitism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22C42-EC85-9BBD-C4B5-C1748E210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03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26F3-61E3-EC70-2D5D-FCFE19F5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 </a:t>
            </a:r>
            <a:r>
              <a:rPr lang="ro-RO" dirty="0"/>
              <a:t>– </a:t>
            </a:r>
            <a:r>
              <a:rPr lang="en-US" dirty="0"/>
              <a:t>another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F199E-1F3C-2B55-DF3A-95041712F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9258"/>
                <a:ext cx="11353800" cy="5418741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Representation</a:t>
                </a:r>
                <a:endParaRPr lang="ro-RO" b="1" dirty="0"/>
              </a:p>
              <a:p>
                <a:pPr lvl="1"/>
                <a:r>
                  <a:rPr lang="en-US" dirty="0"/>
                  <a:t>Permutation of </a:t>
                </a:r>
                <a:r>
                  <a:rPr lang="ro-RO" i="1" dirty="0" err="1"/>
                  <a:t>n</a:t>
                </a:r>
                <a:r>
                  <a:rPr lang="ro-RO" dirty="0" err="1"/>
                  <a:t>+</a:t>
                </a:r>
                <a:r>
                  <a:rPr lang="ro-RO" i="1" dirty="0" err="1"/>
                  <a:t>m</a:t>
                </a:r>
                <a:r>
                  <a:rPr lang="ro-RO" dirty="0"/>
                  <a:t> </a:t>
                </a:r>
                <a:r>
                  <a:rPr lang="en-US" dirty="0"/>
                  <a:t>elements</a:t>
                </a:r>
                <a:endParaRPr lang="ro-RO" dirty="0"/>
              </a:p>
              <a:p>
                <a:pPr lvl="1"/>
                <a:r>
                  <a:rPr lang="en-US" dirty="0"/>
                  <a:t>Dogs</a:t>
                </a:r>
                <a:r>
                  <a:rPr lang="ro-RO" dirty="0"/>
                  <a:t>: 0 .. n-1</a:t>
                </a:r>
              </a:p>
              <a:p>
                <a:pPr lvl="1"/>
                <a:r>
                  <a:rPr lang="en-US" dirty="0"/>
                  <a:t>Cats</a:t>
                </a:r>
                <a:r>
                  <a:rPr lang="ro-RO" dirty="0"/>
                  <a:t>: n .. n+m-1</a:t>
                </a:r>
              </a:p>
              <a:p>
                <a:pPr lvl="1"/>
                <a:r>
                  <a:rPr lang="en-US" dirty="0"/>
                  <a:t>Solution space</a:t>
                </a:r>
                <a:r>
                  <a:rPr lang="ro-RO" dirty="0"/>
                  <a:t>: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ro-R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ro-RO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e>
                    </m:d>
                    <m:r>
                      <a:rPr lang="ro-RO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!</m:t>
                    </m:r>
                  </m:oMath>
                </a14:m>
                <a:r>
                  <a:rPr lang="en-US" dirty="0"/>
                  <a:t> candidates in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constraints</a:t>
                </a:r>
                <a:endParaRPr lang="ro-RO" dirty="0"/>
              </a:p>
              <a:p>
                <a:r>
                  <a:rPr lang="en-US" b="1" dirty="0"/>
                  <a:t>Candidate evaluation (fitness)</a:t>
                </a:r>
                <a:endParaRPr lang="ro-RO" b="1" dirty="0"/>
              </a:p>
              <a:p>
                <a:pPr lvl="1"/>
                <a:r>
                  <a:rPr lang="ro-RO" dirty="0"/>
                  <a:t>Cost(x) = </a:t>
                </a:r>
                <a:r>
                  <a:rPr lang="en-US" dirty="0"/>
                  <a:t>number of dangerous situations</a:t>
                </a:r>
                <a:endParaRPr lang="ro-RO" dirty="0"/>
              </a:p>
              <a:p>
                <a:pPr lvl="1"/>
                <a:r>
                  <a:rPr lang="en-US" dirty="0"/>
                  <a:t>Dangerous situations</a:t>
                </a:r>
                <a:endParaRPr lang="ro-RO" dirty="0"/>
              </a:p>
              <a:p>
                <a:pPr lvl="2"/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	and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+1)&gt;=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and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+2)&lt;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=0 .. 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ro-RO" dirty="0"/>
              </a:p>
              <a:p>
                <a:pPr lvl="2"/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dirty="0" smtClean="0"/>
                      <m:t>n</m:t>
                    </m:r>
                    <m:r>
                      <m:rPr>
                        <m:nor/>
                      </m:rPr>
                      <a:rPr lang="en-US" dirty="0" smtClean="0"/>
                      <m:t>+</m:t>
                    </m:r>
                    <m:r>
                      <m:rPr>
                        <m:nor/>
                      </m:rPr>
                      <a:rPr lang="en-US" dirty="0" smtClean="0"/>
                      <m:t>m</m:t>
                    </m:r>
                    <m:r>
                      <m:rPr>
                        <m:nor/>
                      </m:rPr>
                      <a:rPr lang="en-US" dirty="0" smtClean="0"/>
                      <m:t>−2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and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dirty="0" smtClean="0"/>
                      <m:t>n</m:t>
                    </m:r>
                    <m:r>
                      <m:rPr>
                        <m:nor/>
                      </m:rPr>
                      <a:rPr lang="en-US" dirty="0" smtClean="0"/>
                      <m:t>+</m:t>
                    </m:r>
                    <m:r>
                      <m:rPr>
                        <m:nor/>
                      </m:rPr>
                      <a:rPr lang="en-US" dirty="0" smtClean="0"/>
                      <m:t>m</m:t>
                    </m:r>
                    <m:r>
                      <m:rPr>
                        <m:nor/>
                      </m:rPr>
                      <a:rPr lang="en-US" dirty="0" smtClean="0"/>
                      <m:t>−1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)&gt;=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and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(0)&lt;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o-RO" dirty="0"/>
              </a:p>
              <a:p>
                <a:pPr lvl="2"/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dirty="0" smtClean="0"/>
                      <m:t>n</m:t>
                    </m:r>
                    <m:r>
                      <m:rPr>
                        <m:nor/>
                      </m:rPr>
                      <a:rPr lang="en-US" dirty="0" smtClean="0"/>
                      <m:t>+</m:t>
                    </m:r>
                    <m:r>
                      <m:rPr>
                        <m:nor/>
                      </m:rPr>
                      <a:rPr lang="en-US" dirty="0" smtClean="0"/>
                      <m:t>m</m:t>
                    </m:r>
                    <m:r>
                      <m:rPr>
                        <m:nor/>
                      </m:rPr>
                      <a:rPr lang="en-US" dirty="0" smtClean="0"/>
                      <m:t>−1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and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(0)&gt;=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and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ro-RO" dirty="0"/>
              </a:p>
              <a:p>
                <a:pPr lvl="1"/>
                <a:r>
                  <a:rPr lang="en-US" dirty="0"/>
                  <a:t>Objective function (fitness) </a:t>
                </a:r>
                <a:r>
                  <a:rPr lang="ro-RO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endParaRPr lang="ro-RO" dirty="0"/>
              </a:p>
              <a:p>
                <a:pPr lvl="1"/>
                <a:endParaRPr lang="ro-RO" dirty="0"/>
              </a:p>
              <a:p>
                <a:endParaRPr lang="ro-RO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F199E-1F3C-2B55-DF3A-95041712F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9258"/>
                <a:ext cx="11353800" cy="5418741"/>
              </a:xfrm>
              <a:blipFill>
                <a:blip r:embed="rId2"/>
                <a:stretch>
                  <a:fillRect l="-967" t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20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2403-4B49-B50E-1738-2B59A214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dogs and cats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FEE0-36DC-C5C2-03F7-42BD9DBD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b="1" dirty="0"/>
              <a:t>Work</a:t>
            </a:r>
            <a:endParaRPr lang="ro-RO" b="1" dirty="0"/>
          </a:p>
          <a:p>
            <a:pPr lvl="1"/>
            <a:r>
              <a:rPr lang="ro-RO" dirty="0"/>
              <a:t>1. </a:t>
            </a:r>
            <a:r>
              <a:rPr lang="en-US" dirty="0"/>
              <a:t>design a genetic algorithm to solve the problem using the alternate approach</a:t>
            </a:r>
            <a:endParaRPr lang="ro-RO" dirty="0"/>
          </a:p>
          <a:p>
            <a:pPr lvl="1"/>
            <a:r>
              <a:rPr lang="ro-RO" dirty="0"/>
              <a:t>2. </a:t>
            </a:r>
            <a:r>
              <a:rPr lang="en-US" dirty="0"/>
              <a:t>implement </a:t>
            </a:r>
            <a:r>
              <a:rPr lang="en-US"/>
              <a:t>the genetic </a:t>
            </a:r>
            <a:r>
              <a:rPr lang="en-US" dirty="0"/>
              <a:t>algorithm for both approaches</a:t>
            </a:r>
          </a:p>
        </p:txBody>
      </p:sp>
    </p:spTree>
    <p:extLst>
      <p:ext uri="{BB962C8B-B14F-4D97-AF65-F5344CB8AC3E}">
        <p14:creationId xmlns:p14="http://schemas.microsoft.com/office/powerpoint/2010/main" val="3729193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533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Office Theme</vt:lpstr>
      <vt:lpstr>Arrange dogs and cats</vt:lpstr>
      <vt:lpstr>Arrange dogs and cats</vt:lpstr>
      <vt:lpstr>Arrange dogs and cats</vt:lpstr>
      <vt:lpstr>Arrange dogs and cats</vt:lpstr>
      <vt:lpstr>Arrange dogs and cats</vt:lpstr>
      <vt:lpstr>Arrange dogs and cats – another approach</vt:lpstr>
      <vt:lpstr>Arrange dogs and cats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Aranjare cîini și pisici</dc:title>
  <dc:creator>X</dc:creator>
  <cp:lastModifiedBy>Sorin Muraru</cp:lastModifiedBy>
  <cp:revision>11</cp:revision>
  <dcterms:created xsi:type="dcterms:W3CDTF">2023-05-02T16:26:46Z</dcterms:created>
  <dcterms:modified xsi:type="dcterms:W3CDTF">2026-04-27T06:50:08Z</dcterms:modified>
</cp:coreProperties>
</file>