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sldIdLst>
    <p:sldId id="256" r:id="rId2"/>
    <p:sldId id="325" r:id="rId3"/>
    <p:sldId id="346" r:id="rId4"/>
    <p:sldId id="340" r:id="rId5"/>
    <p:sldId id="342" r:id="rId6"/>
    <p:sldId id="344" r:id="rId7"/>
    <p:sldId id="348" r:id="rId8"/>
    <p:sldId id="350" r:id="rId9"/>
    <p:sldId id="351" r:id="rId10"/>
    <p:sldId id="349" r:id="rId11"/>
  </p:sldIdLst>
  <p:sldSz cx="9144000" cy="6858000" type="screen4x3"/>
  <p:notesSz cx="6815138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DD542-943B-458C-88A5-2BE8B45328AC}" v="761" dt="2026-02-15T18:29:23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94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inia Roxana Toma" userId="763e1cba-df04-4924-ae67-02c9d011635e" providerId="ADAL" clId="{E6EE6903-4C62-42B0-9FEA-47A34BC200DD}"/>
    <pc:docChg chg="undo custSel modSld">
      <pc:chgData name="Lavinia Roxana Toma" userId="763e1cba-df04-4924-ae67-02c9d011635e" providerId="ADAL" clId="{E6EE6903-4C62-42B0-9FEA-47A34BC200DD}" dt="2026-02-15T18:29:23.069" v="1139"/>
      <pc:docMkLst>
        <pc:docMk/>
      </pc:docMkLst>
      <pc:sldChg chg="modSp">
        <pc:chgData name="Lavinia Roxana Toma" userId="763e1cba-df04-4924-ae67-02c9d011635e" providerId="ADAL" clId="{E6EE6903-4C62-42B0-9FEA-47A34BC200DD}" dt="2026-02-15T18:03:48.185" v="33" actId="1076"/>
        <pc:sldMkLst>
          <pc:docMk/>
          <pc:sldMk cId="0" sldId="256"/>
        </pc:sldMkLst>
        <pc:spChg chg="mod">
          <ac:chgData name="Lavinia Roxana Toma" userId="763e1cba-df04-4924-ae67-02c9d011635e" providerId="ADAL" clId="{E6EE6903-4C62-42B0-9FEA-47A34BC200DD}" dt="2026-02-15T18:03:48.185" v="33" actId="1076"/>
          <ac:spMkLst>
            <pc:docMk/>
            <pc:sldMk cId="0" sldId="256"/>
            <ac:spMk id="2050" creationId="{00000000-0000-0000-0000-000000000000}"/>
          </ac:spMkLst>
        </pc:spChg>
      </pc:sldChg>
      <pc:sldChg chg="modSp mod modAnim">
        <pc:chgData name="Lavinia Roxana Toma" userId="763e1cba-df04-4924-ae67-02c9d011635e" providerId="ADAL" clId="{E6EE6903-4C62-42B0-9FEA-47A34BC200DD}" dt="2026-02-15T18:08:07.392" v="357" actId="20577"/>
        <pc:sldMkLst>
          <pc:docMk/>
          <pc:sldMk cId="0" sldId="325"/>
        </pc:sldMkLst>
        <pc:spChg chg="mod">
          <ac:chgData name="Lavinia Roxana Toma" userId="763e1cba-df04-4924-ae67-02c9d011635e" providerId="ADAL" clId="{E6EE6903-4C62-42B0-9FEA-47A34BC200DD}" dt="2026-02-15T18:08:07.392" v="357" actId="20577"/>
          <ac:spMkLst>
            <pc:docMk/>
            <pc:sldMk cId="0" sldId="325"/>
            <ac:spMk id="6147" creationId="{00000000-0000-0000-0000-000000000000}"/>
          </ac:spMkLst>
        </pc:spChg>
        <pc:spChg chg="mod">
          <ac:chgData name="Lavinia Roxana Toma" userId="763e1cba-df04-4924-ae67-02c9d011635e" providerId="ADAL" clId="{E6EE6903-4C62-42B0-9FEA-47A34BC200DD}" dt="2026-02-15T18:04:02.259" v="73" actId="20577"/>
          <ac:spMkLst>
            <pc:docMk/>
            <pc:sldMk cId="0" sldId="325"/>
            <ac:spMk id="7170" creationId="{00000000-0000-0000-0000-000000000000}"/>
          </ac:spMkLst>
        </pc:spChg>
      </pc:sldChg>
      <pc:sldChg chg="modSp mod">
        <pc:chgData name="Lavinia Roxana Toma" userId="763e1cba-df04-4924-ae67-02c9d011635e" providerId="ADAL" clId="{E6EE6903-4C62-42B0-9FEA-47A34BC200DD}" dt="2026-02-15T18:16:53.514" v="831" actId="313"/>
        <pc:sldMkLst>
          <pc:docMk/>
          <pc:sldMk cId="3095118045" sldId="340"/>
        </pc:sldMkLst>
        <pc:spChg chg="mod">
          <ac:chgData name="Lavinia Roxana Toma" userId="763e1cba-df04-4924-ae67-02c9d011635e" providerId="ADAL" clId="{E6EE6903-4C62-42B0-9FEA-47A34BC200DD}" dt="2026-02-15T18:16:53.514" v="831" actId="313"/>
          <ac:spMkLst>
            <pc:docMk/>
            <pc:sldMk cId="3095118045" sldId="340"/>
            <ac:spMk id="6147" creationId="{00000000-0000-0000-0000-000000000000}"/>
          </ac:spMkLst>
        </pc:spChg>
      </pc:sldChg>
      <pc:sldChg chg="modSp mod">
        <pc:chgData name="Lavinia Roxana Toma" userId="763e1cba-df04-4924-ae67-02c9d011635e" providerId="ADAL" clId="{E6EE6903-4C62-42B0-9FEA-47A34BC200DD}" dt="2026-02-15T18:19:42.882" v="946" actId="255"/>
        <pc:sldMkLst>
          <pc:docMk/>
          <pc:sldMk cId="754325382" sldId="342"/>
        </pc:sldMkLst>
        <pc:spChg chg="mod">
          <ac:chgData name="Lavinia Roxana Toma" userId="763e1cba-df04-4924-ae67-02c9d011635e" providerId="ADAL" clId="{E6EE6903-4C62-42B0-9FEA-47A34BC200DD}" dt="2026-02-15T18:19:42.882" v="946" actId="255"/>
          <ac:spMkLst>
            <pc:docMk/>
            <pc:sldMk cId="754325382" sldId="342"/>
            <ac:spMk id="6147" creationId="{00000000-0000-0000-0000-000000000000}"/>
          </ac:spMkLst>
        </pc:spChg>
      </pc:sldChg>
      <pc:sldChg chg="modSp mod">
        <pc:chgData name="Lavinia Roxana Toma" userId="763e1cba-df04-4924-ae67-02c9d011635e" providerId="ADAL" clId="{E6EE6903-4C62-42B0-9FEA-47A34BC200DD}" dt="2026-02-15T18:23:45.853" v="1054" actId="5793"/>
        <pc:sldMkLst>
          <pc:docMk/>
          <pc:sldMk cId="2801485914" sldId="344"/>
        </pc:sldMkLst>
        <pc:spChg chg="mod">
          <ac:chgData name="Lavinia Roxana Toma" userId="763e1cba-df04-4924-ae67-02c9d011635e" providerId="ADAL" clId="{E6EE6903-4C62-42B0-9FEA-47A34BC200DD}" dt="2026-02-15T18:23:45.853" v="1054" actId="5793"/>
          <ac:spMkLst>
            <pc:docMk/>
            <pc:sldMk cId="2801485914" sldId="344"/>
            <ac:spMk id="6147" creationId="{00000000-0000-0000-0000-000000000000}"/>
          </ac:spMkLst>
        </pc:spChg>
      </pc:sldChg>
      <pc:sldChg chg="addSp modSp mod modAnim">
        <pc:chgData name="Lavinia Roxana Toma" userId="763e1cba-df04-4924-ae67-02c9d011635e" providerId="ADAL" clId="{E6EE6903-4C62-42B0-9FEA-47A34BC200DD}" dt="2026-02-15T18:16:10.591" v="827" actId="120"/>
        <pc:sldMkLst>
          <pc:docMk/>
          <pc:sldMk cId="3267311054" sldId="346"/>
        </pc:sldMkLst>
        <pc:spChg chg="add mod">
          <ac:chgData name="Lavinia Roxana Toma" userId="763e1cba-df04-4924-ae67-02c9d011635e" providerId="ADAL" clId="{E6EE6903-4C62-42B0-9FEA-47A34BC200DD}" dt="2026-02-15T18:09:26.355" v="396"/>
          <ac:spMkLst>
            <pc:docMk/>
            <pc:sldMk cId="3267311054" sldId="346"/>
            <ac:spMk id="2" creationId="{835EDF35-0F40-F1EE-F700-7E38EB6FDCA1}"/>
          </ac:spMkLst>
        </pc:spChg>
        <pc:spChg chg="add mod">
          <ac:chgData name="Lavinia Roxana Toma" userId="763e1cba-df04-4924-ae67-02c9d011635e" providerId="ADAL" clId="{E6EE6903-4C62-42B0-9FEA-47A34BC200DD}" dt="2026-02-15T18:13:49.747" v="742"/>
          <ac:spMkLst>
            <pc:docMk/>
            <pc:sldMk cId="3267311054" sldId="346"/>
            <ac:spMk id="2" creationId="{E6AC40D3-2A3A-140D-C341-3E66C51E5E08}"/>
          </ac:spMkLst>
        </pc:spChg>
        <pc:spChg chg="add mod">
          <ac:chgData name="Lavinia Roxana Toma" userId="763e1cba-df04-4924-ae67-02c9d011635e" providerId="ADAL" clId="{E6EE6903-4C62-42B0-9FEA-47A34BC200DD}" dt="2026-02-15T18:13:54.736" v="750"/>
          <ac:spMkLst>
            <pc:docMk/>
            <pc:sldMk cId="3267311054" sldId="346"/>
            <ac:spMk id="3" creationId="{0212E1EE-52C7-CC64-3B45-487FC7283757}"/>
          </ac:spMkLst>
        </pc:spChg>
        <pc:spChg chg="add mod">
          <ac:chgData name="Lavinia Roxana Toma" userId="763e1cba-df04-4924-ae67-02c9d011635e" providerId="ADAL" clId="{E6EE6903-4C62-42B0-9FEA-47A34BC200DD}" dt="2026-02-15T18:09:39.597" v="554"/>
          <ac:spMkLst>
            <pc:docMk/>
            <pc:sldMk cId="3267311054" sldId="346"/>
            <ac:spMk id="3" creationId="{765E86A7-F5B3-CB1A-0950-E91F2B9E3BC8}"/>
          </ac:spMkLst>
        </pc:spChg>
        <pc:spChg chg="mod">
          <ac:chgData name="Lavinia Roxana Toma" userId="763e1cba-df04-4924-ae67-02c9d011635e" providerId="ADAL" clId="{E6EE6903-4C62-42B0-9FEA-47A34BC200DD}" dt="2026-02-15T18:16:10.591" v="827" actId="120"/>
          <ac:spMkLst>
            <pc:docMk/>
            <pc:sldMk cId="3267311054" sldId="346"/>
            <ac:spMk id="6147" creationId="{00000000-0000-0000-0000-000000000000}"/>
          </ac:spMkLst>
        </pc:spChg>
        <pc:spChg chg="mod">
          <ac:chgData name="Lavinia Roxana Toma" userId="763e1cba-df04-4924-ae67-02c9d011635e" providerId="ADAL" clId="{E6EE6903-4C62-42B0-9FEA-47A34BC200DD}" dt="2026-02-15T18:07:39.355" v="331" actId="20577"/>
          <ac:spMkLst>
            <pc:docMk/>
            <pc:sldMk cId="3267311054" sldId="346"/>
            <ac:spMk id="7170" creationId="{00000000-0000-0000-0000-000000000000}"/>
          </ac:spMkLst>
        </pc:spChg>
      </pc:sldChg>
      <pc:sldChg chg="modSp mod">
        <pc:chgData name="Lavinia Roxana Toma" userId="763e1cba-df04-4924-ae67-02c9d011635e" providerId="ADAL" clId="{E6EE6903-4C62-42B0-9FEA-47A34BC200DD}" dt="2026-02-15T18:25:12.290" v="1098" actId="20577"/>
        <pc:sldMkLst>
          <pc:docMk/>
          <pc:sldMk cId="2103745420" sldId="348"/>
        </pc:sldMkLst>
        <pc:spChg chg="mod">
          <ac:chgData name="Lavinia Roxana Toma" userId="763e1cba-df04-4924-ae67-02c9d011635e" providerId="ADAL" clId="{E6EE6903-4C62-42B0-9FEA-47A34BC200DD}" dt="2026-02-15T18:25:12.290" v="1098" actId="20577"/>
          <ac:spMkLst>
            <pc:docMk/>
            <pc:sldMk cId="2103745420" sldId="348"/>
            <ac:spMk id="6147" creationId="{00000000-0000-0000-0000-000000000000}"/>
          </ac:spMkLst>
        </pc:spChg>
      </pc:sldChg>
      <pc:sldChg chg="modSp mod">
        <pc:chgData name="Lavinia Roxana Toma" userId="763e1cba-df04-4924-ae67-02c9d011635e" providerId="ADAL" clId="{E6EE6903-4C62-42B0-9FEA-47A34BC200DD}" dt="2026-02-15T18:29:23.069" v="1139"/>
        <pc:sldMkLst>
          <pc:docMk/>
          <pc:sldMk cId="1076224311" sldId="349"/>
        </pc:sldMkLst>
        <pc:spChg chg="mod">
          <ac:chgData name="Lavinia Roxana Toma" userId="763e1cba-df04-4924-ae67-02c9d011635e" providerId="ADAL" clId="{E6EE6903-4C62-42B0-9FEA-47A34BC200DD}" dt="2026-02-15T18:29:23.069" v="1139"/>
          <ac:spMkLst>
            <pc:docMk/>
            <pc:sldMk cId="1076224311" sldId="349"/>
            <ac:spMk id="6147" creationId="{672D64F2-730F-0182-F589-8394C452AF2D}"/>
          </ac:spMkLst>
        </pc:spChg>
      </pc:sldChg>
      <pc:sldChg chg="modSp mod">
        <pc:chgData name="Lavinia Roxana Toma" userId="763e1cba-df04-4924-ae67-02c9d011635e" providerId="ADAL" clId="{E6EE6903-4C62-42B0-9FEA-47A34BC200DD}" dt="2026-02-15T18:26:40.904" v="1121" actId="20577"/>
        <pc:sldMkLst>
          <pc:docMk/>
          <pc:sldMk cId="4141942669" sldId="350"/>
        </pc:sldMkLst>
        <pc:spChg chg="mod">
          <ac:chgData name="Lavinia Roxana Toma" userId="763e1cba-df04-4924-ae67-02c9d011635e" providerId="ADAL" clId="{E6EE6903-4C62-42B0-9FEA-47A34BC200DD}" dt="2026-02-15T18:26:40.904" v="1121" actId="20577"/>
          <ac:spMkLst>
            <pc:docMk/>
            <pc:sldMk cId="4141942669" sldId="350"/>
            <ac:spMk id="6147" creationId="{A94992C6-9CAA-C9F0-ED61-23DB52140AA9}"/>
          </ac:spMkLst>
        </pc:spChg>
      </pc:sldChg>
      <pc:sldChg chg="modSp mod">
        <pc:chgData name="Lavinia Roxana Toma" userId="763e1cba-df04-4924-ae67-02c9d011635e" providerId="ADAL" clId="{E6EE6903-4C62-42B0-9FEA-47A34BC200DD}" dt="2026-02-15T18:27:09.796" v="1132" actId="20577"/>
        <pc:sldMkLst>
          <pc:docMk/>
          <pc:sldMk cId="1363346600" sldId="351"/>
        </pc:sldMkLst>
        <pc:spChg chg="mod">
          <ac:chgData name="Lavinia Roxana Toma" userId="763e1cba-df04-4924-ae67-02c9d011635e" providerId="ADAL" clId="{E6EE6903-4C62-42B0-9FEA-47A34BC200DD}" dt="2026-02-15T18:27:09.796" v="1132" actId="20577"/>
          <ac:spMkLst>
            <pc:docMk/>
            <pc:sldMk cId="1363346600" sldId="351"/>
            <ac:spMk id="6147" creationId="{5A030449-FE6A-F375-A99C-8975EEFF61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9833E-FEC5-48FF-857D-FD19DDAA8D31}" type="datetimeFigureOut">
              <a:rPr lang="ro-RO" smtClean="0"/>
              <a:t>15.02.2026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9988" y="1243013"/>
            <a:ext cx="4475162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84725"/>
            <a:ext cx="5453062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C92D0-0446-4CD7-B1B8-9C005F23CE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1215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C92D0-0446-4CD7-B1B8-9C005F23CE32}" type="slidenum">
              <a:rPr lang="ro-RO" smtClean="0"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3109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09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E2642-D0D2-4FC0-BD1C-0BA2389152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4A04E-DCD1-4967-B429-758D77A479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1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23D42-EBF7-4DA9-B941-4872E74893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3A6B55-16E3-4DC9-840B-BEDA9FCC48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47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78CF0-B8EE-43C6-9636-9013C8E5A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32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4533B-9D22-4A67-A321-43F1EFCA09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9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96DBB-F8CB-45C6-9203-14161F211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5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C4516F-2A29-4E25-B30B-CA42AEE6D5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2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6B9D3-16A8-4C00-9E41-6FDE96EFB5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92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EAC50-4B27-4D42-BA7D-B322F73AE3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23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9E999-1AA4-41E4-8A0F-DB7EE0A3AF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73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F1CB5-65D0-4C42-913A-377F071915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23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915E2-3A2B-4AEF-B237-E9174E3070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6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F730C166-5EC0-4C38-A3A6-DE95E19B01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58962"/>
            <a:ext cx="7772400" cy="3140075"/>
          </a:xfrm>
        </p:spPr>
        <p:txBody>
          <a:bodyPr/>
          <a:lstStyle/>
          <a:p>
            <a:pPr eaLnBrk="1" hangingPunct="1">
              <a:defRPr/>
            </a:pPr>
            <a:br>
              <a:rPr lang="en-US" sz="4000" dirty="0"/>
            </a:br>
            <a:br>
              <a:rPr lang="en-US" sz="4000" dirty="0"/>
            </a:br>
            <a:r>
              <a:rPr lang="en-US" sz="3500" dirty="0"/>
              <a:t>EVOLUTIONARY PROGRAMMING AND GENETIC ALGORITHMS</a:t>
            </a:r>
            <a:br>
              <a:rPr lang="ro-RO" sz="4000" dirty="0"/>
            </a:br>
            <a:br>
              <a:rPr lang="ro-RO" sz="4000" dirty="0"/>
            </a:br>
            <a:r>
              <a:rPr lang="en-US" sz="2500" dirty="0"/>
              <a:t>General information</a:t>
            </a:r>
            <a:br>
              <a:rPr lang="ro-RO" sz="3800" dirty="0"/>
            </a:br>
            <a:br>
              <a:rPr lang="ro-RO" sz="3800" dirty="0"/>
            </a:br>
            <a:br>
              <a:rPr lang="en-US" sz="4000" dirty="0"/>
            </a:br>
            <a:br>
              <a:rPr lang="it-IT" sz="2000" dirty="0"/>
            </a:b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en-US" altLang="en-US" sz="2600" b="1" dirty="0">
                <a:solidFill>
                  <a:schemeClr val="bg2"/>
                </a:solidFill>
              </a:rPr>
              <a:t>GENERAL INFORMATION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8229600" cy="5562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ro-RO" sz="20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o-RO" sz="2000" dirty="0">
                <a:latin typeface="Arial" charset="0"/>
              </a:rPr>
              <a:t>Tit</a:t>
            </a:r>
            <a:r>
              <a:rPr lang="en-US" sz="2000" dirty="0">
                <a:latin typeface="Arial" charset="0"/>
              </a:rPr>
              <a:t>le</a:t>
            </a:r>
            <a:r>
              <a:rPr lang="ro-RO" sz="2000" dirty="0">
                <a:latin typeface="Arial" charset="0"/>
              </a:rPr>
              <a:t>: </a:t>
            </a:r>
            <a:r>
              <a:rPr lang="en-US" sz="2000" b="1" dirty="0">
                <a:solidFill>
                  <a:schemeClr val="bg2"/>
                </a:solidFill>
              </a:rPr>
              <a:t>Evolutionary Programming and Genetic Algorithms</a:t>
            </a:r>
            <a:endParaRPr lang="ro-RO" sz="20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o-RO" sz="20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o-RO" sz="20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o-RO" sz="2000" dirty="0">
                <a:latin typeface="Arial" charset="0"/>
              </a:rPr>
              <a:t>C</a:t>
            </a:r>
            <a:r>
              <a:rPr lang="en-US" sz="2000" dirty="0" err="1">
                <a:latin typeface="Arial" charset="0"/>
              </a:rPr>
              <a:t>ourses</a:t>
            </a:r>
            <a:endParaRPr lang="ro-RO" sz="2000" dirty="0">
              <a:latin typeface="Arial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2000" dirty="0">
                <a:latin typeface="Arial" charset="0"/>
              </a:rPr>
              <a:t> Seri</a:t>
            </a:r>
            <a:r>
              <a:rPr lang="en-US" sz="2000" dirty="0">
                <a:latin typeface="Arial" charset="0"/>
              </a:rPr>
              <a:t>es</a:t>
            </a:r>
            <a:r>
              <a:rPr lang="ro-RO" sz="2000" dirty="0">
                <a:latin typeface="Arial" charset="0"/>
              </a:rPr>
              <a:t> C </a:t>
            </a:r>
            <a:r>
              <a:rPr lang="en-US" sz="2000" dirty="0">
                <a:latin typeface="Arial" charset="0"/>
              </a:rPr>
              <a:t>                  Friday</a:t>
            </a:r>
            <a:r>
              <a:rPr lang="ro-RO" sz="2000" dirty="0">
                <a:latin typeface="Arial" charset="0"/>
              </a:rPr>
              <a:t>	         </a:t>
            </a:r>
            <a:r>
              <a:rPr lang="en-US" sz="2000" dirty="0">
                <a:latin typeface="Arial" charset="0"/>
              </a:rPr>
              <a:t> </a:t>
            </a:r>
            <a:r>
              <a:rPr lang="ro-RO" sz="2000" dirty="0">
                <a:latin typeface="Arial" charset="0"/>
              </a:rPr>
              <a:t>9:1</a:t>
            </a:r>
            <a:r>
              <a:rPr lang="en-US" sz="2000" dirty="0">
                <a:latin typeface="Arial" charset="0"/>
              </a:rPr>
              <a:t>0</a:t>
            </a:r>
            <a:r>
              <a:rPr lang="ro-RO" sz="2000" dirty="0">
                <a:latin typeface="Arial" charset="0"/>
              </a:rPr>
              <a:t> -10:40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2000" dirty="0">
                <a:latin typeface="Arial" charset="0"/>
              </a:rPr>
              <a:t> Seri</a:t>
            </a:r>
            <a:r>
              <a:rPr lang="en-US" sz="2000" dirty="0">
                <a:latin typeface="Arial" charset="0"/>
              </a:rPr>
              <a:t>es</a:t>
            </a:r>
            <a:r>
              <a:rPr lang="ro-RO" sz="2000" dirty="0">
                <a:latin typeface="Arial" charset="0"/>
              </a:rPr>
              <a:t> E                   </a:t>
            </a:r>
            <a:r>
              <a:rPr lang="en-US" sz="2000" dirty="0">
                <a:latin typeface="Arial" charset="0"/>
              </a:rPr>
              <a:t>Wednesday         </a:t>
            </a:r>
            <a:r>
              <a:rPr lang="ro-RO" sz="2000" dirty="0">
                <a:latin typeface="Arial" charset="0"/>
              </a:rPr>
              <a:t>   14:10-15:40</a:t>
            </a:r>
          </a:p>
          <a:p>
            <a:pPr>
              <a:buFont typeface="Wingdings" panose="05000000000000000000" pitchFamily="2" charset="2"/>
              <a:buChar char="q"/>
            </a:pPr>
            <a:endParaRPr lang="ro-RO" sz="2000" dirty="0">
              <a:latin typeface="Arial" charset="0"/>
            </a:endParaRPr>
          </a:p>
          <a:p>
            <a:pPr marL="0" indent="0" eaLnBrk="1" hangingPunct="1">
              <a:buNone/>
              <a:defRPr/>
            </a:pPr>
            <a:endParaRPr lang="ro-RO" sz="1800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endParaRPr lang="en-US" altLang="en-US" sz="1800" dirty="0"/>
          </a:p>
        </p:txBody>
      </p:sp>
      <p:sp>
        <p:nvSpPr>
          <p:cNvPr id="717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9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en-US" altLang="en-US" sz="2600" b="1" dirty="0">
                <a:solidFill>
                  <a:schemeClr val="bg2"/>
                </a:solidFill>
              </a:rPr>
              <a:t>GENERAL INFORMATION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8229600" cy="5562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Required knowledge</a:t>
            </a:r>
            <a:endParaRPr lang="ro-RO" sz="1800" dirty="0">
              <a:latin typeface="Arial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Fundamentals of Programming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Algorithms and Programming Techniques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Elements of Probability and Mathematical Statistics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Basic Computer Skills </a:t>
            </a:r>
            <a:endParaRPr lang="ro-RO" sz="1800" dirty="0">
              <a:latin typeface="Arial" charset="0"/>
            </a:endParaRPr>
          </a:p>
          <a:p>
            <a:pPr marL="457200" lvl="1" indent="0">
              <a:buNone/>
            </a:pPr>
            <a:endParaRPr lang="ro-RO" sz="18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Bibliog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raphy</a:t>
            </a: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Cocianu, C., Uscatu, C. – Evolutionary Programming and Genetic Algorithms, 2nd Edition, ASE Publishing House, Bucharest, 2022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Seminar materials (online.ase.ro)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dditional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references:</a:t>
            </a: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ro-RO" sz="1800" dirty="0"/>
              <a:t>Eiben, A., Smith, J. – Introduction to Evolutionary Computing, Springer, Berlin (2015)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o-RO" sz="1800" dirty="0"/>
              <a:t>Fulcher, J., Jain, L. C. (Eds.) – Computational Intelligence: A Compendium, Springer-Verlag, 2008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o-RO" sz="1800" dirty="0"/>
              <a:t>Engelbrecht, A. P. – Computational Intelligence: An Introduction, John Wiley &amp; Sons, 2007</a:t>
            </a:r>
            <a:endParaRPr lang="ro-RO" sz="1800" dirty="0">
              <a:latin typeface="Arial" charset="0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endParaRPr lang="en-US" altLang="en-US" sz="1800" dirty="0"/>
          </a:p>
        </p:txBody>
      </p:sp>
      <p:sp>
        <p:nvSpPr>
          <p:cNvPr id="717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9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31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585787"/>
            <a:ext cx="8229600" cy="5867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Assessment</a:t>
            </a:r>
            <a:endParaRPr lang="ro-RO" sz="1800" dirty="0">
              <a:latin typeface="Arial" charset="0"/>
            </a:endParaRPr>
          </a:p>
          <a:p>
            <a:pPr lvl="3"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Ongoing evaluation: Practical assignment (weeks 9–11, design and programming – 50%)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Final exam: Week 14 (multiple-choice test – 40%)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Participation: 10% (attendance/participation in final evaluation)</a:t>
            </a:r>
            <a:endParaRPr lang="ro-RO" sz="1800" dirty="0">
              <a:latin typeface="Arial" charset="0"/>
            </a:endParaRPr>
          </a:p>
          <a:p>
            <a:pPr marL="914400" lvl="2" indent="0">
              <a:buNone/>
            </a:pPr>
            <a:r>
              <a:rPr lang="ro-RO" sz="1800" dirty="0">
                <a:latin typeface="Arial" charset="0"/>
              </a:rPr>
              <a:t> 	</a:t>
            </a:r>
            <a:endParaRPr lang="ro-RO" sz="1800" b="1" dirty="0">
              <a:solidFill>
                <a:srgbClr val="FF0000"/>
              </a:solidFill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>
                <a:latin typeface="Arial" charset="0"/>
              </a:rPr>
              <a:t>Materials available on online.ase.ro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" charset="0"/>
              </a:rPr>
              <a:t>(Course syllabus, presentations, additional materials)</a:t>
            </a:r>
            <a:endParaRPr lang="ro-RO" sz="1800" b="1" dirty="0">
              <a:solidFill>
                <a:srgbClr val="FF0000"/>
              </a:solidFill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Clr>
                <a:schemeClr val="tx1"/>
              </a:buClr>
              <a:buNone/>
              <a:defRPr/>
            </a:pPr>
            <a:endParaRPr lang="en-US" altLang="en-US" sz="1800" b="1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defRPr/>
            </a:pPr>
            <a:endParaRPr lang="en-US" altLang="en-US" sz="1800" dirty="0"/>
          </a:p>
        </p:txBody>
      </p:sp>
      <p:sp>
        <p:nvSpPr>
          <p:cNvPr id="717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9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11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Syllabus (According to Course Outline)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Evolutionary Algorithms (EA)</a:t>
            </a:r>
            <a:endParaRPr lang="ro-RO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General framework and examples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Classification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EA components</a:t>
            </a:r>
          </a:p>
          <a:p>
            <a:pPr marL="914400" lvl="2" indent="0">
              <a:buNone/>
            </a:pPr>
            <a:endParaRPr lang="ro-RO" sz="1800" dirty="0">
              <a:latin typeface="Arial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Evolution vs. direct search – stochastic search</a:t>
            </a:r>
          </a:p>
          <a:p>
            <a:pPr marL="457200" lvl="1" indent="0">
              <a:buNone/>
            </a:pPr>
            <a:endParaRPr lang="ro-RO" sz="1800" dirty="0">
              <a:latin typeface="Arial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Genetic Algorithms</a:t>
            </a:r>
            <a:r>
              <a:rPr lang="ro-RO" sz="1800" dirty="0">
                <a:latin typeface="Arial" charset="0"/>
              </a:rPr>
              <a:t> (GA)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/>
              <a:t>Specific representations and population models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/>
              <a:t>Fitness (evaluation) function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/>
              <a:t>Variation operators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800" dirty="0"/>
              <a:t>Mutation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800" dirty="0"/>
              <a:t>Recombination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/>
              <a:t>Selection operators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800" dirty="0"/>
              <a:t>Parent selection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800" dirty="0"/>
              <a:t>Next-generation selection</a:t>
            </a:r>
            <a:endParaRPr lang="ro-RO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ro-RO" sz="1800" b="1" dirty="0">
              <a:solidFill>
                <a:srgbClr val="FF0000"/>
              </a:solidFill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Clr>
                <a:schemeClr val="tx1"/>
              </a:buClr>
              <a:buNone/>
              <a:defRPr/>
            </a:pPr>
            <a:endParaRPr lang="en-US" altLang="en-US" sz="1800" b="1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defRPr/>
            </a:pPr>
            <a:endParaRPr lang="en-US" altLang="en-US" sz="1800" dirty="0"/>
          </a:p>
        </p:txBody>
      </p:sp>
      <p:sp>
        <p:nvSpPr>
          <p:cNvPr id="717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9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4325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lvl="2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latin typeface="Arial" charset="0"/>
              </a:rPr>
              <a:t>Solving Economic Problems Using GA</a:t>
            </a:r>
            <a:endParaRPr lang="ro-RO" sz="1800" dirty="0">
              <a:solidFill>
                <a:schemeClr val="tx2"/>
              </a:solidFill>
              <a:latin typeface="Arial" charset="0"/>
            </a:endParaRP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latin typeface="Arial" charset="0"/>
              </a:rPr>
              <a:t>Activity scheduling problems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latin typeface="Arial" charset="0"/>
              </a:rPr>
              <a:t>Portfolio optimization problems</a:t>
            </a:r>
          </a:p>
          <a:p>
            <a:pPr lvl="3">
              <a:buFont typeface="Wingdings" panose="05000000000000000000" pitchFamily="2" charset="2"/>
              <a:buChar char="q"/>
            </a:pPr>
            <a:endParaRPr lang="ro-RO" sz="1800" b="1" dirty="0">
              <a:solidFill>
                <a:srgbClr val="FF0000"/>
              </a:solidFill>
              <a:latin typeface="Arial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" charset="0"/>
              </a:rPr>
              <a:t>Evolution Strategies (ES)</a:t>
            </a:r>
            <a:endParaRPr lang="en-US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/>
              <a:t>General framework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/>
              <a:t>Mutation operators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/>
              <a:t>Selection operators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800" dirty="0"/>
              <a:t>Parent selection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800" dirty="0"/>
              <a:t>Next-generation selection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/>
              <a:t>Self-adaptation mechanisms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800" dirty="0"/>
              <a:t>Swarm Intelligence Algorithms</a:t>
            </a:r>
          </a:p>
          <a:p>
            <a:pPr marL="914400" lvl="2" indent="0">
              <a:buNone/>
            </a:pPr>
            <a:endParaRPr lang="ro-RO" sz="1800" dirty="0">
              <a:latin typeface="Arial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Swarm intelligence algorithms (collective intelligence or swarm-based intelligence): PSO, Firefly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Hybrid algorithms. Memetic algorithms</a:t>
            </a: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Clr>
                <a:schemeClr val="tx1"/>
              </a:buClr>
              <a:buNone/>
              <a:defRPr/>
            </a:pPr>
            <a:endParaRPr lang="en-US" altLang="en-US" sz="1800" b="1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defRPr/>
            </a:pPr>
            <a:endParaRPr lang="en-US" altLang="en-US" sz="1800" dirty="0"/>
          </a:p>
        </p:txBody>
      </p:sp>
      <p:sp>
        <p:nvSpPr>
          <p:cNvPr id="717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9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485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marL="914400" lvl="2" indent="0">
              <a:buNone/>
            </a:pPr>
            <a:endParaRPr lang="ro-RO" sz="1800" b="1" dirty="0">
              <a:solidFill>
                <a:srgbClr val="FF0000"/>
              </a:solidFill>
              <a:latin typeface="Arial" charset="0"/>
            </a:endParaRPr>
          </a:p>
          <a:p>
            <a:pPr marL="457200" lvl="1" indent="0" algn="ctr">
              <a:buNone/>
            </a:pPr>
            <a:r>
              <a:rPr lang="ro-RO" sz="2000" b="1" dirty="0">
                <a:latin typeface="Arial" charset="0"/>
              </a:rPr>
              <a:t>Ap</a:t>
            </a:r>
            <a:r>
              <a:rPr lang="en-US" sz="2000" b="1" dirty="0">
                <a:latin typeface="Arial" charset="0"/>
              </a:rPr>
              <a:t>plications</a:t>
            </a:r>
            <a:endParaRPr lang="ro-RO" sz="2000" b="1" dirty="0">
              <a:latin typeface="Arial" charset="0"/>
            </a:endParaRPr>
          </a:p>
          <a:p>
            <a:pPr marL="457200" lvl="1" indent="0">
              <a:buNone/>
            </a:pPr>
            <a:endParaRPr lang="ro-RO" sz="1800" b="1" dirty="0">
              <a:latin typeface="Arial" charset="0"/>
            </a:endParaRPr>
          </a:p>
          <a:p>
            <a:pPr marL="0" indent="0">
              <a:buNone/>
            </a:pPr>
            <a:r>
              <a:rPr lang="en-US" sz="1800" b="1" dirty="0"/>
              <a:t>Artificial Intelligence &amp; Machine Learning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Neural network hyperparameter optimization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Feature selection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Model training using EA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Evolutionary reinforcement learning</a:t>
            </a:r>
          </a:p>
          <a:p>
            <a:pPr>
              <a:buFont typeface="Wingdings" panose="05000000000000000000" pitchFamily="2" charset="2"/>
              <a:buChar char="q"/>
            </a:pPr>
            <a:endParaRPr lang="ro-RO" sz="1800" dirty="0"/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r>
              <a:rPr lang="en-US" sz="1800" b="1" dirty="0"/>
              <a:t>Economics &amp; Finance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Portfolio optimization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Automated trading strategies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Time series prediction – exchange rates, asset prices, stock indices (BET, FTSE, S&amp;P 500, Nikkei 225, etc.)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Multi-objective optimization (risk–return)</a:t>
            </a:r>
            <a:endParaRPr lang="ro-RO" sz="1800" dirty="0"/>
          </a:p>
          <a:p>
            <a:pPr>
              <a:buFont typeface="Wingdings" panose="05000000000000000000" pitchFamily="2" charset="2"/>
              <a:buChar char="q"/>
            </a:pPr>
            <a:endParaRPr lang="ro-RO" sz="1800" dirty="0"/>
          </a:p>
          <a:p>
            <a:pPr>
              <a:buFont typeface="Wingdings" panose="05000000000000000000" pitchFamily="2" charset="2"/>
              <a:buChar char="q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Clr>
                <a:schemeClr val="tx1"/>
              </a:buClr>
              <a:buNone/>
              <a:defRPr/>
            </a:pPr>
            <a:endParaRPr lang="en-US" altLang="en-US" sz="1800" b="1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defRPr/>
            </a:pPr>
            <a:endParaRPr lang="en-US" altLang="en-US" sz="1800" dirty="0"/>
          </a:p>
        </p:txBody>
      </p:sp>
      <p:sp>
        <p:nvSpPr>
          <p:cNvPr id="717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9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3745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EF54-07FE-394D-B1F4-4131036B4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A94992C6-9CAA-C9F0-ED61-23DB52140A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marL="0" indent="0">
              <a:buNone/>
            </a:pPr>
            <a:endParaRPr lang="ro-RO" sz="1800" b="1" dirty="0"/>
          </a:p>
          <a:p>
            <a:pPr marL="0" indent="0">
              <a:buNone/>
            </a:pPr>
            <a:r>
              <a:rPr lang="en-US" sz="1800" b="1" dirty="0"/>
              <a:t>Image Processing &amp; Pattern Recognition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/>
              <a:t>Image registration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/>
              <a:t>Image classification / recognition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/>
              <a:t>Image segmentation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/>
              <a:t>Edge and object detection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/>
              <a:t>Filter parameter optimization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/>
              <a:t>Image restoration</a:t>
            </a:r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r>
              <a:rPr lang="en-US" sz="1800" b="1" dirty="0"/>
              <a:t>Generative Art &amp; Design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Image or music generation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Evolution of artistic forms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Interactive user-assisted design</a:t>
            </a:r>
            <a:endParaRPr lang="ro-RO" sz="1800" dirty="0"/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endParaRPr lang="ro-RO" sz="1800" b="1" dirty="0"/>
          </a:p>
          <a:p>
            <a:pPr>
              <a:buFont typeface="Wingdings" panose="05000000000000000000" pitchFamily="2" charset="2"/>
              <a:buChar char="q"/>
            </a:pPr>
            <a:endParaRPr lang="ro-RO" sz="1800" dirty="0"/>
          </a:p>
          <a:p>
            <a:pPr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Clr>
                <a:schemeClr val="tx1"/>
              </a:buClr>
              <a:buNone/>
              <a:defRPr/>
            </a:pPr>
            <a:endParaRPr lang="en-US" altLang="en-US" sz="1800" b="1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defRPr/>
            </a:pPr>
            <a:endParaRPr lang="en-US" altLang="en-US" sz="1800" dirty="0"/>
          </a:p>
        </p:txBody>
      </p:sp>
      <p:sp>
        <p:nvSpPr>
          <p:cNvPr id="7172" name="Rectangle 9">
            <a:extLst>
              <a:ext uri="{FF2B5EF4-FFF2-40B4-BE49-F238E27FC236}">
                <a16:creationId xmlns:a16="http://schemas.microsoft.com/office/drawing/2014/main" id="{A9278170-F810-F1E2-1825-6D1BD77C9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3" name="Rectangle 11">
            <a:extLst>
              <a:ext uri="{FF2B5EF4-FFF2-40B4-BE49-F238E27FC236}">
                <a16:creationId xmlns:a16="http://schemas.microsoft.com/office/drawing/2014/main" id="{74C8AAAF-3124-04DC-60E9-A3E73335A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4" name="Rectangle 13">
            <a:extLst>
              <a:ext uri="{FF2B5EF4-FFF2-40B4-BE49-F238E27FC236}">
                <a16:creationId xmlns:a16="http://schemas.microsoft.com/office/drawing/2014/main" id="{F2324F8D-8BF8-961A-E29A-D79401622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Rectangle 15">
            <a:extLst>
              <a:ext uri="{FF2B5EF4-FFF2-40B4-BE49-F238E27FC236}">
                <a16:creationId xmlns:a16="http://schemas.microsoft.com/office/drawing/2014/main" id="{F62CE317-7B4E-CD02-2A5A-86794305E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Rectangle 19">
            <a:extLst>
              <a:ext uri="{FF2B5EF4-FFF2-40B4-BE49-F238E27FC236}">
                <a16:creationId xmlns:a16="http://schemas.microsoft.com/office/drawing/2014/main" id="{E60A2294-5069-0ED4-93C1-9B92B8796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Rectangle 21">
            <a:extLst>
              <a:ext uri="{FF2B5EF4-FFF2-40B4-BE49-F238E27FC236}">
                <a16:creationId xmlns:a16="http://schemas.microsoft.com/office/drawing/2014/main" id="{A804CE2E-D230-5DEF-23AD-63F048B31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23">
            <a:extLst>
              <a:ext uri="{FF2B5EF4-FFF2-40B4-BE49-F238E27FC236}">
                <a16:creationId xmlns:a16="http://schemas.microsoft.com/office/drawing/2014/main" id="{09DBF9D7-56AF-C1A5-DD1E-5888BDB4F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9" name="Rectangle 27">
            <a:extLst>
              <a:ext uri="{FF2B5EF4-FFF2-40B4-BE49-F238E27FC236}">
                <a16:creationId xmlns:a16="http://schemas.microsoft.com/office/drawing/2014/main" id="{33435602-4CA2-28B5-1FFE-B20B06391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29">
            <a:extLst>
              <a:ext uri="{FF2B5EF4-FFF2-40B4-BE49-F238E27FC236}">
                <a16:creationId xmlns:a16="http://schemas.microsoft.com/office/drawing/2014/main" id="{B153101F-0A46-252F-D736-C42EFB92A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Rectangle 31">
            <a:extLst>
              <a:ext uri="{FF2B5EF4-FFF2-40B4-BE49-F238E27FC236}">
                <a16:creationId xmlns:a16="http://schemas.microsoft.com/office/drawing/2014/main" id="{2D480B8A-C0C6-211C-C117-9D0DDE112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33">
            <a:extLst>
              <a:ext uri="{FF2B5EF4-FFF2-40B4-BE49-F238E27FC236}">
                <a16:creationId xmlns:a16="http://schemas.microsoft.com/office/drawing/2014/main" id="{7955748E-3F1E-6695-3B5C-6A0646456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3" name="Rectangle 35">
            <a:extLst>
              <a:ext uri="{FF2B5EF4-FFF2-40B4-BE49-F238E27FC236}">
                <a16:creationId xmlns:a16="http://schemas.microsoft.com/office/drawing/2014/main" id="{5AF2315A-1468-6E75-CF31-A0516B5F7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4" name="Rectangle 37">
            <a:extLst>
              <a:ext uri="{FF2B5EF4-FFF2-40B4-BE49-F238E27FC236}">
                <a16:creationId xmlns:a16="http://schemas.microsoft.com/office/drawing/2014/main" id="{DADB277B-0E00-A768-8CE3-504AC4A49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5" name="Rectangle 41">
            <a:extLst>
              <a:ext uri="{FF2B5EF4-FFF2-40B4-BE49-F238E27FC236}">
                <a16:creationId xmlns:a16="http://schemas.microsoft.com/office/drawing/2014/main" id="{46608ECB-0ECD-4E7F-451B-2846EAA4D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6" name="Rectangle 43">
            <a:extLst>
              <a:ext uri="{FF2B5EF4-FFF2-40B4-BE49-F238E27FC236}">
                <a16:creationId xmlns:a16="http://schemas.microsoft.com/office/drawing/2014/main" id="{368575C2-3D05-1457-C497-EBCE602B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7" name="Rectangle 45">
            <a:extLst>
              <a:ext uri="{FF2B5EF4-FFF2-40B4-BE49-F238E27FC236}">
                <a16:creationId xmlns:a16="http://schemas.microsoft.com/office/drawing/2014/main" id="{1F1BCE6F-D0AF-7E04-F8F8-027206544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8" name="Rectangle 47">
            <a:extLst>
              <a:ext uri="{FF2B5EF4-FFF2-40B4-BE49-F238E27FC236}">
                <a16:creationId xmlns:a16="http://schemas.microsoft.com/office/drawing/2014/main" id="{77A26969-FC72-E27B-2159-3160C00B3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9" name="Rectangle 52">
            <a:extLst>
              <a:ext uri="{FF2B5EF4-FFF2-40B4-BE49-F238E27FC236}">
                <a16:creationId xmlns:a16="http://schemas.microsoft.com/office/drawing/2014/main" id="{13B70F67-3EFE-1435-CF1B-E1EC7B55C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90" name="Rectangle 54">
            <a:extLst>
              <a:ext uri="{FF2B5EF4-FFF2-40B4-BE49-F238E27FC236}">
                <a16:creationId xmlns:a16="http://schemas.microsoft.com/office/drawing/2014/main" id="{8720FA63-8A25-DBDF-8C68-BF8390A0D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194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59F15-0FDD-1506-9B07-DCFF8DC7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5A030449-FE6A-F375-A99C-8975EEFF614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ro-RO" sz="1800" dirty="0"/>
          </a:p>
          <a:p>
            <a:pPr marL="0" indent="0">
              <a:buNone/>
            </a:pPr>
            <a:r>
              <a:rPr lang="en-US" sz="1800" b="1" dirty="0"/>
              <a:t>Combinatorial Optimization &amp; Operations Research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Traveling Salesman Problem (TSP)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Task scheduling problems (e.g., JSS – Job Shop Scheduling)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Routing problems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Resource allocation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Transportation problems</a:t>
            </a:r>
            <a:endParaRPr lang="ro-RO" sz="1800" dirty="0"/>
          </a:p>
          <a:p>
            <a:pPr>
              <a:buFont typeface="Wingdings" panose="05000000000000000000" pitchFamily="2" charset="2"/>
              <a:buChar char="q"/>
            </a:pPr>
            <a:endParaRPr lang="ro-RO" sz="1800" dirty="0"/>
          </a:p>
          <a:p>
            <a:pPr>
              <a:buFont typeface="Wingdings" panose="05000000000000000000" pitchFamily="2" charset="2"/>
              <a:buChar char="q"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Clr>
                <a:schemeClr val="tx1"/>
              </a:buClr>
              <a:buNone/>
              <a:defRPr/>
            </a:pPr>
            <a:endParaRPr lang="en-US" altLang="en-US" sz="1800" b="1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defRPr/>
            </a:pPr>
            <a:endParaRPr lang="en-US" altLang="en-US" sz="1800" dirty="0"/>
          </a:p>
        </p:txBody>
      </p:sp>
      <p:sp>
        <p:nvSpPr>
          <p:cNvPr id="7172" name="Rectangle 9">
            <a:extLst>
              <a:ext uri="{FF2B5EF4-FFF2-40B4-BE49-F238E27FC236}">
                <a16:creationId xmlns:a16="http://schemas.microsoft.com/office/drawing/2014/main" id="{B19E3A98-19B6-785D-B773-3C2592324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3" name="Rectangle 11">
            <a:extLst>
              <a:ext uri="{FF2B5EF4-FFF2-40B4-BE49-F238E27FC236}">
                <a16:creationId xmlns:a16="http://schemas.microsoft.com/office/drawing/2014/main" id="{012C7D9A-D7AE-1FB1-288E-6BF2A6355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4" name="Rectangle 13">
            <a:extLst>
              <a:ext uri="{FF2B5EF4-FFF2-40B4-BE49-F238E27FC236}">
                <a16:creationId xmlns:a16="http://schemas.microsoft.com/office/drawing/2014/main" id="{F67FBFB0-5455-63B4-8659-FFB0DD4E4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Rectangle 15">
            <a:extLst>
              <a:ext uri="{FF2B5EF4-FFF2-40B4-BE49-F238E27FC236}">
                <a16:creationId xmlns:a16="http://schemas.microsoft.com/office/drawing/2014/main" id="{D513DFF1-C8D0-468B-1FFC-0286B8FD2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Rectangle 19">
            <a:extLst>
              <a:ext uri="{FF2B5EF4-FFF2-40B4-BE49-F238E27FC236}">
                <a16:creationId xmlns:a16="http://schemas.microsoft.com/office/drawing/2014/main" id="{A036C21C-B8D0-491D-B47E-7C8A0D29B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Rectangle 21">
            <a:extLst>
              <a:ext uri="{FF2B5EF4-FFF2-40B4-BE49-F238E27FC236}">
                <a16:creationId xmlns:a16="http://schemas.microsoft.com/office/drawing/2014/main" id="{BB7ADB0F-DD91-7C25-69B5-EEE44293A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23">
            <a:extLst>
              <a:ext uri="{FF2B5EF4-FFF2-40B4-BE49-F238E27FC236}">
                <a16:creationId xmlns:a16="http://schemas.microsoft.com/office/drawing/2014/main" id="{DE0E2DE2-E02C-DE5E-F361-5BE2EF582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9" name="Rectangle 27">
            <a:extLst>
              <a:ext uri="{FF2B5EF4-FFF2-40B4-BE49-F238E27FC236}">
                <a16:creationId xmlns:a16="http://schemas.microsoft.com/office/drawing/2014/main" id="{0938F899-9A4B-6E14-675C-88C907A60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29">
            <a:extLst>
              <a:ext uri="{FF2B5EF4-FFF2-40B4-BE49-F238E27FC236}">
                <a16:creationId xmlns:a16="http://schemas.microsoft.com/office/drawing/2014/main" id="{AE39F181-18E9-E671-6149-81E53A62D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Rectangle 31">
            <a:extLst>
              <a:ext uri="{FF2B5EF4-FFF2-40B4-BE49-F238E27FC236}">
                <a16:creationId xmlns:a16="http://schemas.microsoft.com/office/drawing/2014/main" id="{8B404508-8F3F-A660-EE23-8F51237E5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33">
            <a:extLst>
              <a:ext uri="{FF2B5EF4-FFF2-40B4-BE49-F238E27FC236}">
                <a16:creationId xmlns:a16="http://schemas.microsoft.com/office/drawing/2014/main" id="{E9B1BFAD-2C53-02F4-99CD-3F88A9BE0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3" name="Rectangle 35">
            <a:extLst>
              <a:ext uri="{FF2B5EF4-FFF2-40B4-BE49-F238E27FC236}">
                <a16:creationId xmlns:a16="http://schemas.microsoft.com/office/drawing/2014/main" id="{5A3E353C-63D1-A4EE-5405-ED485BBD6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4" name="Rectangle 37">
            <a:extLst>
              <a:ext uri="{FF2B5EF4-FFF2-40B4-BE49-F238E27FC236}">
                <a16:creationId xmlns:a16="http://schemas.microsoft.com/office/drawing/2014/main" id="{7798610F-83D8-557E-2254-5121C4501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5" name="Rectangle 41">
            <a:extLst>
              <a:ext uri="{FF2B5EF4-FFF2-40B4-BE49-F238E27FC236}">
                <a16:creationId xmlns:a16="http://schemas.microsoft.com/office/drawing/2014/main" id="{1750C1E6-5E3D-170B-FF66-18845FA0B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6" name="Rectangle 43">
            <a:extLst>
              <a:ext uri="{FF2B5EF4-FFF2-40B4-BE49-F238E27FC236}">
                <a16:creationId xmlns:a16="http://schemas.microsoft.com/office/drawing/2014/main" id="{F7ADA39F-CF20-ACA9-6029-30E9AE1E2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7" name="Rectangle 45">
            <a:extLst>
              <a:ext uri="{FF2B5EF4-FFF2-40B4-BE49-F238E27FC236}">
                <a16:creationId xmlns:a16="http://schemas.microsoft.com/office/drawing/2014/main" id="{FACEFA1C-5C81-39DE-89EC-9F681D6EC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8" name="Rectangle 47">
            <a:extLst>
              <a:ext uri="{FF2B5EF4-FFF2-40B4-BE49-F238E27FC236}">
                <a16:creationId xmlns:a16="http://schemas.microsoft.com/office/drawing/2014/main" id="{BD0C5252-82DD-078B-6119-ACB9B2620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9" name="Rectangle 52">
            <a:extLst>
              <a:ext uri="{FF2B5EF4-FFF2-40B4-BE49-F238E27FC236}">
                <a16:creationId xmlns:a16="http://schemas.microsoft.com/office/drawing/2014/main" id="{B3D06C40-6A3D-F844-1EAD-2AAB794C2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90" name="Rectangle 54">
            <a:extLst>
              <a:ext uri="{FF2B5EF4-FFF2-40B4-BE49-F238E27FC236}">
                <a16:creationId xmlns:a16="http://schemas.microsoft.com/office/drawing/2014/main" id="{4DA9690C-8BD2-0D14-37B0-99FF333E1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3346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CE5E-8A3E-6F95-6CF7-1A01E2E5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672D64F2-730F-0182-F589-8394C452AF2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marL="914400" lvl="2" indent="0">
              <a:buNone/>
            </a:pPr>
            <a:endParaRPr lang="ro-RO" sz="1800" b="1" dirty="0">
              <a:solidFill>
                <a:srgbClr val="FF0000"/>
              </a:solidFill>
              <a:latin typeface="Arial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Problem Classes Addressed in Course &amp; Seminar (using GA, ES, memetic and hybrid algorithms)</a:t>
            </a:r>
          </a:p>
          <a:p>
            <a:pPr marL="457200" lvl="1" indent="0">
              <a:buNone/>
            </a:pPr>
            <a:endParaRPr lang="ro-RO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ro-RO" sz="1800" dirty="0">
                <a:latin typeface="Arial" charset="0"/>
              </a:rPr>
              <a:t>Standard problems: TSP, N-Queens Problem, Knapsack Problem (0-1 or continuous)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ro-RO" sz="1800" dirty="0">
                <a:latin typeface="Arial" charset="0"/>
              </a:rPr>
              <a:t>Economic problems: Job Shop Scheduling (JSS), portfolio optimization (mixed risk–return functions), transportation problems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ro-RO" sz="1800" dirty="0">
                <a:latin typeface="Arial" charset="0"/>
              </a:rPr>
              <a:t>Various problems: encryption/decryption, maze solving, optimal placement problems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ro-RO" sz="1800" dirty="0">
                <a:latin typeface="Arial" charset="0"/>
              </a:rPr>
              <a:t>Image Processing problems: evolutionary approaches for image registration and recognition (ES, memetic algorithms)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Clr>
                <a:schemeClr val="tx1"/>
              </a:buClr>
              <a:buNone/>
              <a:defRPr/>
            </a:pPr>
            <a:endParaRPr lang="en-US" altLang="en-US" sz="1800" b="1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defRPr/>
            </a:pPr>
            <a:endParaRPr lang="en-US" altLang="en-US" sz="1800" dirty="0"/>
          </a:p>
        </p:txBody>
      </p:sp>
      <p:sp>
        <p:nvSpPr>
          <p:cNvPr id="7172" name="Rectangle 9">
            <a:extLst>
              <a:ext uri="{FF2B5EF4-FFF2-40B4-BE49-F238E27FC236}">
                <a16:creationId xmlns:a16="http://schemas.microsoft.com/office/drawing/2014/main" id="{94C02E9E-B052-2451-6063-97F4C2343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3" name="Rectangle 11">
            <a:extLst>
              <a:ext uri="{FF2B5EF4-FFF2-40B4-BE49-F238E27FC236}">
                <a16:creationId xmlns:a16="http://schemas.microsoft.com/office/drawing/2014/main" id="{0E2392A4-CCA6-B37A-0EAE-8788F78AF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4" name="Rectangle 13">
            <a:extLst>
              <a:ext uri="{FF2B5EF4-FFF2-40B4-BE49-F238E27FC236}">
                <a16:creationId xmlns:a16="http://schemas.microsoft.com/office/drawing/2014/main" id="{472EB45E-602F-7AF8-42B3-A0C20D1EC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Rectangle 15">
            <a:extLst>
              <a:ext uri="{FF2B5EF4-FFF2-40B4-BE49-F238E27FC236}">
                <a16:creationId xmlns:a16="http://schemas.microsoft.com/office/drawing/2014/main" id="{BF3275F4-C643-EE24-0676-4E3469F53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Rectangle 19">
            <a:extLst>
              <a:ext uri="{FF2B5EF4-FFF2-40B4-BE49-F238E27FC236}">
                <a16:creationId xmlns:a16="http://schemas.microsoft.com/office/drawing/2014/main" id="{8E0E9C52-34B3-C5F6-6117-39F3CCC43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Rectangle 21">
            <a:extLst>
              <a:ext uri="{FF2B5EF4-FFF2-40B4-BE49-F238E27FC236}">
                <a16:creationId xmlns:a16="http://schemas.microsoft.com/office/drawing/2014/main" id="{C19DD449-BF76-E7C6-653D-3C74CB03E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23">
            <a:extLst>
              <a:ext uri="{FF2B5EF4-FFF2-40B4-BE49-F238E27FC236}">
                <a16:creationId xmlns:a16="http://schemas.microsoft.com/office/drawing/2014/main" id="{CEBEBD64-5EB1-6FC7-BA93-7ACF00DB4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9" name="Rectangle 27">
            <a:extLst>
              <a:ext uri="{FF2B5EF4-FFF2-40B4-BE49-F238E27FC236}">
                <a16:creationId xmlns:a16="http://schemas.microsoft.com/office/drawing/2014/main" id="{EDE8DD7C-F47A-C394-333F-990B7D3DE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29">
            <a:extLst>
              <a:ext uri="{FF2B5EF4-FFF2-40B4-BE49-F238E27FC236}">
                <a16:creationId xmlns:a16="http://schemas.microsoft.com/office/drawing/2014/main" id="{EA5B6367-B9C1-F2B0-87BB-0DB2949B2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Rectangle 31">
            <a:extLst>
              <a:ext uri="{FF2B5EF4-FFF2-40B4-BE49-F238E27FC236}">
                <a16:creationId xmlns:a16="http://schemas.microsoft.com/office/drawing/2014/main" id="{835B18A4-A58A-F319-918F-4ECCD908C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33">
            <a:extLst>
              <a:ext uri="{FF2B5EF4-FFF2-40B4-BE49-F238E27FC236}">
                <a16:creationId xmlns:a16="http://schemas.microsoft.com/office/drawing/2014/main" id="{350FF96F-CB43-DED0-A16B-910880768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3" name="Rectangle 35">
            <a:extLst>
              <a:ext uri="{FF2B5EF4-FFF2-40B4-BE49-F238E27FC236}">
                <a16:creationId xmlns:a16="http://schemas.microsoft.com/office/drawing/2014/main" id="{1FD28325-EBA4-FEB2-502A-5F1DB58C1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4" name="Rectangle 37">
            <a:extLst>
              <a:ext uri="{FF2B5EF4-FFF2-40B4-BE49-F238E27FC236}">
                <a16:creationId xmlns:a16="http://schemas.microsoft.com/office/drawing/2014/main" id="{804493E7-92C6-831F-E431-C9650E454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5" name="Rectangle 41">
            <a:extLst>
              <a:ext uri="{FF2B5EF4-FFF2-40B4-BE49-F238E27FC236}">
                <a16:creationId xmlns:a16="http://schemas.microsoft.com/office/drawing/2014/main" id="{A05C2A2C-0AE7-2DCF-A0AD-8E5EF5004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6" name="Rectangle 43">
            <a:extLst>
              <a:ext uri="{FF2B5EF4-FFF2-40B4-BE49-F238E27FC236}">
                <a16:creationId xmlns:a16="http://schemas.microsoft.com/office/drawing/2014/main" id="{CAB4AFFD-EDA1-84C1-4342-4F66326BE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7" name="Rectangle 45">
            <a:extLst>
              <a:ext uri="{FF2B5EF4-FFF2-40B4-BE49-F238E27FC236}">
                <a16:creationId xmlns:a16="http://schemas.microsoft.com/office/drawing/2014/main" id="{845A02A9-58D0-2DD3-4ADF-6F3D9D09E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8" name="Rectangle 47">
            <a:extLst>
              <a:ext uri="{FF2B5EF4-FFF2-40B4-BE49-F238E27FC236}">
                <a16:creationId xmlns:a16="http://schemas.microsoft.com/office/drawing/2014/main" id="{93D28048-F1A3-FC07-64F6-1F42D1001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89" name="Rectangle 52">
            <a:extLst>
              <a:ext uri="{FF2B5EF4-FFF2-40B4-BE49-F238E27FC236}">
                <a16:creationId xmlns:a16="http://schemas.microsoft.com/office/drawing/2014/main" id="{77EBF2B1-EE6F-505B-8EEA-B824DE07C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90" name="Rectangle 54">
            <a:extLst>
              <a:ext uri="{FF2B5EF4-FFF2-40B4-BE49-F238E27FC236}">
                <a16:creationId xmlns:a16="http://schemas.microsoft.com/office/drawing/2014/main" id="{79B1FCEE-76BD-9009-F20E-544B7B1C4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622431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2853</TotalTime>
  <Words>539</Words>
  <Application>Microsoft Office PowerPoint</Application>
  <PresentationFormat>On-screen Show (4:3)</PresentationFormat>
  <Paragraphs>133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Garamond</vt:lpstr>
      <vt:lpstr>Times New Roman</vt:lpstr>
      <vt:lpstr>Wingdings</vt:lpstr>
      <vt:lpstr>Pixel</vt:lpstr>
      <vt:lpstr>  EVOLUTIONARY PROGRAMMING AND GENETIC ALGORITHMS  General information    </vt:lpstr>
      <vt:lpstr>GENERAL INFORMATION</vt:lpstr>
      <vt:lpstr>GENERAL INFORMATION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Catalina</dc:creator>
  <cp:lastModifiedBy>Lavinia Roxana Toma</cp:lastModifiedBy>
  <cp:revision>277</cp:revision>
  <dcterms:created xsi:type="dcterms:W3CDTF">2007-06-04T09:28:42Z</dcterms:created>
  <dcterms:modified xsi:type="dcterms:W3CDTF">2026-02-15T18:29:33Z</dcterms:modified>
</cp:coreProperties>
</file>